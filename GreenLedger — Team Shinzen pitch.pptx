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Default Extension="fntdata" ContentType="application/x-fontdata"/>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12192000" cy="6858000"/>
  <p:notesSz cx="6858000" cy="12192000"/>
  <p:embeddedFontLst>
    <p:embeddedFont>
      <p:font typeface="DM Sans" pitchFamily="34" charset="0"/>
      <p:regular r:id="rId27"/>
      <p:bold r:id="rId28"/>
      <p:italic r:id="rId29"/>
      <p:boldItalic r:id="rId30"/>
    </p:embeddedFont>
    <p:embeddedFont>
      <p:font typeface="Manrope" pitchFamily="34" charset="0"/>
      <p:regular r:id="rId31"/>
      <p:bold r:id="rId3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 Id="rId27" Type="http://schemas.openxmlformats.org/officeDocument/2006/relationships/font" Target="fonts/font1.fntdata"/><Relationship Id="rId28" Type="http://schemas.openxmlformats.org/officeDocument/2006/relationships/font" Target="fonts/font2.fntdata"/><Relationship Id="rId29" Type="http://schemas.openxmlformats.org/officeDocument/2006/relationships/font" Target="fonts/font3.fntdata"/><Relationship Id="rId30" Type="http://schemas.openxmlformats.org/officeDocument/2006/relationships/font" Target="fonts/font4.fntdata"/><Relationship Id="rId31" Type="http://schemas.openxmlformats.org/officeDocument/2006/relationships/font" Target="fonts/font5.fntdata"/><Relationship Id="rId32" Type="http://schemas.openxmlformats.org/officeDocument/2006/relationships/font" Target="fonts/font6.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calmly, no slide-reading. “Every campus says it saved energy. Almost none can prove it. GreenLedger is the first campus tool that only counts savings it can prove.” Then click.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highlighted words aloud: “without overstating environmental benefits.” Then say: “Every college can show a dashboard. The hard part — the part this problem really asks for — is proving that a saving is real. That is what we built.”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took real university meter data and asked a simple question: in months where nothing was done, what does a normal dashboard say? It reported a saving 25 times out of 55. Nearly half. That is how greenwashing happens — not by lying, by comparing unfairly.” The brief literally says: compare against a baseline WITHOUT overstating benefits. That is our whole product.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“GreenLedger does three things. It SEES every resource in one place, by department. It ACTS — recommendations, a live room that switches fans and AC by itself, e-waste routing. And the part nobody else does: it PROVES. Every action is checked, and we only count what survives the test.”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left to right in one breath each. “We collect what a campus already has — bills, meters, waste logs. We clean bad readings. We teach a ‘ghost twin’ what normal looks like for every building. When the campus makes a change, we prove whether it worked. And everything shows up on one dashboard, with a live room that switches itself.”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 at the chart. “The dashed line is the ghost twin — the building without the action, fed the real weather. The solid line is reality. The gap is the saving. But a gap can be noise, so we run a placebo test: we pretend the action happened on 45 other weeks when nothing happened and see how big fake savings get. We only count the saving if it beats the noise — and even then, only the bottom of the range.” Standards: IPMVP Option C, ASHRAE Guideline 14.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screen. Last month the campus saved 26,551 kWh — ₹226 thousand and almost 19 tonnes of CO₂ — and every unit of it is proven. We count the safe, low end on purpose.”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Click “Money saved”, then Block A · CSE. “All 16 departments — from Medical and Law to the Sports Complex — sit on their blocks of our campus. Red means needs attention — CSE uses 132 kWh per square metre against a campus median of 98, so the suggestion is to audit lab equipment and AC hours. One click opens the department.”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it live: upload a classroom photo → fan, lights, AC switch on with the reason shown; click “Empty room” → 30 s later everything is off and the live-vs-ghost room chart shows the saving. If the camera or network fails, play the 30-second screen recording — say “here’s a recording from earlier”. Mention privacy in one breath: pixelated, nothing stored.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“Optimisation isn’t only energy. Our e-waste register gives every device one decision and a date: sell now — 499 devices, about ₹2,385 thousand, and waiting a year loses ₹508 thousand — repair, harvest parts, or a registered recycler.”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 at the top row: “Last month alone the campus saved 26,551 units of electricity — about ₹226 thousand — and 19 tonnes of CO₂. Every one of those units is proven, not estimated.” Bottom row: “Seven of nine changes were verified; two were honestly rejected — one of them was awareness posters, which did nothing. Six departments are flagged with a fix, and every one of 2,803 devices has a plan.”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slide that wins. “We didn’t just build it, we tested it three ways. On real meters, in months where nothing happened, a simple dashboard claimed savings 25 times; GreenLedger once. On our test campus, where we KNOW the true effect, the truth landed inside our range 9 out of 9 times, and we never counted more than the truth — even the ‘awareness posters’ action with zero effect was correctly rejected. And on a real event we know happened — the COVID closure — all 3 electricity meters show it.” If asked: the department data is our campus model, where the true effect is known — that is how accuracy is measured.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sentence per box, looking at the judges, not the slide. Close with: “It starts from the bills every campus already has — no new hardware needed to begin.”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Pick only three rows aloud: fair comparison, proof, and 1 of 55 vs 25 of 55. “A normal dashboard tells you what you hope to hear. GreenLedger tells you what is true.”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Count them on your fingers. “One: low cost — open-source, runs on a PC you already have, starts from your bills. Two: no new hardware — it uses the cameras already in our classrooms. Three: real savings — proven, not estimated: 26,551 units and two lakh twenty-six thousand rupees last month. Four: automated — the room runs itself and every change is checked without anyone doing the maths.” If asked about switching real devices: a standard smart plug, only when the campus wants it; until then it shows exactly what would switch.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Don’t read the table. One line: “Everything the brief asks for is in the app — start from the Home page; Support &amp; Info explains every word.” Then go to the close.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Slow down. “Most tools tell you what you want to hear. GreenLedger tells you what you can prove. Thank you.” Stop talking; wait for questions. Leave the app on its Home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Only 3 minutes? Skip the five-steps slide, the e-waste slide and the brief table. Before going on stage: run every notebook cell, open the app, load each tab once (warms the charts), open the Live Room tab and allow the camera, keep the screen recording on the desktop, and check the public link on a phone using mobile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 in one breath, then stop. If pushed on the campus model: “We know the true effect there, and the truth landed inside our range 9 out of 9 times. On real data we can’t know the truth — that’s exactly why the simulation exists.”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a question isn’t here: say what you know, then “that’s in our stated limitations” if it is. Never guess a number.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7F5EE"/>
        </a:solidFill>
      </p:bgPr>
    </p:bg>
    <p:spTree>
      <p:nvGrpSpPr>
        <p:cNvPr id="1" name=""/>
        <p:cNvGrpSpPr/>
        <p:nvPr/>
      </p:nvGrpSpPr>
      <p:grpSpPr>
        <a:xfrm>
          <a:off x="0" y="0"/>
          <a:ext cx="0" cy="0"/>
          <a:chOff x="0" y="0"/>
          <a:chExt cx="0" cy="0"/>
        </a:xfrm>
      </p:grpSpPr>
      <p:sp>
        <p:nvSpPr>
          <p:cNvPr id="2" name="Title Placeholder 1"/>
          <p:cNvSpPr/>
          <p:nvPr>
            <p:ph type="title"/>
          </p:nvPr>
        </p:nvSpPr>
        <p:spPr>
          <a:xfrm>
            <a:off x="812750" y="1163272"/>
            <a:ext cx="10566473" cy="447012"/>
          </a:xfrm>
          <a:prstGeom prst="rect">
            <a:avLst/>
          </a:prstGeom>
          <a:noFill/>
          <a:ln/>
        </p:spPr>
        <p:txBody>
          <a:bodyPr wrap="square" lIns="0" tIns="0" rIns="0" bIns="0" rtlCol="0" anchor="t"/>
          <a:lstStyle>
            <a:lvl1pPr algn="l" indent="0" marL="0">
              <a:lnSpc>
                <a:spcPct val="115000"/>
              </a:lnSpc>
              <a:buNone/>
              <a:defRPr lang="en-US" sz="3200" dirty="0">
                <a:solidFill>
                  <a:srgbClr val="1E3F33"/>
                </a:solidFill>
                <a:latin typeface="Manrope" pitchFamily="34" charset="0"/>
                <a:ea typeface="Manrope" pitchFamily="34" charset="-122"/>
                <a:cs typeface="Manrope" pitchFamily="34" charset="-120"/>
              </a:defRPr>
            </a:lvl1pPr>
          </a:lstStyle>
          <a:p>
            <a:pPr algn="l" indent="0" marL="0">
              <a:lnSpc>
                <a:spcPct val="115000"/>
              </a:lnSpc>
              <a:buNone/>
            </a:pPr>
            <a:endParaRPr lang="en-US" sz="3200" dirty="0"/>
          </a:p>
        </p:txBody>
      </p:sp>
      <p:sp>
        <p:nvSpPr>
          <p:cNvPr id="3" name="Text Placeholder 2"/>
          <p:cNvSpPr/>
          <p:nvPr>
            <p:ph idx="101" type="body"/>
          </p:nvPr>
        </p:nvSpPr>
        <p:spPr>
          <a:xfrm>
            <a:off x="812750" y="1915084"/>
            <a:ext cx="10566450" cy="4130116"/>
          </a:xfrm>
          <a:prstGeom prst="rect">
            <a:avLst/>
          </a:prstGeom>
          <a:noFill/>
          <a:ln/>
        </p:spPr>
        <p:txBody>
          <a:bodyPr wrap="square" lIns="0" tIns="0" rIns="0" bIns="0" rtlCol="0" anchor="t"/>
          <a:lstStyle>
            <a:lvl1pPr algn="l" indent="0" marL="0">
              <a:lnSpc>
                <a:spcPct val="140000"/>
              </a:lnSpc>
              <a:buNone/>
              <a:defRPr lang="en-US" sz="1600" dirty="0">
                <a:solidFill>
                  <a:srgbClr val="1E3F33"/>
                </a:solidFill>
                <a:latin typeface="DM Sans" pitchFamily="34" charset="0"/>
                <a:ea typeface="DM Sans" pitchFamily="34" charset="-122"/>
                <a:cs typeface="DM Sans"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7F5EE"/>
        </a:solidFill>
      </p:bgPr>
    </p:bg>
    <p:spTree>
      <p:nvGrpSpPr>
        <p:cNvPr id="1" name=""/>
        <p:cNvGrpSpPr/>
        <p:nvPr/>
      </p:nvGrpSpPr>
      <p:grpSpPr>
        <a:xfrm>
          <a:off x="0" y="0"/>
          <a:ext cx="0" cy="0"/>
          <a:chOff x="0" y="0"/>
          <a:chExt cx="0" cy="0"/>
        </a:xfrm>
      </p:grpSpPr>
      <p:sp>
        <p:nvSpPr>
          <p:cNvPr id="2" name="Title Placeholder 1"/>
          <p:cNvSpPr/>
          <p:nvPr>
            <p:ph type="title"/>
          </p:nvPr>
        </p:nvSpPr>
        <p:spPr>
          <a:xfrm>
            <a:off x="812750" y="1163272"/>
            <a:ext cx="10566473" cy="447012"/>
          </a:xfrm>
          <a:prstGeom prst="rect">
            <a:avLst/>
          </a:prstGeom>
          <a:noFill/>
          <a:ln/>
        </p:spPr>
        <p:txBody>
          <a:bodyPr wrap="square" lIns="0" tIns="0" rIns="0" bIns="0" rtlCol="0" anchor="t"/>
          <a:lstStyle>
            <a:lvl1pPr algn="l" indent="0" marL="0">
              <a:lnSpc>
                <a:spcPct val="115000"/>
              </a:lnSpc>
              <a:buNone/>
              <a:defRPr lang="en-US" sz="3200" dirty="0">
                <a:solidFill>
                  <a:srgbClr val="1E3F33"/>
                </a:solidFill>
                <a:latin typeface="Manrope" pitchFamily="34" charset="0"/>
                <a:ea typeface="Manrope" pitchFamily="34" charset="-122"/>
                <a:cs typeface="Manrope" pitchFamily="34" charset="-120"/>
              </a:defRPr>
            </a:lvl1pPr>
          </a:lstStyle>
          <a:p>
            <a:pPr algn="l" indent="0" marL="0">
              <a:lnSpc>
                <a:spcPct val="115000"/>
              </a:lnSpc>
              <a:buNone/>
            </a:pPr>
            <a:endParaRPr lang="en-US" sz="3200" dirty="0"/>
          </a:p>
        </p:txBody>
      </p:sp>
      <p:sp>
        <p:nvSpPr>
          <p:cNvPr id="3" name="Text Placeholder 2"/>
          <p:cNvSpPr/>
          <p:nvPr>
            <p:ph idx="101" type="body"/>
          </p:nvPr>
        </p:nvSpPr>
        <p:spPr>
          <a:xfrm>
            <a:off x="812750" y="1915084"/>
            <a:ext cx="10566450" cy="4130116"/>
          </a:xfrm>
          <a:prstGeom prst="rect">
            <a:avLst/>
          </a:prstGeom>
          <a:noFill/>
          <a:ln/>
        </p:spPr>
        <p:txBody>
          <a:bodyPr wrap="square" lIns="0" tIns="0" rIns="0" bIns="0" rtlCol="0" anchor="t"/>
          <a:lstStyle>
            <a:lvl1pPr algn="l" indent="0" marL="0">
              <a:lnSpc>
                <a:spcPct val="140000"/>
              </a:lnSpc>
              <a:buNone/>
              <a:defRPr lang="en-US" sz="1600" dirty="0">
                <a:solidFill>
                  <a:srgbClr val="1E3F33"/>
                </a:solidFill>
                <a:latin typeface="DM Sans" pitchFamily="34" charset="0"/>
                <a:ea typeface="DM Sans" pitchFamily="34" charset="-122"/>
                <a:cs typeface="DM Sans"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2.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2.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slideLayout" Target="../slideLayouts/slideLayout2.xml"/><Relationship Id="rId6"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3F33"/>
        </a:solidFill>
      </p:bgPr>
    </p:bg>
    <p:spTree>
      <p:nvGrpSpPr>
        <p:cNvPr id="1" name=""/>
        <p:cNvGrpSpPr/>
        <p:nvPr/>
      </p:nvGrpSpPr>
      <p:grpSpPr>
        <a:xfrm>
          <a:off x="0" y="0"/>
          <a:ext cx="0" cy="0"/>
          <a:chOff x="0" y="0"/>
          <a:chExt cx="0" cy="0"/>
        </a:xfrm>
      </p:grpSpPr>
      <p:sp>
        <p:nvSpPr>
          <p:cNvPr id="2" name="Text 0"/>
          <p:cNvSpPr/>
          <p:nvPr/>
        </p:nvSpPr>
        <p:spPr>
          <a:xfrm>
            <a:off x="812750" y="812750"/>
            <a:ext cx="10883467" cy="274357"/>
          </a:xfrm>
          <a:prstGeom prst="rect">
            <a:avLst/>
          </a:prstGeom>
          <a:noFill/>
          <a:ln/>
        </p:spPr>
        <p:txBody>
          <a:bodyPr wrap="square" lIns="0" tIns="0" rIns="0" bIns="0" rtlCol="0" anchor="t">
            <a:normAutofit/>
          </a:bodyPr>
          <a:lstStyle/>
          <a:p>
            <a:pPr algn="l" indent="0" marL="0">
              <a:lnSpc>
                <a:spcPts val="1960"/>
              </a:lnSpc>
              <a:buNone/>
            </a:pPr>
            <a:r>
              <a:rPr lang="en-US" sz="1400" b="1" spc="200" kern="0" dirty="0">
                <a:solidFill>
                  <a:srgbClr val="CDE46A"/>
                </a:solidFill>
                <a:latin typeface="DM Sans" pitchFamily="34" charset="0"/>
                <a:ea typeface="DM Sans" pitchFamily="34" charset="-122"/>
                <a:cs typeface="DM Sans" pitchFamily="34" charset="-120"/>
              </a:rPr>
              <a:t>IC26-05-01 · SUSTAINABILITY &amp; CLIMATE ACTION</a:t>
            </a:r>
            <a:endParaRPr lang="en-US" sz="1400" dirty="0"/>
          </a:p>
        </p:txBody>
      </p:sp>
      <p:sp>
        <p:nvSpPr>
          <p:cNvPr id="3" name="Text 1"/>
          <p:cNvSpPr/>
          <p:nvPr>
            <p:ph type="title"/>
          </p:nvPr>
        </p:nvSpPr>
        <p:spPr>
          <a:xfrm>
            <a:off x="812750" y="2606053"/>
            <a:ext cx="10883467" cy="1041398"/>
          </a:xfrm>
          <a:prstGeom prst="rect">
            <a:avLst/>
          </a:prstGeom>
          <a:noFill/>
          <a:ln/>
        </p:spPr>
        <p:txBody>
          <a:bodyPr wrap="square" lIns="0" tIns="0" rIns="0" bIns="0" rtlCol="0" anchor="t">
            <a:normAutofit/>
          </a:bodyPr>
          <a:lstStyle/>
          <a:p>
            <a:pPr algn="l" indent="0" marL="0">
              <a:lnSpc>
                <a:spcPts val="8000"/>
              </a:lnSpc>
              <a:buNone/>
            </a:pPr>
            <a:r>
              <a:rPr lang="en-US" sz="8000" b="1" i="0" spc="-200" kern="0" dirty="0">
                <a:solidFill>
                  <a:srgbClr val="F7F5EE"/>
                </a:solidFill>
                <a:latin typeface="Manrope" pitchFamily="34" charset="0"/>
                <a:ea typeface="Manrope" pitchFamily="34" charset="-122"/>
                <a:cs typeface="Manrope" pitchFamily="34" charset="-120"/>
              </a:rPr>
              <a:t>GreenLedger</a:t>
            </a:r>
            <a:endParaRPr lang="en-US" sz="8000" dirty="0"/>
          </a:p>
        </p:txBody>
      </p:sp>
      <p:sp>
        <p:nvSpPr>
          <p:cNvPr id="4" name="Text 2"/>
          <p:cNvSpPr/>
          <p:nvPr/>
        </p:nvSpPr>
        <p:spPr>
          <a:xfrm>
            <a:off x="812750" y="3825238"/>
            <a:ext cx="10883467" cy="452063"/>
          </a:xfrm>
          <a:prstGeom prst="rect">
            <a:avLst/>
          </a:prstGeom>
          <a:noFill/>
          <a:ln/>
        </p:spPr>
        <p:txBody>
          <a:bodyPr wrap="square" lIns="0" tIns="0" rIns="0" bIns="0" rtlCol="0" anchor="t">
            <a:normAutofit/>
          </a:bodyPr>
          <a:lstStyle/>
          <a:p>
            <a:pPr algn="l" indent="0" marL="0">
              <a:lnSpc>
                <a:spcPts val="3360"/>
              </a:lnSpc>
              <a:buNone/>
            </a:pPr>
            <a:r>
              <a:rPr lang="en-US" sz="2800" dirty="0">
                <a:solidFill>
                  <a:srgbClr val="F7F5EE"/>
                </a:solidFill>
                <a:latin typeface="Manrope" pitchFamily="34" charset="0"/>
                <a:ea typeface="Manrope" pitchFamily="34" charset="-122"/>
                <a:cs typeface="Manrope" pitchFamily="34" charset="-120"/>
              </a:rPr>
              <a:t>Campus savings you can </a:t>
            </a:r>
            <a:r>
              <a:rPr lang="en-US" sz="2800" dirty="0">
                <a:solidFill>
                  <a:srgbClr val="CDE46A"/>
                </a:solidFill>
                <a:latin typeface="Manrope" pitchFamily="34" charset="0"/>
                <a:ea typeface="Manrope" pitchFamily="34" charset="-122"/>
                <a:cs typeface="Manrope" pitchFamily="34" charset="-120"/>
              </a:rPr>
              <a:t>prove</a:t>
            </a:r>
            <a:r>
              <a:rPr lang="en-US" sz="2800" dirty="0">
                <a:solidFill>
                  <a:srgbClr val="F7F5EE"/>
                </a:solidFill>
                <a:latin typeface="Manrope" pitchFamily="34" charset="0"/>
                <a:ea typeface="Manrope" pitchFamily="34" charset="-122"/>
                <a:cs typeface="Manrope" pitchFamily="34" charset="-120"/>
              </a:rPr>
              <a:t> — not just claim.</a:t>
            </a:r>
            <a:endParaRPr lang="en-US" sz="2800" dirty="0"/>
          </a:p>
        </p:txBody>
      </p:sp>
      <p:sp>
        <p:nvSpPr>
          <p:cNvPr id="5" name="Text 3"/>
          <p:cNvSpPr/>
          <p:nvPr/>
        </p:nvSpPr>
        <p:spPr>
          <a:xfrm>
            <a:off x="812750" y="5796247"/>
            <a:ext cx="5336494" cy="274357"/>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BFD3C6"/>
                </a:solidFill>
                <a:latin typeface="DM Sans" pitchFamily="34" charset="0"/>
                <a:ea typeface="DM Sans" pitchFamily="34" charset="-122"/>
                <a:cs typeface="DM Sans" pitchFamily="34" charset="-120"/>
              </a:rPr>
              <a:t>Team Shinzen · Anup Batakurki · Het Balchandani · Kamaal</a:t>
            </a:r>
            <a:endParaRPr lang="en-US" sz="1400" dirty="0"/>
          </a:p>
        </p:txBody>
      </p:sp>
      <p:sp>
        <p:nvSpPr>
          <p:cNvPr id="6" name="Text 4"/>
          <p:cNvSpPr/>
          <p:nvPr/>
        </p:nvSpPr>
        <p:spPr>
          <a:xfrm>
            <a:off x="6149244" y="5796247"/>
            <a:ext cx="5229979" cy="274357"/>
          </a:xfrm>
          <a:prstGeom prst="rect">
            <a:avLst/>
          </a:prstGeom>
          <a:noFill/>
          <a:ln/>
        </p:spPr>
        <p:txBody>
          <a:bodyPr wrap="square" lIns="0" tIns="0" rIns="0" bIns="0" rtlCol="0" anchor="t">
            <a:normAutofit/>
          </a:bodyPr>
          <a:lstStyle/>
          <a:p>
            <a:pPr algn="r" indent="0" marL="0">
              <a:lnSpc>
                <a:spcPts val="1960"/>
              </a:lnSpc>
              <a:buNone/>
            </a:pPr>
            <a:r>
              <a:rPr lang="en-US" sz="1400" dirty="0">
                <a:solidFill>
                  <a:srgbClr val="BFD3C6"/>
                </a:solidFill>
                <a:latin typeface="DM Sans" pitchFamily="34" charset="0"/>
                <a:ea typeface="DM Sans" pitchFamily="34" charset="-122"/>
                <a:cs typeface="DM Sans" pitchFamily="34" charset="-120"/>
              </a:rPr>
              <a:t>Dayananda Sagar University · Innovators Conclave 2026</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5EE"/>
        </a:solidFill>
      </p:bgPr>
    </p:bg>
    <p:spTree>
      <p:nvGrpSpPr>
        <p:cNvPr id="1" name=""/>
        <p:cNvGrpSpPr/>
        <p:nvPr/>
      </p:nvGrpSpPr>
      <p:grpSpPr>
        <a:xfrm>
          <a:off x="0" y="0"/>
          <a:ext cx="0" cy="0"/>
          <a:chOff x="0" y="0"/>
          <a:chExt cx="0" cy="0"/>
        </a:xfrm>
      </p:grpSpPr>
      <p:sp>
        <p:nvSpPr>
          <p:cNvPr id="2" name="Text 0"/>
          <p:cNvSpPr/>
          <p:nvPr/>
        </p:nvSpPr>
        <p:spPr>
          <a:xfrm>
            <a:off x="812750" y="812750"/>
            <a:ext cx="10883467" cy="274357"/>
          </a:xfrm>
          <a:prstGeom prst="rect">
            <a:avLst/>
          </a:prstGeom>
          <a:noFill/>
          <a:ln/>
        </p:spPr>
        <p:txBody>
          <a:bodyPr wrap="square" lIns="0" tIns="0" rIns="0" bIns="0" rtlCol="0" anchor="t">
            <a:normAutofit/>
          </a:bodyPr>
          <a:lstStyle/>
          <a:p>
            <a:pPr algn="l" indent="0" marL="0">
              <a:lnSpc>
                <a:spcPts val="1960"/>
              </a:lnSpc>
              <a:buNone/>
            </a:pPr>
            <a:r>
              <a:rPr lang="en-US" sz="1400" b="1" spc="200" kern="0" dirty="0">
                <a:solidFill>
                  <a:srgbClr val="9A6B1F"/>
                </a:solidFill>
                <a:latin typeface="DM Sans" pitchFamily="34" charset="0"/>
                <a:ea typeface="DM Sans" pitchFamily="34" charset="-122"/>
                <a:cs typeface="DM Sans" pitchFamily="34" charset="-120"/>
              </a:rPr>
              <a:t>01 · PROBLEM STATEMENT</a:t>
            </a:r>
            <a:endParaRPr lang="en-US" sz="1400" dirty="0"/>
          </a:p>
        </p:txBody>
      </p:sp>
      <p:sp>
        <p:nvSpPr>
          <p:cNvPr id="3" name="Text 1"/>
          <p:cNvSpPr/>
          <p:nvPr>
            <p:ph type="title"/>
          </p:nvPr>
        </p:nvSpPr>
        <p:spPr>
          <a:xfrm>
            <a:off x="812750" y="1163271"/>
            <a:ext cx="10883467" cy="472412"/>
          </a:xfrm>
          <a:prstGeom prst="rect">
            <a:avLst/>
          </a:prstGeom>
          <a:noFill/>
          <a:ln/>
        </p:spPr>
        <p:txBody>
          <a:bodyPr wrap="square" lIns="0" tIns="0" rIns="0" bIns="0" rtlCol="0" anchor="t">
            <a:normAutofit/>
          </a:bodyPr>
          <a:lstStyle/>
          <a:p>
            <a:pPr algn="l" indent="0" marL="0">
              <a:lnSpc>
                <a:spcPts val="3520"/>
              </a:lnSpc>
              <a:buNone/>
            </a:pPr>
            <a:r>
              <a:rPr lang="en-US" sz="3200" b="1" i="0" spc="-50" kern="0" dirty="0">
                <a:solidFill>
                  <a:srgbClr val="1E3F33"/>
                </a:solidFill>
                <a:latin typeface="Manrope" pitchFamily="34" charset="0"/>
                <a:ea typeface="Manrope" pitchFamily="34" charset="-122"/>
                <a:cs typeface="Manrope" pitchFamily="34" charset="-120"/>
              </a:rPr>
              <a:t>IC26-05-01 · GreenLedger</a:t>
            </a:r>
            <a:endParaRPr lang="en-US" sz="3200" dirty="0"/>
          </a:p>
        </p:txBody>
      </p:sp>
      <p:sp>
        <p:nvSpPr>
          <p:cNvPr id="4" name="Shape 2"/>
          <p:cNvSpPr/>
          <p:nvPr/>
        </p:nvSpPr>
        <p:spPr>
          <a:xfrm>
            <a:off x="812750" y="1915034"/>
            <a:ext cx="5922266" cy="3926922"/>
          </a:xfrm>
          <a:prstGeom prst="roundRect">
            <a:avLst>
              <a:gd name="adj" fmla="val 3881"/>
            </a:avLst>
          </a:prstGeom>
          <a:solidFill>
            <a:srgbClr val="1E3F33"/>
          </a:solidFill>
          <a:ln/>
        </p:spPr>
      </p:sp>
      <p:sp>
        <p:nvSpPr>
          <p:cNvPr id="5" name="Text 3"/>
          <p:cNvSpPr/>
          <p:nvPr/>
        </p:nvSpPr>
        <p:spPr>
          <a:xfrm>
            <a:off x="1168343" y="2270627"/>
            <a:ext cx="5367412" cy="274357"/>
          </a:xfrm>
          <a:prstGeom prst="rect">
            <a:avLst/>
          </a:prstGeom>
          <a:noFill/>
          <a:ln/>
        </p:spPr>
        <p:txBody>
          <a:bodyPr wrap="square" lIns="0" tIns="0" rIns="0" bIns="0" rtlCol="0" anchor="t">
            <a:normAutofit/>
          </a:bodyPr>
          <a:lstStyle/>
          <a:p>
            <a:pPr algn="l" indent="0" marL="0">
              <a:lnSpc>
                <a:spcPts val="1960"/>
              </a:lnSpc>
              <a:buNone/>
            </a:pPr>
            <a:r>
              <a:rPr lang="en-US" sz="1400" b="1" spc="150" kern="0" dirty="0">
                <a:solidFill>
                  <a:srgbClr val="CDE46A"/>
                </a:solidFill>
                <a:latin typeface="DM Sans" pitchFamily="34" charset="0"/>
                <a:ea typeface="DM Sans" pitchFamily="34" charset="-122"/>
                <a:cs typeface="DM Sans" pitchFamily="34" charset="-120"/>
              </a:rPr>
              <a:t>CAMPUS RESOURCE OPTIMISATION — THE BRIEF</a:t>
            </a:r>
            <a:endParaRPr lang="en-US" sz="1400" dirty="0"/>
          </a:p>
        </p:txBody>
      </p:sp>
      <p:sp>
        <p:nvSpPr>
          <p:cNvPr id="6" name="Text 4"/>
          <p:cNvSpPr/>
          <p:nvPr/>
        </p:nvSpPr>
        <p:spPr>
          <a:xfrm>
            <a:off x="1168343" y="2671931"/>
            <a:ext cx="5367412" cy="1682540"/>
          </a:xfrm>
          <a:prstGeom prst="rect">
            <a:avLst/>
          </a:prstGeom>
          <a:noFill/>
          <a:ln/>
        </p:spPr>
        <p:txBody>
          <a:bodyPr wrap="square" lIns="0" tIns="0" rIns="0" bIns="0" rtlCol="0" anchor="t">
            <a:normAutofit/>
          </a:bodyPr>
          <a:lstStyle/>
          <a:p>
            <a:pPr algn="l" indent="0" marL="0">
              <a:lnSpc>
                <a:spcPts val="2175"/>
              </a:lnSpc>
              <a:buNone/>
            </a:pPr>
            <a:r>
              <a:rPr lang="en-US" sz="1500" dirty="0">
                <a:solidFill>
                  <a:srgbClr val="F7F5EE"/>
                </a:solidFill>
                <a:latin typeface="DM Sans" pitchFamily="34" charset="0"/>
                <a:ea typeface="DM Sans" pitchFamily="34" charset="-122"/>
                <a:cs typeface="DM Sans" pitchFamily="34" charset="-120"/>
              </a:rPr>
              <a:t>“Electricity, water and waste data are often tracked separately, making it difficult to identify avoidable consumption. Build a platform that combines periodic readings and action logs, highlights unusual changes and compares resource use against a baseline </a:t>
            </a:r>
            <a:r>
              <a:rPr lang="en-US" sz="1500" b="1" dirty="0">
                <a:solidFill>
                  <a:srgbClr val="CDE46A"/>
                </a:solidFill>
                <a:latin typeface="DM Sans" pitchFamily="34" charset="0"/>
                <a:ea typeface="DM Sans" pitchFamily="34" charset="-122"/>
                <a:cs typeface="DM Sans" pitchFamily="34" charset="-120"/>
              </a:rPr>
              <a:t>without overstating environmental benefits</a:t>
            </a:r>
            <a:r>
              <a:rPr lang="en-US" sz="1500" dirty="0">
                <a:solidFill>
                  <a:srgbClr val="F7F5EE"/>
                </a:solidFill>
                <a:latin typeface="DM Sans" pitchFamily="34" charset="0"/>
                <a:ea typeface="DM Sans" pitchFamily="34" charset="-122"/>
                <a:cs typeface="DM Sans" pitchFamily="34" charset="-120"/>
              </a:rPr>
              <a:t>.”</a:t>
            </a:r>
            <a:endParaRPr lang="en-US" sz="1500" dirty="0"/>
          </a:p>
        </p:txBody>
      </p:sp>
      <p:sp>
        <p:nvSpPr>
          <p:cNvPr id="7" name="Shape 5"/>
          <p:cNvSpPr/>
          <p:nvPr/>
        </p:nvSpPr>
        <p:spPr>
          <a:xfrm>
            <a:off x="7042941" y="1918209"/>
            <a:ext cx="4333106" cy="3920572"/>
          </a:xfrm>
          <a:prstGeom prst="roundRect">
            <a:avLst>
              <a:gd name="adj" fmla="val 3806"/>
            </a:avLst>
          </a:prstGeom>
          <a:solidFill>
            <a:srgbClr val="FFFDF7"/>
          </a:solidFill>
          <a:ln w="6350">
            <a:solidFill>
              <a:srgbClr val="D9DECF"/>
            </a:solidFill>
            <a:prstDash val="solid"/>
          </a:ln>
        </p:spPr>
      </p:sp>
      <p:sp>
        <p:nvSpPr>
          <p:cNvPr id="8" name="Text 6"/>
          <p:cNvSpPr/>
          <p:nvPr/>
        </p:nvSpPr>
        <p:spPr>
          <a:xfrm>
            <a:off x="7348382" y="2223650"/>
            <a:ext cx="3833892" cy="284502"/>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1E3F33"/>
                </a:solidFill>
                <a:latin typeface="DM Sans" pitchFamily="34" charset="0"/>
                <a:ea typeface="DM Sans" pitchFamily="34" charset="-122"/>
                <a:cs typeface="DM Sans" pitchFamily="34" charset="-120"/>
              </a:rPr>
              <a:t>Expected output</a:t>
            </a:r>
            <a:endParaRPr lang="en-US" sz="1700" dirty="0"/>
          </a:p>
        </p:txBody>
      </p:sp>
      <p:sp>
        <p:nvSpPr>
          <p:cNvPr id="9" name="Text 7"/>
          <p:cNvSpPr/>
          <p:nvPr/>
        </p:nvSpPr>
        <p:spPr>
          <a:xfrm>
            <a:off x="7368702" y="2609736"/>
            <a:ext cx="3807476" cy="1549457"/>
          </a:xfrm>
          <a:prstGeom prst="rect">
            <a:avLst/>
          </a:prstGeom>
          <a:noFill/>
          <a:ln/>
        </p:spPr>
        <p:txBody>
          <a:bodyPr wrap="square" lIns="0" tIns="0" rIns="0" bIns="0" rtlCol="0" anchor="t">
            <a:normAutofit/>
          </a:bodyPr>
          <a:lstStyle/>
          <a:p>
            <a:pPr algn="l" marL="182880" indent="-182880">
              <a:lnSpc>
                <a:spcPts val="2400"/>
              </a:lnSpc>
              <a:buSzPct val="100000"/>
              <a:buChar char="•"/>
            </a:pPr>
            <a:r>
              <a:rPr lang="en-US" sz="1500" dirty="0">
                <a:solidFill>
                  <a:srgbClr val="4A5A52"/>
                </a:solidFill>
                <a:latin typeface="DM Sans" pitchFamily="34" charset="0"/>
                <a:ea typeface="DM Sans" pitchFamily="34" charset="-122"/>
                <a:cs typeface="DM Sans" pitchFamily="34" charset="-120"/>
              </a:rPr>
              <a:t>Resource dashboard</a:t>
            </a:r>
            <a:endParaRPr lang="en-US" sz="1500" dirty="0"/>
          </a:p>
          <a:p>
            <a:pPr algn="l" marL="182880" indent="-182880">
              <a:lnSpc>
                <a:spcPts val="2400"/>
              </a:lnSpc>
              <a:buSzPct val="100000"/>
              <a:buChar char="•"/>
            </a:pPr>
            <a:r>
              <a:rPr lang="en-US" sz="1500" dirty="0">
                <a:solidFill>
                  <a:srgbClr val="4A5A52"/>
                </a:solidFill>
                <a:latin typeface="DM Sans" pitchFamily="34" charset="0"/>
                <a:ea typeface="DM Sans" pitchFamily="34" charset="-122"/>
                <a:cs typeface="DM Sans" pitchFamily="34" charset="-120"/>
              </a:rPr>
              <a:t>Baseline / trend comparison</a:t>
            </a:r>
            <a:endParaRPr lang="en-US" sz="1500" dirty="0"/>
          </a:p>
          <a:p>
            <a:pPr algn="l" marL="182880" indent="-182880">
              <a:lnSpc>
                <a:spcPts val="2400"/>
              </a:lnSpc>
              <a:buSzPct val="100000"/>
              <a:buChar char="•"/>
            </a:pPr>
            <a:r>
              <a:rPr lang="en-US" sz="1500" dirty="0">
                <a:solidFill>
                  <a:srgbClr val="4A5A52"/>
                </a:solidFill>
                <a:latin typeface="DM Sans" pitchFamily="34" charset="0"/>
                <a:ea typeface="DM Sans" pitchFamily="34" charset="-122"/>
                <a:cs typeface="DM Sans" pitchFamily="34" charset="-120"/>
              </a:rPr>
              <a:t>Action register</a:t>
            </a:r>
            <a:endParaRPr lang="en-US" sz="1500" dirty="0"/>
          </a:p>
          <a:p>
            <a:pPr algn="l" marL="182880" indent="-182880">
              <a:lnSpc>
                <a:spcPts val="2400"/>
              </a:lnSpc>
              <a:buSzPct val="100000"/>
              <a:buChar char="•"/>
            </a:pPr>
            <a:r>
              <a:rPr lang="en-US" sz="1500" dirty="0">
                <a:solidFill>
                  <a:srgbClr val="4A5A52"/>
                </a:solidFill>
                <a:latin typeface="DM Sans" pitchFamily="34" charset="0"/>
                <a:ea typeface="DM Sans" pitchFamily="34" charset="-122"/>
                <a:cs typeface="DM Sans" pitchFamily="34" charset="-120"/>
              </a:rPr>
              <a:t>Exportable report</a:t>
            </a:r>
            <a:endParaRPr lang="en-US" sz="1500" dirty="0"/>
          </a:p>
          <a:p>
            <a:pPr algn="l" marL="182880" indent="-182880">
              <a:lnSpc>
                <a:spcPts val="2400"/>
              </a:lnSpc>
              <a:buSzPct val="100000"/>
              <a:buChar char="•"/>
            </a:pPr>
            <a:r>
              <a:rPr lang="en-US" sz="1500" dirty="0">
                <a:solidFill>
                  <a:srgbClr val="4A5A52"/>
                </a:solidFill>
                <a:latin typeface="DM Sans" pitchFamily="34" charset="0"/>
                <a:ea typeface="DM Sans" pitchFamily="34" charset="-122"/>
                <a:cs typeface="DM Sans" pitchFamily="34" charset="-120"/>
              </a:rPr>
              <a:t>Labelled sample dataset</a:t>
            </a:r>
            <a:endParaRPr lang="en-US" sz="1500" dirty="0"/>
          </a:p>
        </p:txBody>
      </p:sp>
      <p:sp>
        <p:nvSpPr>
          <p:cNvPr id="10" name="Text 8"/>
          <p:cNvSpPr/>
          <p:nvPr/>
        </p:nvSpPr>
        <p:spPr>
          <a:xfrm>
            <a:off x="812750" y="6238248"/>
            <a:ext cx="10883342" cy="238732"/>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A52"/>
                </a:solidFill>
                <a:latin typeface="DM Sans" pitchFamily="34" charset="0"/>
                <a:ea typeface="DM Sans" pitchFamily="34" charset="-122"/>
                <a:cs typeface="DM Sans" pitchFamily="34" charset="-120"/>
              </a:rPr>
              <a:t>Domain: Sustainability &amp; Climate Action · Suggested alignment: Ministry of Environment, Forest &amp; Climate Change (MoEFCC)</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5EE"/>
        </a:solidFill>
      </p:bgPr>
    </p:bg>
    <p:spTree>
      <p:nvGrpSpPr>
        <p:cNvPr id="1" name=""/>
        <p:cNvGrpSpPr/>
        <p:nvPr/>
      </p:nvGrpSpPr>
      <p:grpSpPr>
        <a:xfrm>
          <a:off x="0" y="0"/>
          <a:ext cx="0" cy="0"/>
          <a:chOff x="0" y="0"/>
          <a:chExt cx="0" cy="0"/>
        </a:xfrm>
      </p:grpSpPr>
      <p:sp>
        <p:nvSpPr>
          <p:cNvPr id="2" name="Text 0"/>
          <p:cNvSpPr/>
          <p:nvPr/>
        </p:nvSpPr>
        <p:spPr>
          <a:xfrm>
            <a:off x="812750" y="812750"/>
            <a:ext cx="10883467" cy="274357"/>
          </a:xfrm>
          <a:prstGeom prst="rect">
            <a:avLst/>
          </a:prstGeom>
          <a:noFill/>
          <a:ln/>
        </p:spPr>
        <p:txBody>
          <a:bodyPr wrap="square" lIns="0" tIns="0" rIns="0" bIns="0" rtlCol="0" anchor="t">
            <a:normAutofit/>
          </a:bodyPr>
          <a:lstStyle/>
          <a:p>
            <a:pPr algn="l" indent="0" marL="0">
              <a:lnSpc>
                <a:spcPts val="1960"/>
              </a:lnSpc>
              <a:buNone/>
            </a:pPr>
            <a:r>
              <a:rPr lang="en-US" sz="1400" b="1" spc="200" kern="0" dirty="0">
                <a:solidFill>
                  <a:srgbClr val="9A6B1F"/>
                </a:solidFill>
                <a:latin typeface="DM Sans" pitchFamily="34" charset="0"/>
                <a:ea typeface="DM Sans" pitchFamily="34" charset="-122"/>
                <a:cs typeface="DM Sans" pitchFamily="34" charset="-120"/>
              </a:rPr>
              <a:t>01 · WHY IT MATTERS</a:t>
            </a:r>
            <a:endParaRPr lang="en-US" sz="1400" dirty="0"/>
          </a:p>
        </p:txBody>
      </p:sp>
      <p:sp>
        <p:nvSpPr>
          <p:cNvPr id="3" name="Text 1"/>
          <p:cNvSpPr/>
          <p:nvPr>
            <p:ph type="title"/>
          </p:nvPr>
        </p:nvSpPr>
        <p:spPr>
          <a:xfrm>
            <a:off x="812750" y="1163272"/>
            <a:ext cx="10883467" cy="472412"/>
          </a:xfrm>
          <a:prstGeom prst="rect">
            <a:avLst/>
          </a:prstGeom>
          <a:noFill/>
          <a:ln/>
        </p:spPr>
        <p:txBody>
          <a:bodyPr wrap="square" lIns="0" tIns="0" rIns="0" bIns="0" rtlCol="0" anchor="t">
            <a:normAutofit/>
          </a:bodyPr>
          <a:lstStyle/>
          <a:p>
            <a:pPr algn="l" indent="0" marL="0">
              <a:lnSpc>
                <a:spcPts val="3520"/>
              </a:lnSpc>
              <a:buNone/>
            </a:pPr>
            <a:r>
              <a:rPr lang="en-US" sz="3200" b="1" i="0" spc="-50" kern="0" dirty="0">
                <a:solidFill>
                  <a:srgbClr val="1E3F33"/>
                </a:solidFill>
                <a:latin typeface="Manrope" pitchFamily="34" charset="0"/>
                <a:ea typeface="Manrope" pitchFamily="34" charset="-122"/>
                <a:cs typeface="Manrope" pitchFamily="34" charset="-120"/>
              </a:rPr>
              <a:t>Campus savings are claimed, not proven</a:t>
            </a:r>
            <a:endParaRPr lang="en-US" sz="3200" dirty="0"/>
          </a:p>
        </p:txBody>
      </p:sp>
      <p:sp>
        <p:nvSpPr>
          <p:cNvPr id="4" name="Shape 2"/>
          <p:cNvSpPr/>
          <p:nvPr/>
        </p:nvSpPr>
        <p:spPr>
          <a:xfrm>
            <a:off x="812750" y="1965877"/>
            <a:ext cx="5435642" cy="3129268"/>
          </a:xfrm>
          <a:prstGeom prst="roundRect">
            <a:avLst>
              <a:gd name="adj" fmla="val 4870"/>
            </a:avLst>
          </a:prstGeom>
          <a:solidFill>
            <a:srgbClr val="1E3F33"/>
          </a:solidFill>
          <a:ln/>
        </p:spPr>
      </p:sp>
      <p:sp>
        <p:nvSpPr>
          <p:cNvPr id="5" name="Text 3"/>
          <p:cNvSpPr/>
          <p:nvPr/>
        </p:nvSpPr>
        <p:spPr>
          <a:xfrm>
            <a:off x="1168343" y="2321469"/>
            <a:ext cx="4866189" cy="1041398"/>
          </a:xfrm>
          <a:prstGeom prst="rect">
            <a:avLst/>
          </a:prstGeom>
          <a:noFill/>
          <a:ln/>
        </p:spPr>
        <p:txBody>
          <a:bodyPr wrap="square" lIns="0" tIns="0" rIns="0" bIns="0" rtlCol="0" anchor="t">
            <a:normAutofit/>
          </a:bodyPr>
          <a:lstStyle/>
          <a:p>
            <a:pPr algn="l" indent="0" marL="0">
              <a:lnSpc>
                <a:spcPts val="8000"/>
              </a:lnSpc>
              <a:buNone/>
            </a:pPr>
            <a:r>
              <a:rPr lang="en-US" sz="8000" b="1" dirty="0">
                <a:solidFill>
                  <a:srgbClr val="CDE46A"/>
                </a:solidFill>
                <a:latin typeface="Manrope" pitchFamily="34" charset="0"/>
                <a:ea typeface="Manrope" pitchFamily="34" charset="-122"/>
                <a:cs typeface="Manrope" pitchFamily="34" charset="-120"/>
              </a:rPr>
              <a:t>25 of 55</a:t>
            </a:r>
            <a:endParaRPr lang="en-US" sz="8000" dirty="0"/>
          </a:p>
        </p:txBody>
      </p:sp>
      <p:sp>
        <p:nvSpPr>
          <p:cNvPr id="6" name="Text 4"/>
          <p:cNvSpPr/>
          <p:nvPr/>
        </p:nvSpPr>
        <p:spPr>
          <a:xfrm>
            <a:off x="1168343" y="3464452"/>
            <a:ext cx="4866189" cy="951246"/>
          </a:xfrm>
          <a:prstGeom prst="rect">
            <a:avLst/>
          </a:prstGeom>
          <a:noFill/>
          <a:ln/>
        </p:spPr>
        <p:txBody>
          <a:bodyPr wrap="square" lIns="0" tIns="0" rIns="0" bIns="0" rtlCol="0" anchor="t">
            <a:normAutofit/>
          </a:bodyPr>
          <a:lstStyle/>
          <a:p>
            <a:pPr algn="l" indent="0" marL="0">
              <a:lnSpc>
                <a:spcPts val="2430"/>
              </a:lnSpc>
              <a:buNone/>
            </a:pPr>
            <a:r>
              <a:rPr lang="en-US" sz="1800" dirty="0">
                <a:solidFill>
                  <a:srgbClr val="F7F5EE"/>
                </a:solidFill>
                <a:latin typeface="DM Sans" pitchFamily="34" charset="0"/>
                <a:ea typeface="DM Sans" pitchFamily="34" charset="-122"/>
                <a:cs typeface="DM Sans" pitchFamily="34" charset="-120"/>
              </a:rPr>
              <a:t>real meter-months where </a:t>
            </a:r>
            <a:r>
              <a:rPr lang="en-US" sz="1800" b="1" dirty="0">
                <a:solidFill>
                  <a:srgbClr val="F7F5EE"/>
                </a:solidFill>
                <a:latin typeface="DM Sans" pitchFamily="34" charset="0"/>
                <a:ea typeface="DM Sans" pitchFamily="34" charset="-122"/>
                <a:cs typeface="DM Sans" pitchFamily="34" charset="-120"/>
              </a:rPr>
              <a:t>nothing was done</a:t>
            </a:r>
            <a:r>
              <a:rPr lang="en-US" sz="1800" dirty="0">
                <a:solidFill>
                  <a:srgbClr val="F7F5EE"/>
                </a:solidFill>
                <a:latin typeface="DM Sans" pitchFamily="34" charset="0"/>
                <a:ea typeface="DM Sans" pitchFamily="34" charset="-122"/>
                <a:cs typeface="DM Sans" pitchFamily="34" charset="-120"/>
              </a:rPr>
              <a:t> — and a simple before/after dashboard still reported a “saving”.</a:t>
            </a:r>
            <a:endParaRPr lang="en-US" sz="1800" dirty="0"/>
          </a:p>
        </p:txBody>
      </p:sp>
      <p:sp>
        <p:nvSpPr>
          <p:cNvPr id="7" name="Shape 5"/>
          <p:cNvSpPr/>
          <p:nvPr/>
        </p:nvSpPr>
        <p:spPr>
          <a:xfrm>
            <a:off x="6673817" y="1965877"/>
            <a:ext cx="0" cy="924578"/>
          </a:xfrm>
          <a:prstGeom prst="line">
            <a:avLst/>
          </a:prstGeom>
          <a:noFill/>
          <a:ln w="38100">
            <a:solidFill>
              <a:srgbClr val="9A6B1F"/>
            </a:solidFill>
            <a:prstDash val="solid"/>
          </a:ln>
        </p:spPr>
      </p:sp>
      <p:sp>
        <p:nvSpPr>
          <p:cNvPr id="8" name="Text 6"/>
          <p:cNvSpPr/>
          <p:nvPr/>
        </p:nvSpPr>
        <p:spPr>
          <a:xfrm>
            <a:off x="6892735" y="2016658"/>
            <a:ext cx="4621082" cy="299718"/>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E3F33"/>
                </a:solidFill>
                <a:latin typeface="DM Sans" pitchFamily="34" charset="0"/>
                <a:ea typeface="DM Sans" pitchFamily="34" charset="-122"/>
                <a:cs typeface="DM Sans" pitchFamily="34" charset="-120"/>
              </a:rPr>
              <a:t>Tracked separately</a:t>
            </a:r>
            <a:endParaRPr lang="en-US" sz="1800" dirty="0"/>
          </a:p>
        </p:txBody>
      </p:sp>
      <p:sp>
        <p:nvSpPr>
          <p:cNvPr id="9" name="Text 7"/>
          <p:cNvSpPr/>
          <p:nvPr/>
        </p:nvSpPr>
        <p:spPr>
          <a:xfrm>
            <a:off x="6892735" y="2341758"/>
            <a:ext cx="4621082" cy="523315"/>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A52"/>
                </a:solidFill>
                <a:latin typeface="DM Sans" pitchFamily="34" charset="0"/>
                <a:ea typeface="DM Sans" pitchFamily="34" charset="-122"/>
                <a:cs typeface="DM Sans" pitchFamily="34" charset="-120"/>
              </a:rPr>
              <a:t>Electricity, water and waste sit in different bills and registers.</a:t>
            </a:r>
            <a:endParaRPr lang="en-US" sz="1400" dirty="0"/>
          </a:p>
        </p:txBody>
      </p:sp>
      <p:sp>
        <p:nvSpPr>
          <p:cNvPr id="10" name="Shape 8"/>
          <p:cNvSpPr/>
          <p:nvPr/>
        </p:nvSpPr>
        <p:spPr>
          <a:xfrm>
            <a:off x="6673817" y="3068222"/>
            <a:ext cx="0" cy="924578"/>
          </a:xfrm>
          <a:prstGeom prst="line">
            <a:avLst/>
          </a:prstGeom>
          <a:noFill/>
          <a:ln w="38100">
            <a:solidFill>
              <a:srgbClr val="9A6B1F"/>
            </a:solidFill>
            <a:prstDash val="solid"/>
          </a:ln>
        </p:spPr>
      </p:sp>
      <p:sp>
        <p:nvSpPr>
          <p:cNvPr id="11" name="Text 9"/>
          <p:cNvSpPr/>
          <p:nvPr/>
        </p:nvSpPr>
        <p:spPr>
          <a:xfrm>
            <a:off x="6892735" y="3119003"/>
            <a:ext cx="4621082" cy="299718"/>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E3F33"/>
                </a:solidFill>
                <a:latin typeface="DM Sans" pitchFamily="34" charset="0"/>
                <a:ea typeface="DM Sans" pitchFamily="34" charset="-122"/>
                <a:cs typeface="DM Sans" pitchFamily="34" charset="-120"/>
              </a:rPr>
              <a:t>Compared unfairly</a:t>
            </a:r>
            <a:endParaRPr lang="en-US" sz="1800" dirty="0"/>
          </a:p>
        </p:txBody>
      </p:sp>
      <p:sp>
        <p:nvSpPr>
          <p:cNvPr id="12" name="Text 10"/>
          <p:cNvSpPr/>
          <p:nvPr/>
        </p:nvSpPr>
        <p:spPr>
          <a:xfrm>
            <a:off x="6892735" y="3444103"/>
            <a:ext cx="4621082" cy="523315"/>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A52"/>
                </a:solidFill>
                <a:latin typeface="DM Sans" pitchFamily="34" charset="0"/>
                <a:ea typeface="DM Sans" pitchFamily="34" charset="-122"/>
                <a:cs typeface="DM Sans" pitchFamily="34" charset="-120"/>
              </a:rPr>
              <a:t>“This month vs last month” ignores weather, exams and holidays.</a:t>
            </a:r>
            <a:endParaRPr lang="en-US" sz="1400" dirty="0"/>
          </a:p>
        </p:txBody>
      </p:sp>
      <p:sp>
        <p:nvSpPr>
          <p:cNvPr id="13" name="Shape 11"/>
          <p:cNvSpPr/>
          <p:nvPr/>
        </p:nvSpPr>
        <p:spPr>
          <a:xfrm>
            <a:off x="6673817" y="4170567"/>
            <a:ext cx="0" cy="924578"/>
          </a:xfrm>
          <a:prstGeom prst="line">
            <a:avLst/>
          </a:prstGeom>
          <a:noFill/>
          <a:ln w="38100">
            <a:solidFill>
              <a:srgbClr val="AD4530"/>
            </a:solidFill>
            <a:prstDash val="solid"/>
          </a:ln>
        </p:spPr>
      </p:sp>
      <p:sp>
        <p:nvSpPr>
          <p:cNvPr id="14" name="Text 12"/>
          <p:cNvSpPr/>
          <p:nvPr/>
        </p:nvSpPr>
        <p:spPr>
          <a:xfrm>
            <a:off x="6892735" y="4221349"/>
            <a:ext cx="4621082" cy="299718"/>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E3F33"/>
                </a:solidFill>
                <a:latin typeface="DM Sans" pitchFamily="34" charset="0"/>
                <a:ea typeface="DM Sans" pitchFamily="34" charset="-122"/>
                <a:cs typeface="DM Sans" pitchFamily="34" charset="-120"/>
              </a:rPr>
              <a:t>Over-claimed</a:t>
            </a:r>
            <a:endParaRPr lang="en-US" sz="1800" dirty="0"/>
          </a:p>
        </p:txBody>
      </p:sp>
      <p:sp>
        <p:nvSpPr>
          <p:cNvPr id="15" name="Text 13"/>
          <p:cNvSpPr/>
          <p:nvPr/>
        </p:nvSpPr>
        <p:spPr>
          <a:xfrm>
            <a:off x="6892735" y="4546448"/>
            <a:ext cx="4621082" cy="523315"/>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A52"/>
                </a:solidFill>
                <a:latin typeface="DM Sans" pitchFamily="34" charset="0"/>
                <a:ea typeface="DM Sans" pitchFamily="34" charset="-122"/>
                <a:cs typeface="DM Sans" pitchFamily="34" charset="-120"/>
              </a:rPr>
              <a:t>Unproven savings are greenwashing — and money spent on actions that may not work.</a:t>
            </a:r>
            <a:endParaRPr lang="en-US" sz="1400" dirty="0"/>
          </a:p>
        </p:txBody>
      </p:sp>
      <p:sp>
        <p:nvSpPr>
          <p:cNvPr id="16" name="Text 14"/>
          <p:cNvSpPr/>
          <p:nvPr/>
        </p:nvSpPr>
        <p:spPr>
          <a:xfrm>
            <a:off x="812750" y="6238249"/>
            <a:ext cx="10883342" cy="238732"/>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A52"/>
                </a:solidFill>
                <a:latin typeface="DM Sans" pitchFamily="34" charset="0"/>
                <a:ea typeface="DM Sans" pitchFamily="34" charset="-122"/>
                <a:cs typeface="DM Sans" pitchFamily="34" charset="-120"/>
              </a:rPr>
              <a:t>Source: Concordia University open meter data (CC BY 4.0) — 6 real meters, placebo months in Mar 2019–Feb 2020</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5EE"/>
        </a:solidFill>
      </p:bgPr>
    </p:bg>
    <p:spTree>
      <p:nvGrpSpPr>
        <p:cNvPr id="1" name=""/>
        <p:cNvGrpSpPr/>
        <p:nvPr/>
      </p:nvGrpSpPr>
      <p:grpSpPr>
        <a:xfrm>
          <a:off x="0" y="0"/>
          <a:ext cx="0" cy="0"/>
          <a:chOff x="0" y="0"/>
          <a:chExt cx="0" cy="0"/>
        </a:xfrm>
      </p:grpSpPr>
      <p:sp>
        <p:nvSpPr>
          <p:cNvPr id="2" name="Text 0"/>
          <p:cNvSpPr/>
          <p:nvPr/>
        </p:nvSpPr>
        <p:spPr>
          <a:xfrm>
            <a:off x="812750" y="812749"/>
            <a:ext cx="10883467" cy="274357"/>
          </a:xfrm>
          <a:prstGeom prst="rect">
            <a:avLst/>
          </a:prstGeom>
          <a:noFill/>
          <a:ln/>
        </p:spPr>
        <p:txBody>
          <a:bodyPr wrap="square" lIns="0" tIns="0" rIns="0" bIns="0" rtlCol="0" anchor="t">
            <a:normAutofit/>
          </a:bodyPr>
          <a:lstStyle/>
          <a:p>
            <a:pPr algn="l" indent="0" marL="0">
              <a:lnSpc>
                <a:spcPts val="1960"/>
              </a:lnSpc>
              <a:buNone/>
            </a:pPr>
            <a:r>
              <a:rPr lang="en-US" sz="1400" b="1" spc="200" kern="0" dirty="0">
                <a:solidFill>
                  <a:srgbClr val="9A6B1F"/>
                </a:solidFill>
                <a:latin typeface="DM Sans" pitchFamily="34" charset="0"/>
                <a:ea typeface="DM Sans" pitchFamily="34" charset="-122"/>
                <a:cs typeface="DM Sans" pitchFamily="34" charset="-120"/>
              </a:rPr>
              <a:t>02 · PROPOSED SYSTEM</a:t>
            </a:r>
            <a:endParaRPr lang="en-US" sz="1400" dirty="0"/>
          </a:p>
        </p:txBody>
      </p:sp>
      <p:sp>
        <p:nvSpPr>
          <p:cNvPr id="3" name="Text 1"/>
          <p:cNvSpPr/>
          <p:nvPr>
            <p:ph type="title"/>
          </p:nvPr>
        </p:nvSpPr>
        <p:spPr>
          <a:xfrm>
            <a:off x="812750" y="1163270"/>
            <a:ext cx="10883467" cy="528327"/>
          </a:xfrm>
          <a:prstGeom prst="rect">
            <a:avLst/>
          </a:prstGeom>
          <a:noFill/>
          <a:ln/>
        </p:spPr>
        <p:txBody>
          <a:bodyPr wrap="square" lIns="0" tIns="0" rIns="0" bIns="0" rtlCol="0" anchor="t">
            <a:normAutofit/>
          </a:bodyPr>
          <a:lstStyle/>
          <a:p>
            <a:pPr algn="l" indent="0" marL="0">
              <a:lnSpc>
                <a:spcPts val="3960"/>
              </a:lnSpc>
              <a:buNone/>
            </a:pPr>
            <a:r>
              <a:rPr lang="en-US" sz="3600" b="1" i="0" spc="-50" kern="0" dirty="0">
                <a:solidFill>
                  <a:srgbClr val="1E3F33"/>
                </a:solidFill>
                <a:latin typeface="Manrope" pitchFamily="34" charset="0"/>
                <a:ea typeface="Manrope" pitchFamily="34" charset="-122"/>
                <a:cs typeface="Manrope" pitchFamily="34" charset="-120"/>
              </a:rPr>
              <a:t>One ledger that sees, acts — and proves</a:t>
            </a:r>
            <a:endParaRPr lang="en-US" sz="3600" dirty="0"/>
          </a:p>
        </p:txBody>
      </p:sp>
      <p:sp>
        <p:nvSpPr>
          <p:cNvPr id="4" name="Shape 2"/>
          <p:cNvSpPr/>
          <p:nvPr/>
        </p:nvSpPr>
        <p:spPr>
          <a:xfrm>
            <a:off x="815925" y="2075748"/>
            <a:ext cx="3382926" cy="3966282"/>
          </a:xfrm>
          <a:prstGeom prst="roundRect">
            <a:avLst>
              <a:gd name="adj" fmla="val 4411"/>
            </a:avLst>
          </a:prstGeom>
          <a:solidFill>
            <a:srgbClr val="FFFDF7"/>
          </a:solidFill>
          <a:ln w="6350">
            <a:solidFill>
              <a:srgbClr val="D9DECF"/>
            </a:solidFill>
            <a:prstDash val="solid"/>
          </a:ln>
        </p:spPr>
      </p:sp>
      <p:pic>
        <p:nvPicPr>
          <p:cNvPr id="5" name="Image 0" descr="Search">    </p:cNvPr>
          <p:cNvPicPr>
            <a:picLocks noChangeAspect="1"/>
          </p:cNvPicPr>
          <p:nvPr/>
        </p:nvPicPr>
        <p:blipFill>
          <a:blip r:embed="rId1"/>
          <a:srcRect l="0" r="0" t="0" b="0"/>
          <a:stretch/>
        </p:blipFill>
        <p:spPr>
          <a:xfrm>
            <a:off x="1121365" y="2381188"/>
            <a:ext cx="406375" cy="406375"/>
          </a:xfrm>
          <a:prstGeom prst="rect">
            <a:avLst/>
          </a:prstGeom>
        </p:spPr>
      </p:pic>
      <p:sp>
        <p:nvSpPr>
          <p:cNvPr id="6" name="Text 3"/>
          <p:cNvSpPr/>
          <p:nvPr/>
        </p:nvSpPr>
        <p:spPr>
          <a:xfrm>
            <a:off x="1121365" y="2914548"/>
            <a:ext cx="2855206" cy="391137"/>
          </a:xfrm>
          <a:prstGeom prst="rect">
            <a:avLst/>
          </a:prstGeom>
          <a:noFill/>
          <a:ln/>
        </p:spPr>
        <p:txBody>
          <a:bodyPr wrap="square" lIns="0" tIns="0" rIns="0" bIns="0" rtlCol="0" anchor="t">
            <a:normAutofit/>
          </a:bodyPr>
          <a:lstStyle/>
          <a:p>
            <a:pPr algn="l" indent="0" marL="0">
              <a:lnSpc>
                <a:spcPts val="2880"/>
              </a:lnSpc>
              <a:buNone/>
            </a:pPr>
            <a:r>
              <a:rPr lang="en-US" sz="2400" b="1" dirty="0">
                <a:solidFill>
                  <a:srgbClr val="1E3F33"/>
                </a:solidFill>
                <a:latin typeface="Manrope" pitchFamily="34" charset="0"/>
                <a:ea typeface="Manrope" pitchFamily="34" charset="-122"/>
                <a:cs typeface="Manrope" pitchFamily="34" charset="-120"/>
              </a:rPr>
              <a:t>See</a:t>
            </a:r>
            <a:endParaRPr lang="en-US" sz="2400" dirty="0"/>
          </a:p>
        </p:txBody>
      </p:sp>
      <p:sp>
        <p:nvSpPr>
          <p:cNvPr id="7" name="Text 4"/>
          <p:cNvSpPr/>
          <p:nvPr/>
        </p:nvSpPr>
        <p:spPr>
          <a:xfrm>
            <a:off x="1121365" y="3407270"/>
            <a:ext cx="2855206" cy="1130160"/>
          </a:xfrm>
          <a:prstGeom prst="rect">
            <a:avLst/>
          </a:prstGeom>
          <a:noFill/>
          <a:ln/>
        </p:spPr>
        <p:txBody>
          <a:bodyPr wrap="square" lIns="0" tIns="0" rIns="0" bIns="0" rtlCol="0" anchor="t">
            <a:normAutofit/>
          </a:bodyPr>
          <a:lstStyle/>
          <a:p>
            <a:pPr algn="l" indent="0" marL="0">
              <a:lnSpc>
                <a:spcPts val="2175"/>
              </a:lnSpc>
              <a:buNone/>
            </a:pPr>
            <a:r>
              <a:rPr lang="en-US" sz="1500" dirty="0">
                <a:solidFill>
                  <a:srgbClr val="4A5A52"/>
                </a:solidFill>
                <a:latin typeface="DM Sans" pitchFamily="34" charset="0"/>
                <a:ea typeface="DM Sans" pitchFamily="34" charset="-122"/>
                <a:cs typeface="DM Sans" pitchFamily="34" charset="-120"/>
              </a:rPr>
              <a:t>Electricity, water, waste, e-waste and carbon in one dashboard — by department, on our campus map.</a:t>
            </a:r>
            <a:endParaRPr lang="en-US" sz="1500" dirty="0"/>
          </a:p>
        </p:txBody>
      </p:sp>
      <p:sp>
        <p:nvSpPr>
          <p:cNvPr id="8" name="Shape 5"/>
          <p:cNvSpPr/>
          <p:nvPr/>
        </p:nvSpPr>
        <p:spPr>
          <a:xfrm>
            <a:off x="4408388" y="2075748"/>
            <a:ext cx="3382926" cy="3966282"/>
          </a:xfrm>
          <a:prstGeom prst="roundRect">
            <a:avLst>
              <a:gd name="adj" fmla="val 4411"/>
            </a:avLst>
          </a:prstGeom>
          <a:solidFill>
            <a:srgbClr val="FFFDF7"/>
          </a:solidFill>
          <a:ln w="6350">
            <a:solidFill>
              <a:srgbClr val="D9DECF"/>
            </a:solidFill>
            <a:prstDash val="solid"/>
          </a:ln>
        </p:spPr>
      </p:sp>
      <p:pic>
        <p:nvPicPr>
          <p:cNvPr id="9" name="Image 1" descr="Lightning">    </p:cNvPr>
          <p:cNvPicPr>
            <a:picLocks noChangeAspect="1"/>
          </p:cNvPicPr>
          <p:nvPr/>
        </p:nvPicPr>
        <p:blipFill>
          <a:blip r:embed="rId2"/>
          <a:srcRect l="0" r="0" t="0" b="0"/>
          <a:stretch/>
        </p:blipFill>
        <p:spPr>
          <a:xfrm>
            <a:off x="4713829" y="2381188"/>
            <a:ext cx="406375" cy="406375"/>
          </a:xfrm>
          <a:prstGeom prst="rect">
            <a:avLst/>
          </a:prstGeom>
        </p:spPr>
      </p:pic>
      <p:sp>
        <p:nvSpPr>
          <p:cNvPr id="10" name="Text 6"/>
          <p:cNvSpPr/>
          <p:nvPr/>
        </p:nvSpPr>
        <p:spPr>
          <a:xfrm>
            <a:off x="4713829" y="2914548"/>
            <a:ext cx="2855206" cy="391137"/>
          </a:xfrm>
          <a:prstGeom prst="rect">
            <a:avLst/>
          </a:prstGeom>
          <a:noFill/>
          <a:ln/>
        </p:spPr>
        <p:txBody>
          <a:bodyPr wrap="square" lIns="0" tIns="0" rIns="0" bIns="0" rtlCol="0" anchor="t">
            <a:normAutofit/>
          </a:bodyPr>
          <a:lstStyle/>
          <a:p>
            <a:pPr algn="l" indent="0" marL="0">
              <a:lnSpc>
                <a:spcPts val="2880"/>
              </a:lnSpc>
              <a:buNone/>
            </a:pPr>
            <a:r>
              <a:rPr lang="en-US" sz="2400" b="1" dirty="0">
                <a:solidFill>
                  <a:srgbClr val="1E3F33"/>
                </a:solidFill>
                <a:latin typeface="Manrope" pitchFamily="34" charset="0"/>
                <a:ea typeface="Manrope" pitchFamily="34" charset="-122"/>
                <a:cs typeface="Manrope" pitchFamily="34" charset="-120"/>
              </a:rPr>
              <a:t>Act</a:t>
            </a:r>
            <a:endParaRPr lang="en-US" sz="2400" dirty="0"/>
          </a:p>
        </p:txBody>
      </p:sp>
      <p:sp>
        <p:nvSpPr>
          <p:cNvPr id="11" name="Text 7"/>
          <p:cNvSpPr/>
          <p:nvPr/>
        </p:nvSpPr>
        <p:spPr>
          <a:xfrm>
            <a:off x="4713829" y="3407270"/>
            <a:ext cx="2855206" cy="1130160"/>
          </a:xfrm>
          <a:prstGeom prst="rect">
            <a:avLst/>
          </a:prstGeom>
          <a:noFill/>
          <a:ln/>
        </p:spPr>
        <p:txBody>
          <a:bodyPr wrap="square" lIns="0" tIns="0" rIns="0" bIns="0" rtlCol="0" anchor="t">
            <a:normAutofit/>
          </a:bodyPr>
          <a:lstStyle/>
          <a:p>
            <a:pPr algn="l" indent="0" marL="0">
              <a:lnSpc>
                <a:spcPts val="2175"/>
              </a:lnSpc>
              <a:buNone/>
            </a:pPr>
            <a:r>
              <a:rPr lang="en-US" sz="1500" dirty="0">
                <a:solidFill>
                  <a:srgbClr val="4A5A52"/>
                </a:solidFill>
                <a:latin typeface="DM Sans" pitchFamily="34" charset="0"/>
                <a:ea typeface="DM Sans" pitchFamily="34" charset="-122"/>
                <a:cs typeface="DM Sans" pitchFamily="34" charset="-120"/>
              </a:rPr>
              <a:t>Recommendations sized from each building’s data, live room control from a camera and live weather, e-waste routing.</a:t>
            </a:r>
            <a:endParaRPr lang="en-US" sz="1500" dirty="0"/>
          </a:p>
        </p:txBody>
      </p:sp>
      <p:sp>
        <p:nvSpPr>
          <p:cNvPr id="12" name="Shape 8"/>
          <p:cNvSpPr/>
          <p:nvPr/>
        </p:nvSpPr>
        <p:spPr>
          <a:xfrm>
            <a:off x="7997676" y="2072573"/>
            <a:ext cx="3381547" cy="3972632"/>
          </a:xfrm>
          <a:prstGeom prst="roundRect">
            <a:avLst>
              <a:gd name="adj" fmla="val 4507"/>
            </a:avLst>
          </a:prstGeom>
          <a:solidFill>
            <a:srgbClr val="1E3F33"/>
          </a:solidFill>
          <a:ln/>
        </p:spPr>
      </p:sp>
      <p:pic>
        <p:nvPicPr>
          <p:cNvPr id="13" name="Image 2" descr="Verified">    </p:cNvPr>
          <p:cNvPicPr>
            <a:picLocks noChangeAspect="1"/>
          </p:cNvPicPr>
          <p:nvPr/>
        </p:nvPicPr>
        <p:blipFill>
          <a:blip r:embed="rId3"/>
          <a:srcRect l="0" r="0" t="0" b="0"/>
          <a:stretch/>
        </p:blipFill>
        <p:spPr>
          <a:xfrm>
            <a:off x="8302427" y="2377323"/>
            <a:ext cx="406375" cy="406375"/>
          </a:xfrm>
          <a:prstGeom prst="rect">
            <a:avLst/>
          </a:prstGeom>
        </p:spPr>
      </p:pic>
      <p:sp>
        <p:nvSpPr>
          <p:cNvPr id="14" name="Text 9"/>
          <p:cNvSpPr/>
          <p:nvPr/>
        </p:nvSpPr>
        <p:spPr>
          <a:xfrm>
            <a:off x="8302427" y="2910683"/>
            <a:ext cx="2855206" cy="391137"/>
          </a:xfrm>
          <a:prstGeom prst="rect">
            <a:avLst/>
          </a:prstGeom>
          <a:noFill/>
          <a:ln/>
        </p:spPr>
        <p:txBody>
          <a:bodyPr wrap="square" lIns="0" tIns="0" rIns="0" bIns="0" rtlCol="0" anchor="t">
            <a:normAutofit/>
          </a:bodyPr>
          <a:lstStyle/>
          <a:p>
            <a:pPr algn="l" indent="0" marL="0">
              <a:lnSpc>
                <a:spcPts val="2880"/>
              </a:lnSpc>
              <a:buNone/>
            </a:pPr>
            <a:r>
              <a:rPr lang="en-US" sz="2400" b="1" dirty="0">
                <a:solidFill>
                  <a:srgbClr val="CDE46A"/>
                </a:solidFill>
                <a:latin typeface="Manrope" pitchFamily="34" charset="0"/>
                <a:ea typeface="Manrope" pitchFamily="34" charset="-122"/>
                <a:cs typeface="Manrope" pitchFamily="34" charset="-120"/>
              </a:rPr>
              <a:t>Prove</a:t>
            </a:r>
            <a:endParaRPr lang="en-US" sz="2400" dirty="0"/>
          </a:p>
        </p:txBody>
      </p:sp>
      <p:sp>
        <p:nvSpPr>
          <p:cNvPr id="15" name="Text 10"/>
          <p:cNvSpPr/>
          <p:nvPr/>
        </p:nvSpPr>
        <p:spPr>
          <a:xfrm>
            <a:off x="8302427" y="3403405"/>
            <a:ext cx="2855206" cy="1130160"/>
          </a:xfrm>
          <a:prstGeom prst="rect">
            <a:avLst/>
          </a:prstGeom>
          <a:noFill/>
          <a:ln/>
        </p:spPr>
        <p:txBody>
          <a:bodyPr wrap="square" lIns="0" tIns="0" rIns="0" bIns="0" rtlCol="0" anchor="t">
            <a:normAutofit/>
          </a:bodyPr>
          <a:lstStyle/>
          <a:p>
            <a:pPr algn="l" indent="0" marL="0">
              <a:lnSpc>
                <a:spcPts val="2175"/>
              </a:lnSpc>
              <a:buNone/>
            </a:pPr>
            <a:r>
              <a:rPr lang="en-US" sz="1500" dirty="0">
                <a:solidFill>
                  <a:srgbClr val="E4EDE6"/>
                </a:solidFill>
                <a:latin typeface="DM Sans" pitchFamily="34" charset="0"/>
                <a:ea typeface="DM Sans" pitchFamily="34" charset="-122"/>
                <a:cs typeface="DM Sans" pitchFamily="34" charset="-120"/>
              </a:rPr>
              <a:t>A ghost twin + placebo test checks every action. Only the low end of a proven saving is counted.</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5EE"/>
        </a:solidFill>
      </p:bgPr>
    </p:bg>
    <p:spTree>
      <p:nvGrpSpPr>
        <p:cNvPr id="1" name=""/>
        <p:cNvGrpSpPr/>
        <p:nvPr/>
      </p:nvGrpSpPr>
      <p:grpSpPr>
        <a:xfrm>
          <a:off x="0" y="0"/>
          <a:ext cx="0" cy="0"/>
          <a:chOff x="0" y="0"/>
          <a:chExt cx="0" cy="0"/>
        </a:xfrm>
      </p:grpSpPr>
      <p:sp>
        <p:nvSpPr>
          <p:cNvPr id="2" name="Text 0"/>
          <p:cNvSpPr/>
          <p:nvPr/>
        </p:nvSpPr>
        <p:spPr>
          <a:xfrm>
            <a:off x="812750" y="812750"/>
            <a:ext cx="10883467" cy="274357"/>
          </a:xfrm>
          <a:prstGeom prst="rect">
            <a:avLst/>
          </a:prstGeom>
          <a:noFill/>
          <a:ln/>
        </p:spPr>
        <p:txBody>
          <a:bodyPr wrap="square" lIns="0" tIns="0" rIns="0" bIns="0" rtlCol="0" anchor="t">
            <a:normAutofit/>
          </a:bodyPr>
          <a:lstStyle/>
          <a:p>
            <a:pPr algn="l" indent="0" marL="0">
              <a:lnSpc>
                <a:spcPts val="1960"/>
              </a:lnSpc>
              <a:buNone/>
            </a:pPr>
            <a:r>
              <a:rPr lang="en-US" sz="1400" b="1" spc="200" kern="0" dirty="0">
                <a:solidFill>
                  <a:srgbClr val="9A6B1F"/>
                </a:solidFill>
                <a:latin typeface="DM Sans" pitchFamily="34" charset="0"/>
                <a:ea typeface="DM Sans" pitchFamily="34" charset="-122"/>
                <a:cs typeface="DM Sans" pitchFamily="34" charset="-120"/>
              </a:rPr>
              <a:t>02 · PROPOSED SYSTEM</a:t>
            </a:r>
            <a:endParaRPr lang="en-US" sz="1400" dirty="0"/>
          </a:p>
        </p:txBody>
      </p:sp>
      <p:sp>
        <p:nvSpPr>
          <p:cNvPr id="3" name="Text 1"/>
          <p:cNvSpPr/>
          <p:nvPr>
            <p:ph type="title"/>
          </p:nvPr>
        </p:nvSpPr>
        <p:spPr>
          <a:xfrm>
            <a:off x="812750" y="1163272"/>
            <a:ext cx="10883467" cy="472412"/>
          </a:xfrm>
          <a:prstGeom prst="rect">
            <a:avLst/>
          </a:prstGeom>
          <a:noFill/>
          <a:ln/>
        </p:spPr>
        <p:txBody>
          <a:bodyPr wrap="square" lIns="0" tIns="0" rIns="0" bIns="0" rtlCol="0" anchor="t">
            <a:normAutofit/>
          </a:bodyPr>
          <a:lstStyle/>
          <a:p>
            <a:pPr algn="l" indent="0" marL="0">
              <a:lnSpc>
                <a:spcPts val="3520"/>
              </a:lnSpc>
              <a:buNone/>
            </a:pPr>
            <a:r>
              <a:rPr lang="en-US" sz="3200" b="1" i="0" spc="-50" kern="0" dirty="0">
                <a:solidFill>
                  <a:srgbClr val="1E3F33"/>
                </a:solidFill>
                <a:latin typeface="Manrope" pitchFamily="34" charset="0"/>
                <a:ea typeface="Manrope" pitchFamily="34" charset="-122"/>
                <a:cs typeface="Manrope" pitchFamily="34" charset="-120"/>
              </a:rPr>
              <a:t>How GreenLedger works — five steps</a:t>
            </a:r>
            <a:endParaRPr lang="en-US" sz="3200" dirty="0"/>
          </a:p>
        </p:txBody>
      </p:sp>
      <p:sp>
        <p:nvSpPr>
          <p:cNvPr id="4" name="Shape 2"/>
          <p:cNvSpPr/>
          <p:nvPr/>
        </p:nvSpPr>
        <p:spPr>
          <a:xfrm>
            <a:off x="815925" y="1918208"/>
            <a:ext cx="1742813" cy="3920572"/>
          </a:xfrm>
          <a:prstGeom prst="roundRect">
            <a:avLst>
              <a:gd name="adj" fmla="val 7105"/>
            </a:avLst>
          </a:prstGeom>
          <a:solidFill>
            <a:srgbClr val="FFFDF7"/>
          </a:solidFill>
          <a:ln w="6350">
            <a:solidFill>
              <a:srgbClr val="D9DECF"/>
            </a:solidFill>
            <a:prstDash val="solid"/>
          </a:ln>
        </p:spPr>
      </p:sp>
      <p:sp>
        <p:nvSpPr>
          <p:cNvPr id="5" name="Text 3"/>
          <p:cNvSpPr/>
          <p:nvPr/>
        </p:nvSpPr>
        <p:spPr>
          <a:xfrm>
            <a:off x="1019802" y="2122088"/>
            <a:ext cx="1385859" cy="416498"/>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9A6B1F"/>
                </a:solidFill>
                <a:latin typeface="Manrope" pitchFamily="34" charset="0"/>
                <a:ea typeface="Manrope" pitchFamily="34" charset="-122"/>
                <a:cs typeface="Manrope" pitchFamily="34" charset="-120"/>
              </a:rPr>
              <a:t>1</a:t>
            </a:r>
            <a:endParaRPr lang="en-US" sz="2200" dirty="0"/>
          </a:p>
        </p:txBody>
      </p:sp>
      <p:sp>
        <p:nvSpPr>
          <p:cNvPr id="6" name="Text 4"/>
          <p:cNvSpPr/>
          <p:nvPr/>
        </p:nvSpPr>
        <p:spPr>
          <a:xfrm>
            <a:off x="1019802" y="2589327"/>
            <a:ext cx="1385859" cy="269225"/>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E3F33"/>
                </a:solidFill>
                <a:latin typeface="DM Sans" pitchFamily="34" charset="0"/>
                <a:ea typeface="DM Sans" pitchFamily="34" charset="-122"/>
                <a:cs typeface="DM Sans" pitchFamily="34" charset="-120"/>
              </a:rPr>
              <a:t>Collect</a:t>
            </a:r>
            <a:endParaRPr lang="en-US" sz="1600" dirty="0"/>
          </a:p>
        </p:txBody>
      </p:sp>
      <p:sp>
        <p:nvSpPr>
          <p:cNvPr id="7" name="Text 5"/>
          <p:cNvSpPr/>
          <p:nvPr/>
        </p:nvSpPr>
        <p:spPr>
          <a:xfrm>
            <a:off x="1019802" y="2909295"/>
            <a:ext cx="1385859" cy="113010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4A5A52"/>
                </a:solidFill>
                <a:latin typeface="DM Sans" pitchFamily="34" charset="0"/>
                <a:ea typeface="DM Sans" pitchFamily="34" charset="-122"/>
                <a:cs typeface="DM Sans" pitchFamily="34" charset="-120"/>
              </a:rPr>
              <a:t>Meter readings and bills, waste logs, device lists, a room camera, live weather.</a:t>
            </a:r>
            <a:endParaRPr lang="en-US" sz="1200" dirty="0"/>
          </a:p>
        </p:txBody>
      </p:sp>
      <p:pic>
        <p:nvPicPr>
          <p:cNvPr id="8" name="Image 0" descr="arrow-right">    </p:cNvPr>
          <p:cNvPicPr>
            <a:picLocks noChangeAspect="1"/>
          </p:cNvPicPr>
          <p:nvPr/>
        </p:nvPicPr>
        <p:blipFill>
          <a:blip r:embed="rId1"/>
          <a:srcRect l="-12" r="-12" t="0" b="0"/>
          <a:stretch/>
        </p:blipFill>
        <p:spPr>
          <a:xfrm>
            <a:off x="2663477" y="3802292"/>
            <a:ext cx="253969" cy="152345"/>
          </a:xfrm>
          <a:prstGeom prst="rect">
            <a:avLst/>
          </a:prstGeom>
        </p:spPr>
      </p:pic>
      <p:sp>
        <p:nvSpPr>
          <p:cNvPr id="9" name="Shape 6"/>
          <p:cNvSpPr/>
          <p:nvPr/>
        </p:nvSpPr>
        <p:spPr>
          <a:xfrm>
            <a:off x="3022185" y="1918208"/>
            <a:ext cx="1742813" cy="3920572"/>
          </a:xfrm>
          <a:prstGeom prst="roundRect">
            <a:avLst>
              <a:gd name="adj" fmla="val 7105"/>
            </a:avLst>
          </a:prstGeom>
          <a:solidFill>
            <a:srgbClr val="FFFDF7"/>
          </a:solidFill>
          <a:ln w="6350">
            <a:solidFill>
              <a:srgbClr val="D9DECF"/>
            </a:solidFill>
            <a:prstDash val="solid"/>
          </a:ln>
        </p:spPr>
      </p:sp>
      <p:sp>
        <p:nvSpPr>
          <p:cNvPr id="10" name="Text 7"/>
          <p:cNvSpPr/>
          <p:nvPr/>
        </p:nvSpPr>
        <p:spPr>
          <a:xfrm>
            <a:off x="3226061" y="2122088"/>
            <a:ext cx="1385859" cy="416498"/>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9A6B1F"/>
                </a:solidFill>
                <a:latin typeface="Manrope" pitchFamily="34" charset="0"/>
                <a:ea typeface="Manrope" pitchFamily="34" charset="-122"/>
                <a:cs typeface="Manrope" pitchFamily="34" charset="-120"/>
              </a:rPr>
              <a:t>2</a:t>
            </a:r>
            <a:endParaRPr lang="en-US" sz="2200" dirty="0"/>
          </a:p>
        </p:txBody>
      </p:sp>
      <p:sp>
        <p:nvSpPr>
          <p:cNvPr id="11" name="Text 8"/>
          <p:cNvSpPr/>
          <p:nvPr/>
        </p:nvSpPr>
        <p:spPr>
          <a:xfrm>
            <a:off x="3226061" y="2589327"/>
            <a:ext cx="1385859" cy="269225"/>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E3F33"/>
                </a:solidFill>
                <a:latin typeface="DM Sans" pitchFamily="34" charset="0"/>
                <a:ea typeface="DM Sans" pitchFamily="34" charset="-122"/>
                <a:cs typeface="DM Sans" pitchFamily="34" charset="-120"/>
              </a:rPr>
              <a:t>Clean</a:t>
            </a:r>
            <a:endParaRPr lang="en-US" sz="1600" dirty="0"/>
          </a:p>
        </p:txBody>
      </p:sp>
      <p:sp>
        <p:nvSpPr>
          <p:cNvPr id="12" name="Text 9"/>
          <p:cNvSpPr/>
          <p:nvPr/>
        </p:nvSpPr>
        <p:spPr>
          <a:xfrm>
            <a:off x="3226061" y="2909295"/>
            <a:ext cx="1385859" cy="113010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4A5A52"/>
                </a:solidFill>
                <a:latin typeface="DM Sans" pitchFamily="34" charset="0"/>
                <a:ea typeface="DM Sans" pitchFamily="34" charset="-122"/>
                <a:cs typeface="DM Sans" pitchFamily="34" charset="-120"/>
              </a:rPr>
              <a:t>Removes impossible jumps, stuck meters and half-recorded days.</a:t>
            </a:r>
            <a:endParaRPr lang="en-US" sz="1200" dirty="0"/>
          </a:p>
        </p:txBody>
      </p:sp>
      <p:pic>
        <p:nvPicPr>
          <p:cNvPr id="13" name="Image 1" descr="arrow-right">    </p:cNvPr>
          <p:cNvPicPr>
            <a:picLocks noChangeAspect="1"/>
          </p:cNvPicPr>
          <p:nvPr/>
        </p:nvPicPr>
        <p:blipFill>
          <a:blip r:embed="rId2"/>
          <a:srcRect l="-12" r="-12" t="0" b="0"/>
          <a:stretch/>
        </p:blipFill>
        <p:spPr>
          <a:xfrm>
            <a:off x="4869736" y="3802292"/>
            <a:ext cx="253969" cy="152345"/>
          </a:xfrm>
          <a:prstGeom prst="rect">
            <a:avLst/>
          </a:prstGeom>
        </p:spPr>
      </p:pic>
      <p:sp>
        <p:nvSpPr>
          <p:cNvPr id="14" name="Shape 10"/>
          <p:cNvSpPr/>
          <p:nvPr/>
        </p:nvSpPr>
        <p:spPr>
          <a:xfrm>
            <a:off x="5228444" y="1918208"/>
            <a:ext cx="1742813" cy="3920572"/>
          </a:xfrm>
          <a:prstGeom prst="roundRect">
            <a:avLst>
              <a:gd name="adj" fmla="val 7105"/>
            </a:avLst>
          </a:prstGeom>
          <a:solidFill>
            <a:srgbClr val="FFFDF7"/>
          </a:solidFill>
          <a:ln w="6350">
            <a:solidFill>
              <a:srgbClr val="D9DECF"/>
            </a:solidFill>
            <a:prstDash val="solid"/>
          </a:ln>
        </p:spPr>
      </p:sp>
      <p:sp>
        <p:nvSpPr>
          <p:cNvPr id="15" name="Text 11"/>
          <p:cNvSpPr/>
          <p:nvPr/>
        </p:nvSpPr>
        <p:spPr>
          <a:xfrm>
            <a:off x="5432321" y="2122088"/>
            <a:ext cx="1385859" cy="416498"/>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9A6B1F"/>
                </a:solidFill>
                <a:latin typeface="Manrope" pitchFamily="34" charset="0"/>
                <a:ea typeface="Manrope" pitchFamily="34" charset="-122"/>
                <a:cs typeface="Manrope" pitchFamily="34" charset="-120"/>
              </a:rPr>
              <a:t>3</a:t>
            </a:r>
            <a:endParaRPr lang="en-US" sz="2200" dirty="0"/>
          </a:p>
        </p:txBody>
      </p:sp>
      <p:sp>
        <p:nvSpPr>
          <p:cNvPr id="16" name="Text 12"/>
          <p:cNvSpPr/>
          <p:nvPr/>
        </p:nvSpPr>
        <p:spPr>
          <a:xfrm>
            <a:off x="5432321" y="2589327"/>
            <a:ext cx="1535761" cy="269225"/>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E3F33"/>
                </a:solidFill>
                <a:latin typeface="DM Sans" pitchFamily="34" charset="0"/>
                <a:ea typeface="DM Sans" pitchFamily="34" charset="-122"/>
                <a:cs typeface="DM Sans" pitchFamily="34" charset="-120"/>
              </a:rPr>
              <a:t>Learn normal</a:t>
            </a:r>
            <a:endParaRPr lang="en-US" sz="1600" dirty="0"/>
          </a:p>
        </p:txBody>
      </p:sp>
      <p:sp>
        <p:nvSpPr>
          <p:cNvPr id="17" name="Text 13"/>
          <p:cNvSpPr/>
          <p:nvPr/>
        </p:nvSpPr>
        <p:spPr>
          <a:xfrm>
            <a:off x="5432321" y="2909295"/>
            <a:ext cx="1385859" cy="113010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4A5A52"/>
                </a:solidFill>
                <a:latin typeface="DM Sans" pitchFamily="34" charset="0"/>
                <a:ea typeface="DM Sans" pitchFamily="34" charset="-122"/>
                <a:cs typeface="DM Sans" pitchFamily="34" charset="-120"/>
              </a:rPr>
              <a:t>A “ghost twin” of each building learns its normal use from weather and the calendar.</a:t>
            </a:r>
            <a:endParaRPr lang="en-US" sz="1200" dirty="0"/>
          </a:p>
        </p:txBody>
      </p:sp>
      <p:pic>
        <p:nvPicPr>
          <p:cNvPr id="18" name="Image 2" descr="arrow-right">    </p:cNvPr>
          <p:cNvPicPr>
            <a:picLocks noChangeAspect="1"/>
          </p:cNvPicPr>
          <p:nvPr/>
        </p:nvPicPr>
        <p:blipFill>
          <a:blip r:embed="rId3"/>
          <a:srcRect l="-12" r="-12" t="0" b="0"/>
          <a:stretch/>
        </p:blipFill>
        <p:spPr>
          <a:xfrm>
            <a:off x="7075996" y="3802292"/>
            <a:ext cx="253969" cy="152345"/>
          </a:xfrm>
          <a:prstGeom prst="rect">
            <a:avLst/>
          </a:prstGeom>
        </p:spPr>
      </p:pic>
      <p:sp>
        <p:nvSpPr>
          <p:cNvPr id="19" name="Shape 14"/>
          <p:cNvSpPr/>
          <p:nvPr/>
        </p:nvSpPr>
        <p:spPr>
          <a:xfrm>
            <a:off x="7434704" y="1918208"/>
            <a:ext cx="1742813" cy="3920572"/>
          </a:xfrm>
          <a:prstGeom prst="roundRect">
            <a:avLst>
              <a:gd name="adj" fmla="val 7105"/>
            </a:avLst>
          </a:prstGeom>
          <a:solidFill>
            <a:srgbClr val="FFFDF7"/>
          </a:solidFill>
          <a:ln w="6350">
            <a:solidFill>
              <a:srgbClr val="D9DECF"/>
            </a:solidFill>
            <a:prstDash val="solid"/>
          </a:ln>
        </p:spPr>
      </p:sp>
      <p:sp>
        <p:nvSpPr>
          <p:cNvPr id="20" name="Text 15"/>
          <p:cNvSpPr/>
          <p:nvPr/>
        </p:nvSpPr>
        <p:spPr>
          <a:xfrm>
            <a:off x="7638581" y="2122088"/>
            <a:ext cx="1385859" cy="416498"/>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9A6B1F"/>
                </a:solidFill>
                <a:latin typeface="Manrope" pitchFamily="34" charset="0"/>
                <a:ea typeface="Manrope" pitchFamily="34" charset="-122"/>
                <a:cs typeface="Manrope" pitchFamily="34" charset="-120"/>
              </a:rPr>
              <a:t>4</a:t>
            </a:r>
            <a:endParaRPr lang="en-US" sz="2200" dirty="0"/>
          </a:p>
        </p:txBody>
      </p:sp>
      <p:sp>
        <p:nvSpPr>
          <p:cNvPr id="21" name="Text 16"/>
          <p:cNvSpPr/>
          <p:nvPr/>
        </p:nvSpPr>
        <p:spPr>
          <a:xfrm>
            <a:off x="7638581" y="2589327"/>
            <a:ext cx="1385859" cy="269225"/>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E3F33"/>
                </a:solidFill>
                <a:latin typeface="DM Sans" pitchFamily="34" charset="0"/>
                <a:ea typeface="DM Sans" pitchFamily="34" charset="-122"/>
                <a:cs typeface="DM Sans" pitchFamily="34" charset="-120"/>
              </a:rPr>
              <a:t>Prove</a:t>
            </a:r>
            <a:endParaRPr lang="en-US" sz="1600" dirty="0"/>
          </a:p>
        </p:txBody>
      </p:sp>
      <p:sp>
        <p:nvSpPr>
          <p:cNvPr id="22" name="Text 17"/>
          <p:cNvSpPr/>
          <p:nvPr/>
        </p:nvSpPr>
        <p:spPr>
          <a:xfrm>
            <a:off x="7638581" y="2909295"/>
            <a:ext cx="1385859" cy="113010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4A5A52"/>
                </a:solidFill>
                <a:latin typeface="DM Sans" pitchFamily="34" charset="0"/>
                <a:ea typeface="DM Sans" pitchFamily="34" charset="-122"/>
                <a:cs typeface="DM Sans" pitchFamily="34" charset="-120"/>
              </a:rPr>
              <a:t>Each change is tested against normal ups and downs: verified or not proven.</a:t>
            </a:r>
            <a:endParaRPr lang="en-US" sz="1200" dirty="0"/>
          </a:p>
        </p:txBody>
      </p:sp>
      <p:pic>
        <p:nvPicPr>
          <p:cNvPr id="23" name="Image 3" descr="arrow-right">    </p:cNvPr>
          <p:cNvPicPr>
            <a:picLocks noChangeAspect="1"/>
          </p:cNvPicPr>
          <p:nvPr/>
        </p:nvPicPr>
        <p:blipFill>
          <a:blip r:embed="rId4"/>
          <a:srcRect l="-12" r="-12" t="0" b="0"/>
          <a:stretch/>
        </p:blipFill>
        <p:spPr>
          <a:xfrm>
            <a:off x="9282256" y="3802292"/>
            <a:ext cx="253969" cy="152345"/>
          </a:xfrm>
          <a:prstGeom prst="rect">
            <a:avLst/>
          </a:prstGeom>
        </p:spPr>
      </p:pic>
      <p:sp>
        <p:nvSpPr>
          <p:cNvPr id="24" name="Shape 18"/>
          <p:cNvSpPr/>
          <p:nvPr/>
        </p:nvSpPr>
        <p:spPr>
          <a:xfrm>
            <a:off x="9637788" y="1915033"/>
            <a:ext cx="1741434" cy="3926922"/>
          </a:xfrm>
          <a:prstGeom prst="roundRect">
            <a:avLst>
              <a:gd name="adj" fmla="val 7293"/>
            </a:avLst>
          </a:prstGeom>
          <a:solidFill>
            <a:srgbClr val="1E3F33"/>
          </a:solidFill>
          <a:ln/>
        </p:spPr>
      </p:sp>
      <p:sp>
        <p:nvSpPr>
          <p:cNvPr id="25" name="Text 19"/>
          <p:cNvSpPr/>
          <p:nvPr/>
        </p:nvSpPr>
        <p:spPr>
          <a:xfrm>
            <a:off x="9840976" y="2118221"/>
            <a:ext cx="1385859" cy="416498"/>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CDE46A"/>
                </a:solidFill>
                <a:latin typeface="Manrope" pitchFamily="34" charset="0"/>
                <a:ea typeface="Manrope" pitchFamily="34" charset="-122"/>
                <a:cs typeface="Manrope" pitchFamily="34" charset="-120"/>
              </a:rPr>
              <a:t>5</a:t>
            </a:r>
            <a:endParaRPr lang="en-US" sz="2200" dirty="0"/>
          </a:p>
        </p:txBody>
      </p:sp>
      <p:sp>
        <p:nvSpPr>
          <p:cNvPr id="26" name="Text 20"/>
          <p:cNvSpPr/>
          <p:nvPr/>
        </p:nvSpPr>
        <p:spPr>
          <a:xfrm>
            <a:off x="9840976" y="2585464"/>
            <a:ext cx="1385859" cy="269225"/>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CDE46A"/>
                </a:solidFill>
                <a:latin typeface="DM Sans" pitchFamily="34" charset="0"/>
                <a:ea typeface="DM Sans" pitchFamily="34" charset="-122"/>
                <a:cs typeface="DM Sans" pitchFamily="34" charset="-120"/>
              </a:rPr>
              <a:t>Show &amp; act</a:t>
            </a:r>
            <a:endParaRPr lang="en-US" sz="1600" dirty="0"/>
          </a:p>
        </p:txBody>
      </p:sp>
      <p:sp>
        <p:nvSpPr>
          <p:cNvPr id="27" name="Text 21"/>
          <p:cNvSpPr/>
          <p:nvPr/>
        </p:nvSpPr>
        <p:spPr>
          <a:xfrm>
            <a:off x="9840976" y="2905429"/>
            <a:ext cx="1385859" cy="90916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E4EDE6"/>
                </a:solidFill>
                <a:latin typeface="DM Sans" pitchFamily="34" charset="0"/>
                <a:ea typeface="DM Sans" pitchFamily="34" charset="-122"/>
                <a:cs typeface="DM Sans" pitchFamily="34" charset="-120"/>
              </a:rPr>
              <a:t>Dashboard, campus map, live room control, e-waste plan, report.</a:t>
            </a:r>
            <a:endParaRPr lang="en-US" sz="1200" dirty="0"/>
          </a:p>
        </p:txBody>
      </p:sp>
      <p:sp>
        <p:nvSpPr>
          <p:cNvPr id="28" name="Text 22"/>
          <p:cNvSpPr/>
          <p:nvPr/>
        </p:nvSpPr>
        <p:spPr>
          <a:xfrm>
            <a:off x="812750" y="6238249"/>
            <a:ext cx="10883342" cy="238732"/>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A52"/>
                </a:solidFill>
                <a:latin typeface="DM Sans" pitchFamily="34" charset="0"/>
                <a:ea typeface="DM Sans" pitchFamily="34" charset="-122"/>
                <a:cs typeface="DM Sans" pitchFamily="34" charset="-120"/>
              </a:rPr>
              <a:t>Built with Python · LightGBM · YOLOv8 · ASHRAE 55 comfort model · FastAPI web app · runs in Google Colab</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5EE"/>
        </a:solidFill>
      </p:bgPr>
    </p:bg>
    <p:spTree>
      <p:nvGrpSpPr>
        <p:cNvPr id="1" name=""/>
        <p:cNvGrpSpPr/>
        <p:nvPr/>
      </p:nvGrpSpPr>
      <p:grpSpPr>
        <a:xfrm>
          <a:off x="0" y="0"/>
          <a:ext cx="0" cy="0"/>
          <a:chOff x="0" y="0"/>
          <a:chExt cx="0" cy="0"/>
        </a:xfrm>
      </p:grpSpPr>
      <p:sp>
        <p:nvSpPr>
          <p:cNvPr id="2" name="Text 0"/>
          <p:cNvSpPr/>
          <p:nvPr>
            <p:ph type="title"/>
          </p:nvPr>
        </p:nvSpPr>
        <p:spPr>
          <a:xfrm>
            <a:off x="812750" y="1494774"/>
            <a:ext cx="5494163" cy="528327"/>
          </a:xfrm>
          <a:prstGeom prst="rect">
            <a:avLst/>
          </a:prstGeom>
          <a:noFill/>
          <a:ln/>
        </p:spPr>
        <p:txBody>
          <a:bodyPr wrap="square" lIns="0" tIns="0" rIns="0" bIns="0" rtlCol="0" anchor="t">
            <a:normAutofit/>
          </a:bodyPr>
          <a:lstStyle/>
          <a:p>
            <a:pPr algn="l" indent="0" marL="0">
              <a:lnSpc>
                <a:spcPts val="3960"/>
              </a:lnSpc>
              <a:buNone/>
            </a:pPr>
            <a:r>
              <a:rPr lang="en-US" sz="3600" b="1" i="0" spc="-50" kern="0" dirty="0">
                <a:solidFill>
                  <a:srgbClr val="1E3F33"/>
                </a:solidFill>
                <a:latin typeface="Manrope" pitchFamily="34" charset="0"/>
                <a:ea typeface="Manrope" pitchFamily="34" charset="-122"/>
                <a:cs typeface="Manrope" pitchFamily="34" charset="-120"/>
              </a:rPr>
              <a:t>How a saving is proven</a:t>
            </a:r>
            <a:endParaRPr lang="en-US" sz="3600" dirty="0"/>
          </a:p>
        </p:txBody>
      </p:sp>
      <p:sp>
        <p:nvSpPr>
          <p:cNvPr id="3" name="Text 1"/>
          <p:cNvSpPr/>
          <p:nvPr/>
        </p:nvSpPr>
        <p:spPr>
          <a:xfrm>
            <a:off x="812750" y="2226249"/>
            <a:ext cx="406393" cy="416498"/>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9A6B1F"/>
                </a:solidFill>
                <a:latin typeface="Manrope" pitchFamily="34" charset="0"/>
                <a:ea typeface="Manrope" pitchFamily="34" charset="-122"/>
                <a:cs typeface="Manrope" pitchFamily="34" charset="-120"/>
              </a:rPr>
              <a:t>1</a:t>
            </a:r>
            <a:endParaRPr lang="en-US" sz="2200" dirty="0"/>
          </a:p>
        </p:txBody>
      </p:sp>
      <p:sp>
        <p:nvSpPr>
          <p:cNvPr id="4" name="Text 2"/>
          <p:cNvSpPr/>
          <p:nvPr/>
        </p:nvSpPr>
        <p:spPr>
          <a:xfrm>
            <a:off x="1320688" y="2226249"/>
            <a:ext cx="4970986" cy="299718"/>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E3F33"/>
                </a:solidFill>
                <a:latin typeface="DM Sans" pitchFamily="34" charset="0"/>
                <a:ea typeface="DM Sans" pitchFamily="34" charset="-122"/>
                <a:cs typeface="DM Sans" pitchFamily="34" charset="-120"/>
              </a:rPr>
              <a:t>Build the ghost twin</a:t>
            </a:r>
            <a:endParaRPr lang="en-US" sz="1800" dirty="0"/>
          </a:p>
        </p:txBody>
      </p:sp>
      <p:sp>
        <p:nvSpPr>
          <p:cNvPr id="5" name="Text 3"/>
          <p:cNvSpPr/>
          <p:nvPr/>
        </p:nvSpPr>
        <p:spPr>
          <a:xfrm>
            <a:off x="1320688" y="2538608"/>
            <a:ext cx="4970986" cy="772272"/>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A52"/>
                </a:solidFill>
                <a:latin typeface="DM Sans" pitchFamily="34" charset="0"/>
                <a:ea typeface="DM Sans" pitchFamily="34" charset="-122"/>
                <a:cs typeface="DM Sans" pitchFamily="34" charset="-120"/>
              </a:rPr>
              <a:t>A model learns the 12 months before the action, then is fed the real weather and calendar — what the building would have used </a:t>
            </a:r>
            <a:r>
              <a:rPr lang="en-US" sz="1400" i="1" dirty="0">
                <a:solidFill>
                  <a:srgbClr val="4A5A52"/>
                </a:solidFill>
                <a:latin typeface="DM Sans" pitchFamily="34" charset="0"/>
                <a:ea typeface="DM Sans" pitchFamily="34" charset="-122"/>
                <a:cs typeface="DM Sans" pitchFamily="34" charset="-120"/>
              </a:rPr>
              <a:t>without</a:t>
            </a:r>
            <a:r>
              <a:rPr lang="en-US" sz="1400" dirty="0">
                <a:solidFill>
                  <a:srgbClr val="4A5A52"/>
                </a:solidFill>
                <a:latin typeface="DM Sans" pitchFamily="34" charset="0"/>
                <a:ea typeface="DM Sans" pitchFamily="34" charset="-122"/>
                <a:cs typeface="DM Sans" pitchFamily="34" charset="-120"/>
              </a:rPr>
              <a:t> it.</a:t>
            </a:r>
            <a:endParaRPr lang="en-US" sz="1400" dirty="0"/>
          </a:p>
        </p:txBody>
      </p:sp>
      <p:sp>
        <p:nvSpPr>
          <p:cNvPr id="6" name="Text 4"/>
          <p:cNvSpPr/>
          <p:nvPr/>
        </p:nvSpPr>
        <p:spPr>
          <a:xfrm>
            <a:off x="812750" y="3514027"/>
            <a:ext cx="406393" cy="416498"/>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9A6B1F"/>
                </a:solidFill>
                <a:latin typeface="Manrope" pitchFamily="34" charset="0"/>
                <a:ea typeface="Manrope" pitchFamily="34" charset="-122"/>
                <a:cs typeface="Manrope" pitchFamily="34" charset="-120"/>
              </a:rPr>
              <a:t>2</a:t>
            </a:r>
            <a:endParaRPr lang="en-US" sz="2200" dirty="0"/>
          </a:p>
        </p:txBody>
      </p:sp>
      <p:sp>
        <p:nvSpPr>
          <p:cNvPr id="7" name="Text 5"/>
          <p:cNvSpPr/>
          <p:nvPr/>
        </p:nvSpPr>
        <p:spPr>
          <a:xfrm>
            <a:off x="1320688" y="3514027"/>
            <a:ext cx="4970986" cy="299718"/>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E3F33"/>
                </a:solidFill>
                <a:latin typeface="DM Sans" pitchFamily="34" charset="0"/>
                <a:ea typeface="DM Sans" pitchFamily="34" charset="-122"/>
                <a:cs typeface="DM Sans" pitchFamily="34" charset="-120"/>
              </a:rPr>
              <a:t>Compare with the live twin</a:t>
            </a:r>
            <a:endParaRPr lang="en-US" sz="1800" dirty="0"/>
          </a:p>
        </p:txBody>
      </p:sp>
      <p:sp>
        <p:nvSpPr>
          <p:cNvPr id="8" name="Text 6"/>
          <p:cNvSpPr/>
          <p:nvPr/>
        </p:nvSpPr>
        <p:spPr>
          <a:xfrm>
            <a:off x="1320688" y="3826387"/>
            <a:ext cx="4970986" cy="274357"/>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A52"/>
                </a:solidFill>
                <a:latin typeface="DM Sans" pitchFamily="34" charset="0"/>
                <a:ea typeface="DM Sans" pitchFamily="34" charset="-122"/>
                <a:cs typeface="DM Sans" pitchFamily="34" charset="-120"/>
              </a:rPr>
              <a:t>The live twin is the real meter. Saving = ghost − live.</a:t>
            </a:r>
            <a:endParaRPr lang="en-US" sz="1400" dirty="0"/>
          </a:p>
        </p:txBody>
      </p:sp>
      <p:sp>
        <p:nvSpPr>
          <p:cNvPr id="9" name="Text 7"/>
          <p:cNvSpPr/>
          <p:nvPr/>
        </p:nvSpPr>
        <p:spPr>
          <a:xfrm>
            <a:off x="812750" y="4303892"/>
            <a:ext cx="406393" cy="416498"/>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9A6B1F"/>
                </a:solidFill>
                <a:latin typeface="Manrope" pitchFamily="34" charset="0"/>
                <a:ea typeface="Manrope" pitchFamily="34" charset="-122"/>
                <a:cs typeface="Manrope" pitchFamily="34" charset="-120"/>
              </a:rPr>
              <a:t>3</a:t>
            </a:r>
            <a:endParaRPr lang="en-US" sz="2200" dirty="0"/>
          </a:p>
        </p:txBody>
      </p:sp>
      <p:sp>
        <p:nvSpPr>
          <p:cNvPr id="10" name="Text 8"/>
          <p:cNvSpPr/>
          <p:nvPr/>
        </p:nvSpPr>
        <p:spPr>
          <a:xfrm>
            <a:off x="1320688" y="4303892"/>
            <a:ext cx="4970986" cy="299718"/>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E3F33"/>
                </a:solidFill>
                <a:latin typeface="DM Sans" pitchFamily="34" charset="0"/>
                <a:ea typeface="DM Sans" pitchFamily="34" charset="-122"/>
                <a:cs typeface="DM Sans" pitchFamily="34" charset="-120"/>
              </a:rPr>
              <a:t>Test it against noise</a:t>
            </a:r>
            <a:endParaRPr lang="en-US" sz="1800" dirty="0"/>
          </a:p>
        </p:txBody>
      </p:sp>
      <p:sp>
        <p:nvSpPr>
          <p:cNvPr id="11" name="Text 9"/>
          <p:cNvSpPr/>
          <p:nvPr/>
        </p:nvSpPr>
        <p:spPr>
          <a:xfrm>
            <a:off x="1320688" y="4616252"/>
            <a:ext cx="4970986" cy="772272"/>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A52"/>
                </a:solidFill>
                <a:latin typeface="DM Sans" pitchFamily="34" charset="0"/>
                <a:ea typeface="DM Sans" pitchFamily="34" charset="-122"/>
                <a:cs typeface="DM Sans" pitchFamily="34" charset="-120"/>
              </a:rPr>
              <a:t>Placebo test: pretend the action happened on every week of the year before. Count it only if the real gap beats that noise (p ≤ 0.05) — and only its </a:t>
            </a:r>
            <a:r>
              <a:rPr lang="en-US" sz="1400" b="1" dirty="0">
                <a:solidFill>
                  <a:srgbClr val="4A5A52"/>
                </a:solidFill>
                <a:latin typeface="DM Sans" pitchFamily="34" charset="0"/>
                <a:ea typeface="DM Sans" pitchFamily="34" charset="-122"/>
                <a:cs typeface="DM Sans" pitchFamily="34" charset="-120"/>
              </a:rPr>
              <a:t>low end</a:t>
            </a:r>
            <a:r>
              <a:rPr lang="en-US" sz="1400" dirty="0">
                <a:solidFill>
                  <a:srgbClr val="4A5A52"/>
                </a:solidFill>
                <a:latin typeface="DM Sans" pitchFamily="34" charset="0"/>
                <a:ea typeface="DM Sans" pitchFamily="34" charset="-122"/>
                <a:cs typeface="DM Sans" pitchFamily="34" charset="-120"/>
              </a:rPr>
              <a:t>.</a:t>
            </a:r>
            <a:endParaRPr lang="en-US" sz="1400" dirty="0"/>
          </a:p>
        </p:txBody>
      </p:sp>
      <p:sp>
        <p:nvSpPr>
          <p:cNvPr id="12" name="Shape 10"/>
          <p:cNvSpPr/>
          <p:nvPr/>
        </p:nvSpPr>
        <p:spPr>
          <a:xfrm>
            <a:off x="6553264" y="1022341"/>
            <a:ext cx="4825959" cy="4813279"/>
          </a:xfrm>
          <a:prstGeom prst="roundRect">
            <a:avLst>
              <a:gd name="adj" fmla="val 2639"/>
            </a:avLst>
          </a:prstGeom>
          <a:solidFill>
            <a:srgbClr val="FFFDF7"/>
          </a:solidFill>
          <a:ln/>
        </p:spPr>
      </p:sp>
      <p:pic>
        <p:nvPicPr>
          <p:cNvPr id="13" name="Image 0" descr="GreenLedger Live vs Ghost Twin page: a verified 5.7% saving with the live line below the dashed ghost line">    </p:cNvPr>
          <p:cNvPicPr>
            <a:picLocks noChangeAspect="1"/>
          </p:cNvPicPr>
          <p:nvPr/>
        </p:nvPicPr>
        <p:blipFill>
          <a:blip r:embed="rId1"/>
          <a:srcRect l="0" r="0" t="-50" b="-50"/>
          <a:stretch/>
        </p:blipFill>
        <p:spPr>
          <a:xfrm>
            <a:off x="6559614" y="1028691"/>
            <a:ext cx="4813259" cy="4800579"/>
          </a:xfrm>
          <a:prstGeom prst="roundRect">
            <a:avLst>
              <a:gd name="adj" fmla="val 2513"/>
            </a:avLst>
          </a:prstGeom>
        </p:spPr>
      </p:pic>
      <p:sp>
        <p:nvSpPr>
          <p:cNvPr id="14" name="Shape 11"/>
          <p:cNvSpPr/>
          <p:nvPr/>
        </p:nvSpPr>
        <p:spPr>
          <a:xfrm>
            <a:off x="6556439" y="1025516"/>
            <a:ext cx="4819609" cy="4806929"/>
          </a:xfrm>
          <a:prstGeom prst="roundRect">
            <a:avLst>
              <a:gd name="adj" fmla="val 2576"/>
            </a:avLst>
          </a:prstGeom>
          <a:noFill/>
          <a:ln w="6350">
            <a:solidFill>
              <a:srgbClr val="D9DECF"/>
            </a:solidFill>
            <a:prstDash val="solid"/>
          </a:ln>
        </p:spPr>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5EE"/>
        </a:solidFill>
      </p:bgPr>
    </p:bg>
    <p:spTree>
      <p:nvGrpSpPr>
        <p:cNvPr id="1" name=""/>
        <p:cNvGrpSpPr/>
        <p:nvPr/>
      </p:nvGrpSpPr>
      <p:grpSpPr>
        <a:xfrm>
          <a:off x="0" y="0"/>
          <a:ext cx="0" cy="0"/>
          <a:chOff x="0" y="0"/>
          <a:chExt cx="0" cy="0"/>
        </a:xfrm>
      </p:grpSpPr>
      <p:sp>
        <p:nvSpPr>
          <p:cNvPr id="2" name="Text 0"/>
          <p:cNvSpPr/>
          <p:nvPr/>
        </p:nvSpPr>
        <p:spPr>
          <a:xfrm>
            <a:off x="812750" y="1021249"/>
            <a:ext cx="3662672" cy="523315"/>
          </a:xfrm>
          <a:prstGeom prst="rect">
            <a:avLst/>
          </a:prstGeom>
          <a:noFill/>
          <a:ln/>
        </p:spPr>
        <p:txBody>
          <a:bodyPr wrap="square" lIns="0" tIns="0" rIns="0" bIns="0" rtlCol="0" anchor="t">
            <a:normAutofit/>
          </a:bodyPr>
          <a:lstStyle/>
          <a:p>
            <a:pPr algn="l" indent="0" marL="0">
              <a:lnSpc>
                <a:spcPts val="1960"/>
              </a:lnSpc>
              <a:buNone/>
            </a:pPr>
            <a:r>
              <a:rPr lang="en-US" sz="1400" b="1" spc="200" kern="0" dirty="0">
                <a:solidFill>
                  <a:srgbClr val="9A6B1F"/>
                </a:solidFill>
                <a:latin typeface="DM Sans" pitchFamily="34" charset="0"/>
                <a:ea typeface="DM Sans" pitchFamily="34" charset="-122"/>
                <a:cs typeface="DM Sans" pitchFamily="34" charset="-120"/>
              </a:rPr>
              <a:t>02 · PROPOSED SYSTEM · DASHBOARD</a:t>
            </a:r>
            <a:endParaRPr lang="en-US" sz="1400" dirty="0"/>
          </a:p>
        </p:txBody>
      </p:sp>
      <p:sp>
        <p:nvSpPr>
          <p:cNvPr id="3" name="Text 1"/>
          <p:cNvSpPr/>
          <p:nvPr>
            <p:ph type="title"/>
          </p:nvPr>
        </p:nvSpPr>
        <p:spPr>
          <a:xfrm>
            <a:off x="812750" y="1722354"/>
            <a:ext cx="3662672" cy="919425"/>
          </a:xfrm>
          <a:prstGeom prst="rect">
            <a:avLst/>
          </a:prstGeom>
          <a:noFill/>
          <a:ln/>
        </p:spPr>
        <p:txBody>
          <a:bodyPr wrap="square" lIns="0" tIns="0" rIns="0" bIns="0" rtlCol="0" anchor="t">
            <a:normAutofit/>
          </a:bodyPr>
          <a:lstStyle/>
          <a:p>
            <a:pPr algn="l" indent="0" marL="0">
              <a:lnSpc>
                <a:spcPts val="3520"/>
              </a:lnSpc>
              <a:buNone/>
            </a:pPr>
            <a:r>
              <a:rPr lang="en-US" sz="3200" b="1" i="0" spc="-50" kern="0" dirty="0">
                <a:solidFill>
                  <a:srgbClr val="1E3F33"/>
                </a:solidFill>
                <a:latin typeface="Manrope" pitchFamily="34" charset="0"/>
                <a:ea typeface="Manrope" pitchFamily="34" charset="-122"/>
                <a:cs typeface="Manrope" pitchFamily="34" charset="-120"/>
              </a:rPr>
              <a:t>What the campus saved last month</a:t>
            </a:r>
            <a:endParaRPr lang="en-US" sz="3200" dirty="0"/>
          </a:p>
        </p:txBody>
      </p:sp>
      <p:sp>
        <p:nvSpPr>
          <p:cNvPr id="4" name="Text 2"/>
          <p:cNvSpPr/>
          <p:nvPr/>
        </p:nvSpPr>
        <p:spPr>
          <a:xfrm>
            <a:off x="812750" y="2819564"/>
            <a:ext cx="2144203" cy="594325"/>
          </a:xfrm>
          <a:prstGeom prst="rect">
            <a:avLst/>
          </a:prstGeom>
          <a:noFill/>
          <a:ln/>
        </p:spPr>
        <p:txBody>
          <a:bodyPr wrap="none" lIns="0" tIns="0" rIns="0" bIns="0" rtlCol="0" anchor="t">
            <a:normAutofit/>
          </a:bodyPr>
          <a:lstStyle/>
          <a:p>
            <a:pPr algn="l" indent="0" marL="0">
              <a:lnSpc>
                <a:spcPts val="4480"/>
              </a:lnSpc>
              <a:buNone/>
            </a:pPr>
            <a:r>
              <a:rPr lang="en-US" sz="3200" b="1" dirty="0">
                <a:solidFill>
                  <a:srgbClr val="1E3F33"/>
                </a:solidFill>
                <a:latin typeface="Manrope" pitchFamily="34" charset="0"/>
                <a:ea typeface="Manrope" pitchFamily="34" charset="-122"/>
                <a:cs typeface="Manrope" pitchFamily="34" charset="-120"/>
              </a:rPr>
              <a:t>26,551 kWh</a:t>
            </a:r>
            <a:endParaRPr lang="en-US" sz="3200" dirty="0"/>
          </a:p>
        </p:txBody>
      </p:sp>
      <p:sp>
        <p:nvSpPr>
          <p:cNvPr id="5" name="Text 3"/>
          <p:cNvSpPr/>
          <p:nvPr/>
        </p:nvSpPr>
        <p:spPr>
          <a:xfrm>
            <a:off x="2996064" y="3086215"/>
            <a:ext cx="1423478" cy="487568"/>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A52"/>
                </a:solidFill>
                <a:latin typeface="DM Sans" pitchFamily="34" charset="0"/>
                <a:ea typeface="DM Sans" pitchFamily="34" charset="-122"/>
                <a:cs typeface="DM Sans" pitchFamily="34" charset="-120"/>
              </a:rPr>
              <a:t>September, verified</a:t>
            </a:r>
            <a:endParaRPr lang="en-US" sz="1300" dirty="0"/>
          </a:p>
        </p:txBody>
      </p:sp>
      <p:sp>
        <p:nvSpPr>
          <p:cNvPr id="6" name="Text 4"/>
          <p:cNvSpPr/>
          <p:nvPr/>
        </p:nvSpPr>
        <p:spPr>
          <a:xfrm>
            <a:off x="812750" y="3675366"/>
            <a:ext cx="1318352" cy="594325"/>
          </a:xfrm>
          <a:prstGeom prst="rect">
            <a:avLst/>
          </a:prstGeom>
          <a:noFill/>
          <a:ln/>
        </p:spPr>
        <p:txBody>
          <a:bodyPr wrap="none" lIns="0" tIns="0" rIns="0" bIns="0" rtlCol="0" anchor="t">
            <a:normAutofit/>
          </a:bodyPr>
          <a:lstStyle/>
          <a:p>
            <a:pPr algn="l" indent="0" marL="0">
              <a:lnSpc>
                <a:spcPts val="4480"/>
              </a:lnSpc>
              <a:buNone/>
            </a:pPr>
            <a:r>
              <a:rPr lang="en-US" sz="3200" b="1" dirty="0">
                <a:solidFill>
                  <a:srgbClr val="1E3F33"/>
                </a:solidFill>
                <a:latin typeface="Manrope" pitchFamily="34" charset="0"/>
                <a:ea typeface="Manrope" pitchFamily="34" charset="-122"/>
                <a:cs typeface="Manrope" pitchFamily="34" charset="-120"/>
              </a:rPr>
              <a:t>₹226K</a:t>
            </a:r>
            <a:endParaRPr lang="en-US" sz="3200" dirty="0"/>
          </a:p>
        </p:txBody>
      </p:sp>
      <p:sp>
        <p:nvSpPr>
          <p:cNvPr id="7" name="Text 5"/>
          <p:cNvSpPr/>
          <p:nvPr/>
        </p:nvSpPr>
        <p:spPr>
          <a:xfrm>
            <a:off x="2181865" y="3942017"/>
            <a:ext cx="1618592" cy="256484"/>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A52"/>
                </a:solidFill>
                <a:latin typeface="DM Sans" pitchFamily="34" charset="0"/>
                <a:ea typeface="DM Sans" pitchFamily="34" charset="-122"/>
                <a:cs typeface="DM Sans" pitchFamily="34" charset="-120"/>
              </a:rPr>
              <a:t>saved that month</a:t>
            </a:r>
            <a:endParaRPr lang="en-US" sz="1300" dirty="0"/>
          </a:p>
        </p:txBody>
      </p:sp>
      <p:sp>
        <p:nvSpPr>
          <p:cNvPr id="8" name="Text 6"/>
          <p:cNvSpPr/>
          <p:nvPr/>
        </p:nvSpPr>
        <p:spPr>
          <a:xfrm>
            <a:off x="812750" y="4371277"/>
            <a:ext cx="1133037" cy="594325"/>
          </a:xfrm>
          <a:prstGeom prst="rect">
            <a:avLst/>
          </a:prstGeom>
          <a:noFill/>
          <a:ln/>
        </p:spPr>
        <p:txBody>
          <a:bodyPr wrap="none" lIns="0" tIns="0" rIns="0" bIns="0" rtlCol="0" anchor="t">
            <a:normAutofit/>
          </a:bodyPr>
          <a:lstStyle/>
          <a:p>
            <a:pPr algn="l" indent="0" marL="0">
              <a:lnSpc>
                <a:spcPts val="4480"/>
              </a:lnSpc>
              <a:buNone/>
            </a:pPr>
            <a:r>
              <a:rPr lang="en-US" sz="3200" b="1" dirty="0">
                <a:solidFill>
                  <a:srgbClr val="1E3F33"/>
                </a:solidFill>
                <a:latin typeface="Manrope" pitchFamily="34" charset="0"/>
                <a:ea typeface="Manrope" pitchFamily="34" charset="-122"/>
                <a:cs typeface="Manrope" pitchFamily="34" charset="-120"/>
              </a:rPr>
              <a:t>18.9 t</a:t>
            </a:r>
            <a:endParaRPr lang="en-US" sz="3200" dirty="0"/>
          </a:p>
        </p:txBody>
      </p:sp>
      <p:sp>
        <p:nvSpPr>
          <p:cNvPr id="9" name="Text 7"/>
          <p:cNvSpPr/>
          <p:nvPr/>
        </p:nvSpPr>
        <p:spPr>
          <a:xfrm>
            <a:off x="1996551" y="4637928"/>
            <a:ext cx="1150071" cy="256484"/>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A52"/>
                </a:solidFill>
                <a:latin typeface="DM Sans" pitchFamily="34" charset="0"/>
                <a:ea typeface="DM Sans" pitchFamily="34" charset="-122"/>
                <a:cs typeface="DM Sans" pitchFamily="34" charset="-120"/>
              </a:rPr>
              <a:t>CO₂ avoided</a:t>
            </a:r>
            <a:endParaRPr lang="en-US" sz="1300" dirty="0"/>
          </a:p>
        </p:txBody>
      </p:sp>
      <p:sp>
        <p:nvSpPr>
          <p:cNvPr id="10" name="Text 8"/>
          <p:cNvSpPr/>
          <p:nvPr/>
        </p:nvSpPr>
        <p:spPr>
          <a:xfrm>
            <a:off x="812750" y="5143388"/>
            <a:ext cx="3662672" cy="718653"/>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A52"/>
                </a:solidFill>
                <a:latin typeface="DM Sans" pitchFamily="34" charset="0"/>
                <a:ea typeface="DM Sans" pitchFamily="34" charset="-122"/>
                <a:cs typeface="DM Sans" pitchFamily="34" charset="-120"/>
              </a:rPr>
              <a:t>16 departments, 7 of 9 changes verified. We count only the safe, low end — never more than the real saving.</a:t>
            </a:r>
            <a:endParaRPr lang="en-US" sz="1300" dirty="0"/>
          </a:p>
        </p:txBody>
      </p:sp>
      <p:sp>
        <p:nvSpPr>
          <p:cNvPr id="11" name="Shape 9"/>
          <p:cNvSpPr/>
          <p:nvPr/>
        </p:nvSpPr>
        <p:spPr>
          <a:xfrm>
            <a:off x="4775117" y="1136641"/>
            <a:ext cx="6603985" cy="4584670"/>
          </a:xfrm>
          <a:prstGeom prst="roundRect">
            <a:avLst>
              <a:gd name="adj" fmla="val 2770"/>
            </a:avLst>
          </a:prstGeom>
          <a:solidFill>
            <a:srgbClr val="FFFDF7"/>
          </a:solidFill>
          <a:ln/>
        </p:spPr>
      </p:sp>
      <p:pic>
        <p:nvPicPr>
          <p:cNvPr id="12" name="Image 0" descr="GreenLedger dashboard: 26,551 kWh saved last month, KPI cards and a money-saved-per-month chart">    </p:cNvPr>
          <p:cNvPicPr>
            <a:picLocks noChangeAspect="1"/>
          </p:cNvPicPr>
          <p:nvPr/>
        </p:nvPicPr>
        <p:blipFill>
          <a:blip r:embed="rId1"/>
          <a:stretch>
            <a:fillRect/>
          </a:stretch>
        </p:blipFill>
        <p:spPr>
          <a:xfrm>
            <a:off x="4846250" y="1142991"/>
            <a:ext cx="6461718" cy="4571970"/>
          </a:xfrm>
          <a:custGeom>
            <a:avLst/>
            <a:gdLst/>
            <a:ahLst/>
            <a:cxnLst/>
            <a:rect l="l" t="t" r="r" b="b"/>
            <a:pathLst>
              <a:path w="6461718" h="4571970">
                <a:moveTo>
                  <a:pt x="0" y="13714"/>
                </a:moveTo>
                <a:arcTo wR="120650" hR="120650" stAng="14544977" swAng="1655023"/>
                <a:lnTo>
                  <a:pt x="6405852" y="0"/>
                </a:lnTo>
                <a:arcTo wR="120650" hR="120650" stAng="16200000" swAng="1655023"/>
                <a:lnTo>
                  <a:pt x="6461718" y="4558257"/>
                </a:lnTo>
                <a:arcTo wR="120650" hR="120650" stAng="3744977" swAng="1655023"/>
                <a:lnTo>
                  <a:pt x="55866" y="4571970"/>
                </a:lnTo>
                <a:arcTo wR="120650" hR="120650" stAng="5400000" swAng="1655023"/>
                <a:close/>
              </a:path>
            </a:pathLst>
          </a:custGeom>
        </p:spPr>
      </p:pic>
      <p:sp>
        <p:nvSpPr>
          <p:cNvPr id="13" name="Shape 10"/>
          <p:cNvSpPr/>
          <p:nvPr/>
        </p:nvSpPr>
        <p:spPr>
          <a:xfrm>
            <a:off x="4778292" y="1139816"/>
            <a:ext cx="6597635" cy="4578320"/>
          </a:xfrm>
          <a:prstGeom prst="roundRect">
            <a:avLst>
              <a:gd name="adj" fmla="val 2705"/>
            </a:avLst>
          </a:prstGeom>
          <a:noFill/>
          <a:ln w="6350">
            <a:solidFill>
              <a:srgbClr val="D9DECF"/>
            </a:solidFill>
            <a:prstDash val="solid"/>
          </a:ln>
        </p:spPr>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5EE"/>
        </a:solidFill>
      </p:bgPr>
    </p:bg>
    <p:spTree>
      <p:nvGrpSpPr>
        <p:cNvPr id="1" name=""/>
        <p:cNvGrpSpPr/>
        <p:nvPr/>
      </p:nvGrpSpPr>
      <p:grpSpPr>
        <a:xfrm>
          <a:off x="0" y="0"/>
          <a:ext cx="0" cy="0"/>
          <a:chOff x="0" y="0"/>
          <a:chExt cx="0" cy="0"/>
        </a:xfrm>
      </p:grpSpPr>
      <p:sp>
        <p:nvSpPr>
          <p:cNvPr id="2" name="Text 0"/>
          <p:cNvSpPr/>
          <p:nvPr/>
        </p:nvSpPr>
        <p:spPr>
          <a:xfrm>
            <a:off x="812750" y="1011045"/>
            <a:ext cx="5405039" cy="274357"/>
          </a:xfrm>
          <a:prstGeom prst="rect">
            <a:avLst/>
          </a:prstGeom>
          <a:noFill/>
          <a:ln/>
        </p:spPr>
        <p:txBody>
          <a:bodyPr wrap="square" lIns="0" tIns="0" rIns="0" bIns="0" rtlCol="0" anchor="t">
            <a:normAutofit/>
          </a:bodyPr>
          <a:lstStyle/>
          <a:p>
            <a:pPr algn="l" indent="0" marL="0">
              <a:lnSpc>
                <a:spcPts val="1960"/>
              </a:lnSpc>
              <a:buNone/>
            </a:pPr>
            <a:r>
              <a:rPr lang="en-US" sz="1400" b="1" spc="200" kern="0" dirty="0">
                <a:solidFill>
                  <a:srgbClr val="9A6B1F"/>
                </a:solidFill>
                <a:latin typeface="DM Sans" pitchFamily="34" charset="0"/>
                <a:ea typeface="DM Sans" pitchFamily="34" charset="-122"/>
                <a:cs typeface="DM Sans" pitchFamily="34" charset="-120"/>
              </a:rPr>
              <a:t>02 · PROPOSED SYSTEM · CAMPUS TWIN</a:t>
            </a:r>
            <a:endParaRPr lang="en-US" sz="1400" dirty="0"/>
          </a:p>
        </p:txBody>
      </p:sp>
      <p:sp>
        <p:nvSpPr>
          <p:cNvPr id="3" name="Text 1"/>
          <p:cNvSpPr/>
          <p:nvPr>
            <p:ph type="title"/>
          </p:nvPr>
        </p:nvSpPr>
        <p:spPr>
          <a:xfrm>
            <a:off x="812750" y="1361567"/>
            <a:ext cx="6297133" cy="472412"/>
          </a:xfrm>
          <a:prstGeom prst="rect">
            <a:avLst/>
          </a:prstGeom>
          <a:noFill/>
          <a:ln/>
        </p:spPr>
        <p:txBody>
          <a:bodyPr wrap="square" lIns="0" tIns="0" rIns="0" bIns="0" rtlCol="0" anchor="t">
            <a:normAutofit/>
          </a:bodyPr>
          <a:lstStyle/>
          <a:p>
            <a:pPr algn="l" indent="0" marL="0">
              <a:lnSpc>
                <a:spcPts val="3520"/>
              </a:lnSpc>
              <a:buNone/>
            </a:pPr>
            <a:r>
              <a:rPr lang="en-US" sz="3200" b="1" i="0" spc="-50" kern="0" dirty="0">
                <a:solidFill>
                  <a:srgbClr val="1E3F33"/>
                </a:solidFill>
                <a:latin typeface="Manrope" pitchFamily="34" charset="0"/>
                <a:ea typeface="Manrope" pitchFamily="34" charset="-122"/>
                <a:cs typeface="Manrope" pitchFamily="34" charset="-120"/>
              </a:rPr>
              <a:t>Our campus, block by block</a:t>
            </a:r>
            <a:endParaRPr lang="en-US" sz="3200" dirty="0"/>
          </a:p>
        </p:txBody>
      </p:sp>
      <p:sp>
        <p:nvSpPr>
          <p:cNvPr id="4" name="Text 2"/>
          <p:cNvSpPr/>
          <p:nvPr/>
        </p:nvSpPr>
        <p:spPr>
          <a:xfrm>
            <a:off x="7315232" y="812750"/>
            <a:ext cx="4185910" cy="102123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A52"/>
                </a:solidFill>
                <a:latin typeface="DM Sans" pitchFamily="34" charset="0"/>
                <a:ea typeface="DM Sans" pitchFamily="34" charset="-122"/>
                <a:cs typeface="DM Sans" pitchFamily="34" charset="-120"/>
              </a:rPr>
              <a:t>Switch between energy use, energy saved, money saved, water and waste — every block re-colours. Click one for its numbers and a suggestion.</a:t>
            </a:r>
            <a:endParaRPr lang="en-US" sz="1400" dirty="0"/>
          </a:p>
        </p:txBody>
      </p:sp>
      <p:sp>
        <p:nvSpPr>
          <p:cNvPr id="5" name="Shape 3"/>
          <p:cNvSpPr/>
          <p:nvPr/>
        </p:nvSpPr>
        <p:spPr>
          <a:xfrm>
            <a:off x="812750" y="2062550"/>
            <a:ext cx="10566352" cy="3936946"/>
          </a:xfrm>
          <a:prstGeom prst="roundRect">
            <a:avLst>
              <a:gd name="adj" fmla="val 3226"/>
            </a:avLst>
          </a:prstGeom>
          <a:solidFill>
            <a:srgbClr val="FFFDF7"/>
          </a:solidFill>
          <a:ln/>
        </p:spPr>
      </p:sp>
      <p:pic>
        <p:nvPicPr>
          <p:cNvPr id="6" name="Image 0" descr="Interactive DSU campus map with 16 department blocks, including Medical, Law, MBA and Sports, coloured by energy per square metre and a side panel for Computer Science">    </p:cNvPr>
          <p:cNvPicPr>
            <a:picLocks noChangeAspect="1"/>
          </p:cNvPicPr>
          <p:nvPr/>
        </p:nvPicPr>
        <p:blipFill>
          <a:blip r:embed="rId1"/>
          <a:stretch>
            <a:fillRect/>
          </a:stretch>
        </p:blipFill>
        <p:spPr>
          <a:xfrm>
            <a:off x="2218239" y="2068900"/>
            <a:ext cx="7755374" cy="3924246"/>
          </a:xfrm>
          <a:prstGeom prst="rect">
            <a:avLst/>
          </a:prstGeom>
        </p:spPr>
      </p:pic>
      <p:sp>
        <p:nvSpPr>
          <p:cNvPr id="7" name="Shape 4"/>
          <p:cNvSpPr/>
          <p:nvPr/>
        </p:nvSpPr>
        <p:spPr>
          <a:xfrm>
            <a:off x="815925" y="2065725"/>
            <a:ext cx="10560002" cy="3930596"/>
          </a:xfrm>
          <a:prstGeom prst="roundRect">
            <a:avLst>
              <a:gd name="adj" fmla="val 3150"/>
            </a:avLst>
          </a:prstGeom>
          <a:noFill/>
          <a:ln w="6350">
            <a:solidFill>
              <a:srgbClr val="D9DECF"/>
            </a:solidFill>
            <a:prstDash val="solid"/>
          </a:ln>
        </p:spPr>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5EE"/>
        </a:solidFill>
      </p:bgPr>
    </p:bg>
    <p:spTree>
      <p:nvGrpSpPr>
        <p:cNvPr id="1" name=""/>
        <p:cNvGrpSpPr/>
        <p:nvPr/>
      </p:nvGrpSpPr>
      <p:grpSpPr>
        <a:xfrm>
          <a:off x="0" y="0"/>
          <a:ext cx="0" cy="0"/>
          <a:chOff x="0" y="0"/>
          <a:chExt cx="0" cy="0"/>
        </a:xfrm>
      </p:grpSpPr>
      <p:sp>
        <p:nvSpPr>
          <p:cNvPr id="2" name="Shape 0"/>
          <p:cNvSpPr/>
          <p:nvPr/>
        </p:nvSpPr>
        <p:spPr>
          <a:xfrm>
            <a:off x="812750" y="1606538"/>
            <a:ext cx="6857954" cy="3644875"/>
          </a:xfrm>
          <a:prstGeom prst="roundRect">
            <a:avLst>
              <a:gd name="adj" fmla="val 3484"/>
            </a:avLst>
          </a:prstGeom>
          <a:solidFill>
            <a:srgbClr val="FFFDF7"/>
          </a:solidFill>
          <a:ln/>
        </p:spPr>
      </p:sp>
      <p:pic>
        <p:nvPicPr>
          <p:cNvPr id="3" name="Image 0" descr="Live Room Control: 12 people detected and pixelated for privacy, live Bengaluru weather 33.4 °C, fan, lights and AC switched on automatically">    </p:cNvPr>
          <p:cNvPicPr>
            <a:picLocks noChangeAspect="1"/>
          </p:cNvPicPr>
          <p:nvPr/>
        </p:nvPicPr>
        <p:blipFill>
          <a:blip r:embed="rId1"/>
          <a:srcRect l="-106" r="-106" t="0" b="0"/>
          <a:stretch/>
        </p:blipFill>
        <p:spPr>
          <a:xfrm>
            <a:off x="819100" y="1612888"/>
            <a:ext cx="6845254" cy="3632175"/>
          </a:xfrm>
          <a:prstGeom prst="roundRect">
            <a:avLst>
              <a:gd name="adj" fmla="val 3322"/>
            </a:avLst>
          </a:prstGeom>
        </p:spPr>
      </p:pic>
      <p:sp>
        <p:nvSpPr>
          <p:cNvPr id="4" name="Shape 1"/>
          <p:cNvSpPr/>
          <p:nvPr/>
        </p:nvSpPr>
        <p:spPr>
          <a:xfrm>
            <a:off x="815925" y="1609713"/>
            <a:ext cx="6851604" cy="3638525"/>
          </a:xfrm>
          <a:prstGeom prst="roundRect">
            <a:avLst>
              <a:gd name="adj" fmla="val 3403"/>
            </a:avLst>
          </a:prstGeom>
          <a:noFill/>
          <a:ln w="6350">
            <a:solidFill>
              <a:srgbClr val="D9DECF"/>
            </a:solidFill>
            <a:prstDash val="solid"/>
          </a:ln>
        </p:spPr>
      </p:sp>
      <p:sp>
        <p:nvSpPr>
          <p:cNvPr id="5" name="Text 2"/>
          <p:cNvSpPr/>
          <p:nvPr/>
        </p:nvSpPr>
        <p:spPr>
          <a:xfrm>
            <a:off x="8077260" y="1261759"/>
            <a:ext cx="3401021" cy="523315"/>
          </a:xfrm>
          <a:prstGeom prst="rect">
            <a:avLst/>
          </a:prstGeom>
          <a:noFill/>
          <a:ln/>
        </p:spPr>
        <p:txBody>
          <a:bodyPr wrap="square" lIns="0" tIns="0" rIns="0" bIns="0" rtlCol="0" anchor="t">
            <a:normAutofit/>
          </a:bodyPr>
          <a:lstStyle/>
          <a:p>
            <a:pPr algn="l" indent="0" marL="0">
              <a:lnSpc>
                <a:spcPts val="1960"/>
              </a:lnSpc>
              <a:buNone/>
            </a:pPr>
            <a:r>
              <a:rPr lang="en-US" sz="1400" b="1" spc="200" kern="0" dirty="0">
                <a:solidFill>
                  <a:srgbClr val="9A6B1F"/>
                </a:solidFill>
                <a:latin typeface="DM Sans" pitchFamily="34" charset="0"/>
                <a:ea typeface="DM Sans" pitchFamily="34" charset="-122"/>
                <a:cs typeface="DM Sans" pitchFamily="34" charset="-120"/>
              </a:rPr>
              <a:t>02 · PROPOSED SYSTEM · LIVE ROOM</a:t>
            </a:r>
            <a:endParaRPr lang="en-US" sz="1400" dirty="0"/>
          </a:p>
        </p:txBody>
      </p:sp>
      <p:sp>
        <p:nvSpPr>
          <p:cNvPr id="6" name="Text 3"/>
          <p:cNvSpPr/>
          <p:nvPr>
            <p:ph type="title"/>
          </p:nvPr>
        </p:nvSpPr>
        <p:spPr>
          <a:xfrm>
            <a:off x="8077260" y="1937438"/>
            <a:ext cx="3401021" cy="807596"/>
          </a:xfrm>
          <a:prstGeom prst="rect">
            <a:avLst/>
          </a:prstGeom>
          <a:noFill/>
          <a:ln/>
        </p:spPr>
        <p:txBody>
          <a:bodyPr wrap="square" lIns="0" tIns="0" rIns="0" bIns="0" rtlCol="0" anchor="t">
            <a:normAutofit/>
          </a:bodyPr>
          <a:lstStyle/>
          <a:p>
            <a:pPr algn="l" indent="0" marL="0">
              <a:lnSpc>
                <a:spcPts val="3080"/>
              </a:lnSpc>
              <a:buNone/>
            </a:pPr>
            <a:r>
              <a:rPr lang="en-US" sz="2800" b="1" i="0" spc="-50" kern="0" dirty="0">
                <a:solidFill>
                  <a:srgbClr val="1E3F33"/>
                </a:solidFill>
                <a:latin typeface="Manrope" pitchFamily="34" charset="0"/>
                <a:ea typeface="Manrope" pitchFamily="34" charset="-122"/>
                <a:cs typeface="Manrope" pitchFamily="34" charset="-120"/>
              </a:rPr>
              <a:t>A room that switches itself</a:t>
            </a:r>
            <a:endParaRPr lang="en-US" sz="2800" dirty="0"/>
          </a:p>
        </p:txBody>
      </p:sp>
      <p:sp>
        <p:nvSpPr>
          <p:cNvPr id="7" name="Text 4"/>
          <p:cNvSpPr/>
          <p:nvPr/>
        </p:nvSpPr>
        <p:spPr>
          <a:xfrm>
            <a:off x="8111042" y="2897398"/>
            <a:ext cx="3361143" cy="1830236"/>
          </a:xfrm>
          <a:prstGeom prst="rect">
            <a:avLst/>
          </a:prstGeom>
          <a:noFill/>
          <a:ln/>
        </p:spPr>
        <p:txBody>
          <a:bodyPr wrap="square" lIns="0" tIns="0" rIns="0" bIns="0" rtlCol="0" anchor="t">
            <a:normAutofit/>
          </a:bodyPr>
          <a:lstStyle/>
          <a:p>
            <a:pPr algn="l" marL="169418" indent="-169418">
              <a:lnSpc>
                <a:spcPts val="2030"/>
              </a:lnSpc>
              <a:buSzPct val="100000"/>
              <a:buChar char="•"/>
            </a:pPr>
            <a:r>
              <a:rPr lang="en-US" sz="1400" dirty="0">
                <a:solidFill>
                  <a:srgbClr val="4A5A52"/>
                </a:solidFill>
                <a:latin typeface="DM Sans" pitchFamily="34" charset="0"/>
                <a:ea typeface="DM Sans" pitchFamily="34" charset="-122"/>
                <a:cs typeface="DM Sans" pitchFamily="34" charset="-120"/>
              </a:rPr>
              <a:t>Camera counts people (YOLOv8)</a:t>
            </a:r>
            <a:endParaRPr lang="en-US" sz="1400" dirty="0"/>
          </a:p>
          <a:p>
            <a:pPr algn="l" marL="169418" indent="-169418">
              <a:lnSpc>
                <a:spcPts val="2030"/>
              </a:lnSpc>
              <a:buSzPct val="100000"/>
              <a:buChar char="•"/>
            </a:pPr>
            <a:r>
              <a:rPr lang="en-US" sz="1400" dirty="0">
                <a:solidFill>
                  <a:srgbClr val="4A5A52"/>
                </a:solidFill>
                <a:latin typeface="DM Sans" pitchFamily="34" charset="0"/>
                <a:ea typeface="DM Sans" pitchFamily="34" charset="-122"/>
                <a:cs typeface="DM Sans" pitchFamily="34" charset="-120"/>
              </a:rPr>
              <a:t>Live weather sets the rules (ASHRAE 55)</a:t>
            </a:r>
            <a:endParaRPr lang="en-US" sz="1400" dirty="0"/>
          </a:p>
          <a:p>
            <a:pPr algn="l" marL="169418" indent="-169418">
              <a:lnSpc>
                <a:spcPts val="2030"/>
              </a:lnSpc>
              <a:buSzPct val="100000"/>
              <a:buChar char="•"/>
            </a:pPr>
            <a:r>
              <a:rPr lang="en-US" sz="1400" dirty="0">
                <a:solidFill>
                  <a:srgbClr val="4A5A52"/>
                </a:solidFill>
                <a:latin typeface="DM Sans" pitchFamily="34" charset="0"/>
                <a:ea typeface="DM Sans" pitchFamily="34" charset="-122"/>
                <a:cs typeface="DM Sans" pitchFamily="34" charset="-120"/>
              </a:rPr>
              <a:t>Crowded or warm → fan; too hot → AC, never below 24 °C</a:t>
            </a:r>
            <a:endParaRPr lang="en-US" sz="1400" dirty="0"/>
          </a:p>
          <a:p>
            <a:pPr algn="l" marL="169418" indent="-169418">
              <a:lnSpc>
                <a:spcPts val="2030"/>
              </a:lnSpc>
              <a:buSzPct val="100000"/>
              <a:buChar char="•"/>
            </a:pPr>
            <a:r>
              <a:rPr lang="en-US" sz="1400" dirty="0">
                <a:solidFill>
                  <a:srgbClr val="4A5A52"/>
                </a:solidFill>
                <a:latin typeface="DM Sans" pitchFamily="34" charset="0"/>
                <a:ea typeface="DM Sans" pitchFamily="34" charset="-122"/>
                <a:cs typeface="DM Sans" pitchFamily="34" charset="-120"/>
              </a:rPr>
              <a:t>Empty → everything off</a:t>
            </a:r>
            <a:endParaRPr lang="en-US" sz="1400" dirty="0"/>
          </a:p>
          <a:p>
            <a:pPr algn="l" marL="169418" indent="-169418">
              <a:lnSpc>
                <a:spcPts val="2030"/>
              </a:lnSpc>
              <a:buSzPct val="100000"/>
              <a:buChar char="•"/>
            </a:pPr>
            <a:r>
              <a:rPr lang="en-US" sz="1400" dirty="0">
                <a:solidFill>
                  <a:srgbClr val="4A5A52"/>
                </a:solidFill>
                <a:latin typeface="DM Sans" pitchFamily="34" charset="0"/>
                <a:ea typeface="DM Sans" pitchFamily="34" charset="-122"/>
                <a:cs typeface="DM Sans" pitchFamily="34" charset="-120"/>
              </a:rPr>
              <a:t>Manual mode and hand switches</a:t>
            </a:r>
            <a:endParaRPr lang="en-US" sz="1400" dirty="0"/>
          </a:p>
        </p:txBody>
      </p:sp>
      <p:sp>
        <p:nvSpPr>
          <p:cNvPr id="8" name="Text 5"/>
          <p:cNvSpPr/>
          <p:nvPr/>
        </p:nvSpPr>
        <p:spPr>
          <a:xfrm>
            <a:off x="8077260" y="4880000"/>
            <a:ext cx="3301962" cy="716138"/>
          </a:xfrm>
          <a:prstGeom prst="roundRect">
            <a:avLst>
              <a:gd name="adj" fmla="val 14187"/>
            </a:avLst>
          </a:prstGeom>
          <a:solidFill>
            <a:srgbClr val="E3EDD3"/>
          </a:solidFill>
          <a:ln/>
        </p:spPr>
        <p:txBody>
          <a:bodyPr wrap="square" lIns="122642" tIns="97242" rIns="32728" bIns="71842" rtlCol="0" anchor="t">
            <a:normAutofit/>
          </a:bodyPr>
          <a:lstStyle/>
          <a:p>
            <a:pPr algn="l" indent="0" marL="0">
              <a:lnSpc>
                <a:spcPts val="1820"/>
              </a:lnSpc>
              <a:buNone/>
            </a:pPr>
            <a:r>
              <a:rPr lang="en-US" sz="1300" dirty="0">
                <a:solidFill>
                  <a:srgbClr val="1E3F33"/>
                </a:solidFill>
                <a:latin typeface="DM Sans" pitchFamily="34" charset="0"/>
                <a:ea typeface="DM Sans" pitchFamily="34" charset="-122"/>
                <a:cs typeface="DM Sans" pitchFamily="34" charset="-120"/>
              </a:rPr>
              <a:t>People are pixelated; frames are never saved — only the count is kept.</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5EE"/>
        </a:solidFill>
      </p:bgPr>
    </p:bg>
    <p:spTree>
      <p:nvGrpSpPr>
        <p:cNvPr id="1" name=""/>
        <p:cNvGrpSpPr/>
        <p:nvPr/>
      </p:nvGrpSpPr>
      <p:grpSpPr>
        <a:xfrm>
          <a:off x="0" y="0"/>
          <a:ext cx="0" cy="0"/>
          <a:chOff x="0" y="0"/>
          <a:chExt cx="0" cy="0"/>
        </a:xfrm>
      </p:grpSpPr>
      <p:sp>
        <p:nvSpPr>
          <p:cNvPr id="2" name="Text 0"/>
          <p:cNvSpPr/>
          <p:nvPr/>
        </p:nvSpPr>
        <p:spPr>
          <a:xfrm>
            <a:off x="812750" y="812750"/>
            <a:ext cx="10883467" cy="274357"/>
          </a:xfrm>
          <a:prstGeom prst="rect">
            <a:avLst/>
          </a:prstGeom>
          <a:noFill/>
          <a:ln/>
        </p:spPr>
        <p:txBody>
          <a:bodyPr wrap="square" lIns="0" tIns="0" rIns="0" bIns="0" rtlCol="0" anchor="t">
            <a:normAutofit/>
          </a:bodyPr>
          <a:lstStyle/>
          <a:p>
            <a:pPr algn="l" indent="0" marL="0">
              <a:lnSpc>
                <a:spcPts val="1960"/>
              </a:lnSpc>
              <a:buNone/>
            </a:pPr>
            <a:r>
              <a:rPr lang="en-US" sz="1400" b="1" spc="200" kern="0" dirty="0">
                <a:solidFill>
                  <a:srgbClr val="9A6B1F"/>
                </a:solidFill>
                <a:latin typeface="DM Sans" pitchFamily="34" charset="0"/>
                <a:ea typeface="DM Sans" pitchFamily="34" charset="-122"/>
                <a:cs typeface="DM Sans" pitchFamily="34" charset="-120"/>
              </a:rPr>
              <a:t>02 · PROPOSED SYSTEM · E-WASTE</a:t>
            </a:r>
            <a:endParaRPr lang="en-US" sz="1400" dirty="0"/>
          </a:p>
        </p:txBody>
      </p:sp>
      <p:sp>
        <p:nvSpPr>
          <p:cNvPr id="3" name="Text 1"/>
          <p:cNvSpPr/>
          <p:nvPr>
            <p:ph type="title"/>
          </p:nvPr>
        </p:nvSpPr>
        <p:spPr>
          <a:xfrm>
            <a:off x="812750" y="1163272"/>
            <a:ext cx="10883467" cy="528327"/>
          </a:xfrm>
          <a:prstGeom prst="rect">
            <a:avLst/>
          </a:prstGeom>
          <a:noFill/>
          <a:ln/>
        </p:spPr>
        <p:txBody>
          <a:bodyPr wrap="square" lIns="0" tIns="0" rIns="0" bIns="0" rtlCol="0" anchor="t">
            <a:normAutofit/>
          </a:bodyPr>
          <a:lstStyle/>
          <a:p>
            <a:pPr algn="l" indent="0" marL="0">
              <a:lnSpc>
                <a:spcPts val="3960"/>
              </a:lnSpc>
              <a:buNone/>
            </a:pPr>
            <a:r>
              <a:rPr lang="en-US" sz="3600" b="1" i="0" spc="-50" kern="0" dirty="0">
                <a:solidFill>
                  <a:srgbClr val="1E3F33"/>
                </a:solidFill>
                <a:latin typeface="Manrope" pitchFamily="34" charset="0"/>
                <a:ea typeface="Manrope" pitchFamily="34" charset="-122"/>
                <a:cs typeface="Manrope" pitchFamily="34" charset="-120"/>
              </a:rPr>
              <a:t>Every device gets one decision — and a date</a:t>
            </a:r>
            <a:endParaRPr lang="en-US" sz="3600" dirty="0"/>
          </a:p>
        </p:txBody>
      </p:sp>
      <p:sp>
        <p:nvSpPr>
          <p:cNvPr id="4" name="Shape 2"/>
          <p:cNvSpPr/>
          <p:nvPr/>
        </p:nvSpPr>
        <p:spPr>
          <a:xfrm>
            <a:off x="812750" y="2021787"/>
            <a:ext cx="4173525" cy="2329259"/>
          </a:xfrm>
          <a:prstGeom prst="roundRect">
            <a:avLst>
              <a:gd name="adj" fmla="val 6543"/>
            </a:avLst>
          </a:prstGeom>
          <a:solidFill>
            <a:srgbClr val="1E3F33"/>
          </a:solidFill>
          <a:ln/>
        </p:spPr>
      </p:sp>
      <p:sp>
        <p:nvSpPr>
          <p:cNvPr id="5" name="Text 3"/>
          <p:cNvSpPr/>
          <p:nvPr/>
        </p:nvSpPr>
        <p:spPr>
          <a:xfrm>
            <a:off x="1117501" y="2326543"/>
            <a:ext cx="3670943" cy="274357"/>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BFD3C6"/>
                </a:solidFill>
                <a:latin typeface="DM Sans" pitchFamily="34" charset="0"/>
                <a:ea typeface="DM Sans" pitchFamily="34" charset="-122"/>
                <a:cs typeface="DM Sans" pitchFamily="34" charset="-120"/>
              </a:rPr>
              <a:t>Value recoverable now</a:t>
            </a:r>
            <a:endParaRPr lang="en-US" sz="1400" dirty="0"/>
          </a:p>
        </p:txBody>
      </p:sp>
      <p:sp>
        <p:nvSpPr>
          <p:cNvPr id="6" name="Text 4"/>
          <p:cNvSpPr/>
          <p:nvPr/>
        </p:nvSpPr>
        <p:spPr>
          <a:xfrm>
            <a:off x="1117501" y="2651640"/>
            <a:ext cx="3670943" cy="584181"/>
          </a:xfrm>
          <a:prstGeom prst="rect">
            <a:avLst/>
          </a:prstGeom>
          <a:noFill/>
          <a:ln/>
        </p:spPr>
        <p:txBody>
          <a:bodyPr wrap="square" lIns="0" tIns="0" rIns="0" bIns="0" rtlCol="0" anchor="t">
            <a:normAutofit/>
          </a:bodyPr>
          <a:lstStyle/>
          <a:p>
            <a:pPr algn="l" indent="0" marL="0">
              <a:lnSpc>
                <a:spcPts val="4400"/>
              </a:lnSpc>
              <a:buNone/>
            </a:pPr>
            <a:r>
              <a:rPr lang="en-US" sz="4400" b="1" dirty="0">
                <a:solidFill>
                  <a:srgbClr val="CDE46A"/>
                </a:solidFill>
                <a:latin typeface="Manrope" pitchFamily="34" charset="0"/>
                <a:ea typeface="Manrope" pitchFamily="34" charset="-122"/>
                <a:cs typeface="Manrope" pitchFamily="34" charset="-120"/>
              </a:rPr>
              <a:t>₹5,778K</a:t>
            </a:r>
            <a:endParaRPr lang="en-US" sz="4400" dirty="0"/>
          </a:p>
        </p:txBody>
      </p:sp>
      <p:sp>
        <p:nvSpPr>
          <p:cNvPr id="7" name="Text 5"/>
          <p:cNvSpPr/>
          <p:nvPr/>
        </p:nvSpPr>
        <p:spPr>
          <a:xfrm>
            <a:off x="1117501" y="3286565"/>
            <a:ext cx="3868774" cy="274357"/>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E4EDE6"/>
                </a:solidFill>
                <a:latin typeface="DM Sans" pitchFamily="34" charset="0"/>
                <a:ea typeface="DM Sans" pitchFamily="34" charset="-122"/>
                <a:cs typeface="DM Sans" pitchFamily="34" charset="-120"/>
              </a:rPr>
              <a:t>from 2,803 devices across 16 departments</a:t>
            </a:r>
            <a:endParaRPr lang="en-US" sz="1400" dirty="0"/>
          </a:p>
        </p:txBody>
      </p:sp>
      <p:sp>
        <p:nvSpPr>
          <p:cNvPr id="8" name="Shape 6"/>
          <p:cNvSpPr/>
          <p:nvPr/>
        </p:nvSpPr>
        <p:spPr>
          <a:xfrm>
            <a:off x="5192637" y="2024962"/>
            <a:ext cx="2986936" cy="2322909"/>
          </a:xfrm>
          <a:prstGeom prst="roundRect">
            <a:avLst>
              <a:gd name="adj" fmla="val 6424"/>
            </a:avLst>
          </a:prstGeom>
          <a:solidFill>
            <a:srgbClr val="FFFDF7"/>
          </a:solidFill>
          <a:ln w="6350">
            <a:solidFill>
              <a:srgbClr val="D9DECF"/>
            </a:solidFill>
            <a:prstDash val="solid"/>
          </a:ln>
        </p:spPr>
      </p:sp>
      <p:sp>
        <p:nvSpPr>
          <p:cNvPr id="9" name="Text 7"/>
          <p:cNvSpPr/>
          <p:nvPr/>
        </p:nvSpPr>
        <p:spPr>
          <a:xfrm>
            <a:off x="5498078" y="2330407"/>
            <a:ext cx="2447337" cy="665456"/>
          </a:xfrm>
          <a:prstGeom prst="rect">
            <a:avLst/>
          </a:prstGeom>
          <a:noFill/>
          <a:ln/>
        </p:spPr>
        <p:txBody>
          <a:bodyPr wrap="square" lIns="0" tIns="0" rIns="0" bIns="0" rtlCol="0" anchor="t">
            <a:normAutofit/>
          </a:bodyPr>
          <a:lstStyle/>
          <a:p>
            <a:pPr algn="l" indent="0" marL="0">
              <a:lnSpc>
                <a:spcPts val="5040"/>
              </a:lnSpc>
              <a:buNone/>
            </a:pPr>
            <a:r>
              <a:rPr lang="en-US" sz="3600" b="1" dirty="0">
                <a:solidFill>
                  <a:srgbClr val="1E3F33"/>
                </a:solidFill>
                <a:latin typeface="Manrope" pitchFamily="34" charset="0"/>
                <a:ea typeface="Manrope" pitchFamily="34" charset="-122"/>
                <a:cs typeface="Manrope" pitchFamily="34" charset="-120"/>
              </a:rPr>
              <a:t>499</a:t>
            </a:r>
            <a:endParaRPr lang="en-US" sz="3600" dirty="0"/>
          </a:p>
        </p:txBody>
      </p:sp>
      <p:sp>
        <p:nvSpPr>
          <p:cNvPr id="10" name="Text 8"/>
          <p:cNvSpPr/>
          <p:nvPr/>
        </p:nvSpPr>
        <p:spPr>
          <a:xfrm>
            <a:off x="5498078" y="3046605"/>
            <a:ext cx="2447337" cy="772272"/>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A52"/>
                </a:solidFill>
                <a:latin typeface="DM Sans" pitchFamily="34" charset="0"/>
                <a:ea typeface="DM Sans" pitchFamily="34" charset="-122"/>
                <a:cs typeface="DM Sans" pitchFamily="34" charset="-120"/>
              </a:rPr>
              <a:t>to </a:t>
            </a:r>
            <a:r>
              <a:rPr lang="en-US" sz="1400" b="1" dirty="0">
                <a:solidFill>
                  <a:srgbClr val="4A5A52"/>
                </a:solidFill>
                <a:latin typeface="DM Sans" pitchFamily="34" charset="0"/>
                <a:ea typeface="DM Sans" pitchFamily="34" charset="-122"/>
                <a:cs typeface="DM Sans" pitchFamily="34" charset="-120"/>
              </a:rPr>
              <a:t>sell second-hand now</a:t>
            </a:r>
            <a:r>
              <a:rPr lang="en-US" sz="1400" dirty="0">
                <a:solidFill>
                  <a:srgbClr val="4A5A52"/>
                </a:solidFill>
                <a:latin typeface="DM Sans" pitchFamily="34" charset="0"/>
                <a:ea typeface="DM Sans" pitchFamily="34" charset="-122"/>
                <a:cs typeface="DM Sans" pitchFamily="34" charset="-120"/>
              </a:rPr>
              <a:t> (≈ ₹2,385K) — waiting a year loses ≈ ₹508K</a:t>
            </a:r>
            <a:endParaRPr lang="en-US" sz="1400" dirty="0"/>
          </a:p>
        </p:txBody>
      </p:sp>
      <p:sp>
        <p:nvSpPr>
          <p:cNvPr id="11" name="Shape 9"/>
          <p:cNvSpPr/>
          <p:nvPr/>
        </p:nvSpPr>
        <p:spPr>
          <a:xfrm>
            <a:off x="8389111" y="2024962"/>
            <a:ext cx="2986936" cy="2322909"/>
          </a:xfrm>
          <a:prstGeom prst="roundRect">
            <a:avLst>
              <a:gd name="adj" fmla="val 6424"/>
            </a:avLst>
          </a:prstGeom>
          <a:solidFill>
            <a:srgbClr val="FFFDF7"/>
          </a:solidFill>
          <a:ln w="6350">
            <a:solidFill>
              <a:srgbClr val="D9DECF"/>
            </a:solidFill>
            <a:prstDash val="solid"/>
          </a:ln>
        </p:spPr>
      </p:sp>
      <p:sp>
        <p:nvSpPr>
          <p:cNvPr id="12" name="Text 10"/>
          <p:cNvSpPr/>
          <p:nvPr/>
        </p:nvSpPr>
        <p:spPr>
          <a:xfrm>
            <a:off x="8694551" y="2330407"/>
            <a:ext cx="2447337" cy="665456"/>
          </a:xfrm>
          <a:prstGeom prst="rect">
            <a:avLst/>
          </a:prstGeom>
          <a:noFill/>
          <a:ln/>
        </p:spPr>
        <p:txBody>
          <a:bodyPr wrap="square" lIns="0" tIns="0" rIns="0" bIns="0" rtlCol="0" anchor="t">
            <a:normAutofit/>
          </a:bodyPr>
          <a:lstStyle/>
          <a:p>
            <a:pPr algn="l" indent="0" marL="0">
              <a:lnSpc>
                <a:spcPts val="5040"/>
              </a:lnSpc>
              <a:buNone/>
            </a:pPr>
            <a:r>
              <a:rPr lang="en-US" sz="3600" b="1" dirty="0">
                <a:solidFill>
                  <a:srgbClr val="1E3F33"/>
                </a:solidFill>
                <a:latin typeface="Manrope" pitchFamily="34" charset="0"/>
                <a:ea typeface="Manrope" pitchFamily="34" charset="-122"/>
                <a:cs typeface="Manrope" pitchFamily="34" charset="-120"/>
              </a:rPr>
              <a:t>723</a:t>
            </a:r>
            <a:endParaRPr lang="en-US" sz="3600" dirty="0"/>
          </a:p>
        </p:txBody>
      </p:sp>
      <p:sp>
        <p:nvSpPr>
          <p:cNvPr id="13" name="Text 11"/>
          <p:cNvSpPr/>
          <p:nvPr/>
        </p:nvSpPr>
        <p:spPr>
          <a:xfrm>
            <a:off x="8694551" y="3046605"/>
            <a:ext cx="2447337" cy="102123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A52"/>
                </a:solidFill>
                <a:latin typeface="DM Sans" pitchFamily="34" charset="0"/>
                <a:ea typeface="DM Sans" pitchFamily="34" charset="-122"/>
                <a:cs typeface="DM Sans" pitchFamily="34" charset="-120"/>
              </a:rPr>
              <a:t>with </a:t>
            </a:r>
            <a:r>
              <a:rPr lang="en-US" sz="1400" b="1" dirty="0">
                <a:solidFill>
                  <a:srgbClr val="4A5A52"/>
                </a:solidFill>
                <a:latin typeface="DM Sans" pitchFamily="34" charset="0"/>
                <a:ea typeface="DM Sans" pitchFamily="34" charset="-122"/>
                <a:cs typeface="DM Sans" pitchFamily="34" charset="-120"/>
              </a:rPr>
              <a:t>reusable parts</a:t>
            </a:r>
            <a:r>
              <a:rPr lang="en-US" sz="1400" dirty="0">
                <a:solidFill>
                  <a:srgbClr val="4A5A52"/>
                </a:solidFill>
                <a:latin typeface="DM Sans" pitchFamily="34" charset="0"/>
                <a:ea typeface="DM Sans" pitchFamily="34" charset="-122"/>
                <a:cs typeface="DM Sans" pitchFamily="34" charset="-120"/>
              </a:rPr>
              <a:t> — RAM, SSDs, power supplies, compressors — pulled before recycling</a:t>
            </a:r>
            <a:endParaRPr lang="en-US" sz="1400" dirty="0"/>
          </a:p>
        </p:txBody>
      </p:sp>
      <p:sp>
        <p:nvSpPr>
          <p:cNvPr id="14" name="Text 12"/>
          <p:cNvSpPr/>
          <p:nvPr/>
        </p:nvSpPr>
        <p:spPr>
          <a:xfrm>
            <a:off x="812750" y="4706640"/>
            <a:ext cx="10883467" cy="55882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A5A52"/>
                </a:solidFill>
                <a:latin typeface="DM Sans" pitchFamily="34" charset="0"/>
                <a:ea typeface="DM Sans" pitchFamily="34" charset="-122"/>
                <a:cs typeface="DM Sans" pitchFamily="34" charset="-120"/>
              </a:rPr>
              <a:t>Working devices are sold a year before end of life, when they are still worth the most; the rest goes only to a CPCB-registered recycler (E-Waste Rules, 2022).</a:t>
            </a:r>
            <a:endParaRPr lang="en-US" sz="1500" dirty="0"/>
          </a:p>
        </p:txBody>
      </p:sp>
      <p:sp>
        <p:nvSpPr>
          <p:cNvPr id="15" name="Text 13"/>
          <p:cNvSpPr/>
          <p:nvPr/>
        </p:nvSpPr>
        <p:spPr>
          <a:xfrm>
            <a:off x="812750" y="6238249"/>
            <a:ext cx="10883342" cy="238732"/>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A52"/>
                </a:solidFill>
                <a:latin typeface="DM Sans" pitchFamily="34" charset="0"/>
                <a:ea typeface="DM Sans" pitchFamily="34" charset="-122"/>
                <a:cs typeface="DM Sans" pitchFamily="34" charset="-120"/>
              </a:rPr>
              <a:t>Upload your own asset register (CSV) and the same rules apply</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5EE"/>
        </a:solidFill>
      </p:bgPr>
    </p:bg>
    <p:spTree>
      <p:nvGrpSpPr>
        <p:cNvPr id="1" name=""/>
        <p:cNvGrpSpPr/>
        <p:nvPr/>
      </p:nvGrpSpPr>
      <p:grpSpPr>
        <a:xfrm>
          <a:off x="0" y="0"/>
          <a:ext cx="0" cy="0"/>
          <a:chOff x="0" y="0"/>
          <a:chExt cx="0" cy="0"/>
        </a:xfrm>
      </p:grpSpPr>
      <p:sp>
        <p:nvSpPr>
          <p:cNvPr id="2" name="Text 0"/>
          <p:cNvSpPr/>
          <p:nvPr/>
        </p:nvSpPr>
        <p:spPr>
          <a:xfrm>
            <a:off x="812750" y="812750"/>
            <a:ext cx="10883467" cy="274357"/>
          </a:xfrm>
          <a:prstGeom prst="rect">
            <a:avLst/>
          </a:prstGeom>
          <a:noFill/>
          <a:ln/>
        </p:spPr>
        <p:txBody>
          <a:bodyPr wrap="square" lIns="0" tIns="0" rIns="0" bIns="0" rtlCol="0" anchor="t">
            <a:normAutofit/>
          </a:bodyPr>
          <a:lstStyle/>
          <a:p>
            <a:pPr algn="l" indent="0" marL="0">
              <a:lnSpc>
                <a:spcPts val="1960"/>
              </a:lnSpc>
              <a:buNone/>
            </a:pPr>
            <a:r>
              <a:rPr lang="en-US" sz="1400" b="1" spc="200" kern="0" dirty="0">
                <a:solidFill>
                  <a:srgbClr val="9A6B1F"/>
                </a:solidFill>
                <a:latin typeface="DM Sans" pitchFamily="34" charset="0"/>
                <a:ea typeface="DM Sans" pitchFamily="34" charset="-122"/>
                <a:cs typeface="DM Sans" pitchFamily="34" charset="-120"/>
              </a:rPr>
              <a:t>03 · RESULTS</a:t>
            </a:r>
            <a:endParaRPr lang="en-US" sz="1400" dirty="0"/>
          </a:p>
        </p:txBody>
      </p:sp>
      <p:sp>
        <p:nvSpPr>
          <p:cNvPr id="3" name="Text 1"/>
          <p:cNvSpPr/>
          <p:nvPr>
            <p:ph type="title"/>
          </p:nvPr>
        </p:nvSpPr>
        <p:spPr>
          <a:xfrm>
            <a:off x="812750" y="1163272"/>
            <a:ext cx="10883467" cy="919425"/>
          </a:xfrm>
          <a:prstGeom prst="rect">
            <a:avLst/>
          </a:prstGeom>
          <a:noFill/>
          <a:ln/>
        </p:spPr>
        <p:txBody>
          <a:bodyPr wrap="square" lIns="0" tIns="0" rIns="0" bIns="0" rtlCol="0" anchor="t">
            <a:normAutofit/>
          </a:bodyPr>
          <a:lstStyle/>
          <a:p>
            <a:pPr algn="l" indent="0" marL="0">
              <a:lnSpc>
                <a:spcPts val="3520"/>
              </a:lnSpc>
              <a:buNone/>
            </a:pPr>
            <a:r>
              <a:rPr lang="en-US" sz="3200" b="1" i="0" spc="-50" kern="0" dirty="0">
                <a:solidFill>
                  <a:srgbClr val="1E3F33"/>
                </a:solidFill>
                <a:latin typeface="Manrope" pitchFamily="34" charset="0"/>
                <a:ea typeface="Manrope" pitchFamily="34" charset="-122"/>
                <a:cs typeface="Manrope" pitchFamily="34" charset="-120"/>
              </a:rPr>
              <a:t>What GreenLedger found on our 16-department campus</a:t>
            </a:r>
            <a:endParaRPr lang="en-US" sz="3200" dirty="0"/>
          </a:p>
        </p:txBody>
      </p:sp>
      <p:sp>
        <p:nvSpPr>
          <p:cNvPr id="4" name="Shape 2"/>
          <p:cNvSpPr/>
          <p:nvPr/>
        </p:nvSpPr>
        <p:spPr>
          <a:xfrm>
            <a:off x="812750" y="2362051"/>
            <a:ext cx="3403647" cy="1358729"/>
          </a:xfrm>
          <a:prstGeom prst="roundRect">
            <a:avLst>
              <a:gd name="adj" fmla="val 9347"/>
            </a:avLst>
          </a:prstGeom>
          <a:solidFill>
            <a:srgbClr val="1E3F33"/>
          </a:solidFill>
          <a:ln/>
        </p:spPr>
      </p:sp>
      <p:sp>
        <p:nvSpPr>
          <p:cNvPr id="5" name="Text 3"/>
          <p:cNvSpPr/>
          <p:nvPr/>
        </p:nvSpPr>
        <p:spPr>
          <a:xfrm>
            <a:off x="1066719" y="2616020"/>
            <a:ext cx="2982579" cy="594325"/>
          </a:xfrm>
          <a:prstGeom prst="rect">
            <a:avLst/>
          </a:prstGeom>
          <a:noFill/>
          <a:ln/>
        </p:spPr>
        <p:txBody>
          <a:bodyPr wrap="square" lIns="0" tIns="0" rIns="0" bIns="0" rtlCol="0" anchor="t">
            <a:normAutofit/>
          </a:bodyPr>
          <a:lstStyle/>
          <a:p>
            <a:pPr algn="l" indent="0" marL="0">
              <a:lnSpc>
                <a:spcPts val="4480"/>
              </a:lnSpc>
              <a:buNone/>
            </a:pPr>
            <a:r>
              <a:rPr lang="en-US" sz="3200" b="1" dirty="0">
                <a:solidFill>
                  <a:srgbClr val="CDE46A"/>
                </a:solidFill>
                <a:latin typeface="Manrope" pitchFamily="34" charset="0"/>
                <a:ea typeface="Manrope" pitchFamily="34" charset="-122"/>
                <a:cs typeface="Manrope" pitchFamily="34" charset="-120"/>
              </a:rPr>
              <a:t>26,551 kWh</a:t>
            </a:r>
            <a:endParaRPr lang="en-US" sz="3200" dirty="0"/>
          </a:p>
        </p:txBody>
      </p:sp>
      <p:sp>
        <p:nvSpPr>
          <p:cNvPr id="6" name="Text 4"/>
          <p:cNvSpPr/>
          <p:nvPr/>
        </p:nvSpPr>
        <p:spPr>
          <a:xfrm>
            <a:off x="1066719" y="3235728"/>
            <a:ext cx="2982579" cy="256484"/>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E4EDE6"/>
                </a:solidFill>
                <a:latin typeface="DM Sans" pitchFamily="34" charset="0"/>
                <a:ea typeface="DM Sans" pitchFamily="34" charset="-122"/>
                <a:cs typeface="DM Sans" pitchFamily="34" charset="-120"/>
              </a:rPr>
              <a:t>energy saved last month (verified)</a:t>
            </a:r>
            <a:endParaRPr lang="en-US" sz="1300" dirty="0"/>
          </a:p>
        </p:txBody>
      </p:sp>
      <p:sp>
        <p:nvSpPr>
          <p:cNvPr id="7" name="Shape 5"/>
          <p:cNvSpPr/>
          <p:nvPr/>
        </p:nvSpPr>
        <p:spPr>
          <a:xfrm>
            <a:off x="4394163" y="2362051"/>
            <a:ext cx="3403647" cy="1358729"/>
          </a:xfrm>
          <a:prstGeom prst="roundRect">
            <a:avLst>
              <a:gd name="adj" fmla="val 9347"/>
            </a:avLst>
          </a:prstGeom>
          <a:solidFill>
            <a:srgbClr val="1E3F33"/>
          </a:solidFill>
          <a:ln/>
        </p:spPr>
      </p:sp>
      <p:sp>
        <p:nvSpPr>
          <p:cNvPr id="8" name="Text 6"/>
          <p:cNvSpPr/>
          <p:nvPr/>
        </p:nvSpPr>
        <p:spPr>
          <a:xfrm>
            <a:off x="4648132" y="2616020"/>
            <a:ext cx="2982579" cy="594325"/>
          </a:xfrm>
          <a:prstGeom prst="rect">
            <a:avLst/>
          </a:prstGeom>
          <a:noFill/>
          <a:ln/>
        </p:spPr>
        <p:txBody>
          <a:bodyPr wrap="square" lIns="0" tIns="0" rIns="0" bIns="0" rtlCol="0" anchor="t">
            <a:normAutofit/>
          </a:bodyPr>
          <a:lstStyle/>
          <a:p>
            <a:pPr algn="l" indent="0" marL="0">
              <a:lnSpc>
                <a:spcPts val="4480"/>
              </a:lnSpc>
              <a:buNone/>
            </a:pPr>
            <a:r>
              <a:rPr lang="en-US" sz="3200" b="1" dirty="0">
                <a:solidFill>
                  <a:srgbClr val="CDE46A"/>
                </a:solidFill>
                <a:latin typeface="Manrope" pitchFamily="34" charset="0"/>
                <a:ea typeface="Manrope" pitchFamily="34" charset="-122"/>
                <a:cs typeface="Manrope" pitchFamily="34" charset="-120"/>
              </a:rPr>
              <a:t>₹226K</a:t>
            </a:r>
            <a:endParaRPr lang="en-US" sz="3200" dirty="0"/>
          </a:p>
        </p:txBody>
      </p:sp>
      <p:sp>
        <p:nvSpPr>
          <p:cNvPr id="9" name="Text 7"/>
          <p:cNvSpPr/>
          <p:nvPr/>
        </p:nvSpPr>
        <p:spPr>
          <a:xfrm>
            <a:off x="4648132" y="3235728"/>
            <a:ext cx="2982579" cy="256484"/>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E4EDE6"/>
                </a:solidFill>
                <a:latin typeface="DM Sans" pitchFamily="34" charset="0"/>
                <a:ea typeface="DM Sans" pitchFamily="34" charset="-122"/>
                <a:cs typeface="DM Sans" pitchFamily="34" charset="-120"/>
              </a:rPr>
              <a:t>money saved last month</a:t>
            </a:r>
            <a:endParaRPr lang="en-US" sz="1300" dirty="0"/>
          </a:p>
        </p:txBody>
      </p:sp>
      <p:sp>
        <p:nvSpPr>
          <p:cNvPr id="10" name="Shape 8"/>
          <p:cNvSpPr/>
          <p:nvPr/>
        </p:nvSpPr>
        <p:spPr>
          <a:xfrm>
            <a:off x="7975576" y="2362051"/>
            <a:ext cx="3403647" cy="1358729"/>
          </a:xfrm>
          <a:prstGeom prst="roundRect">
            <a:avLst>
              <a:gd name="adj" fmla="val 9347"/>
            </a:avLst>
          </a:prstGeom>
          <a:solidFill>
            <a:srgbClr val="1E3F33"/>
          </a:solidFill>
          <a:ln/>
        </p:spPr>
      </p:sp>
      <p:sp>
        <p:nvSpPr>
          <p:cNvPr id="11" name="Text 9"/>
          <p:cNvSpPr/>
          <p:nvPr/>
        </p:nvSpPr>
        <p:spPr>
          <a:xfrm>
            <a:off x="8229545" y="2616020"/>
            <a:ext cx="2982579" cy="594325"/>
          </a:xfrm>
          <a:prstGeom prst="rect">
            <a:avLst/>
          </a:prstGeom>
          <a:noFill/>
          <a:ln/>
        </p:spPr>
        <p:txBody>
          <a:bodyPr wrap="square" lIns="0" tIns="0" rIns="0" bIns="0" rtlCol="0" anchor="t">
            <a:normAutofit/>
          </a:bodyPr>
          <a:lstStyle/>
          <a:p>
            <a:pPr algn="l" indent="0" marL="0">
              <a:lnSpc>
                <a:spcPts val="4480"/>
              </a:lnSpc>
              <a:buNone/>
            </a:pPr>
            <a:r>
              <a:rPr lang="en-US" sz="3200" b="1" dirty="0">
                <a:solidFill>
                  <a:srgbClr val="CDE46A"/>
                </a:solidFill>
                <a:latin typeface="Manrope" pitchFamily="34" charset="0"/>
                <a:ea typeface="Manrope" pitchFamily="34" charset="-122"/>
                <a:cs typeface="Manrope" pitchFamily="34" charset="-120"/>
              </a:rPr>
              <a:t>18.9 t</a:t>
            </a:r>
            <a:endParaRPr lang="en-US" sz="3200" dirty="0"/>
          </a:p>
        </p:txBody>
      </p:sp>
      <p:sp>
        <p:nvSpPr>
          <p:cNvPr id="12" name="Text 10"/>
          <p:cNvSpPr/>
          <p:nvPr/>
        </p:nvSpPr>
        <p:spPr>
          <a:xfrm>
            <a:off x="8229545" y="3235728"/>
            <a:ext cx="2982579" cy="256484"/>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E4EDE6"/>
                </a:solidFill>
                <a:latin typeface="DM Sans" pitchFamily="34" charset="0"/>
                <a:ea typeface="DM Sans" pitchFamily="34" charset="-122"/>
                <a:cs typeface="DM Sans" pitchFamily="34" charset="-120"/>
              </a:rPr>
              <a:t>CO₂ avoided last month</a:t>
            </a:r>
            <a:endParaRPr lang="en-US" sz="1300" dirty="0"/>
          </a:p>
        </p:txBody>
      </p:sp>
      <p:sp>
        <p:nvSpPr>
          <p:cNvPr id="13" name="Shape 11"/>
          <p:cNvSpPr/>
          <p:nvPr/>
        </p:nvSpPr>
        <p:spPr>
          <a:xfrm>
            <a:off x="815925" y="3901722"/>
            <a:ext cx="3397297" cy="1591193"/>
          </a:xfrm>
          <a:prstGeom prst="roundRect">
            <a:avLst>
              <a:gd name="adj" fmla="val 7782"/>
            </a:avLst>
          </a:prstGeom>
          <a:solidFill>
            <a:srgbClr val="FFFDF7"/>
          </a:solidFill>
          <a:ln w="6350">
            <a:solidFill>
              <a:srgbClr val="D9DECF"/>
            </a:solidFill>
            <a:prstDash val="solid"/>
          </a:ln>
        </p:spPr>
      </p:sp>
      <p:sp>
        <p:nvSpPr>
          <p:cNvPr id="14" name="Text 12"/>
          <p:cNvSpPr/>
          <p:nvPr/>
        </p:nvSpPr>
        <p:spPr>
          <a:xfrm>
            <a:off x="1070584" y="4156379"/>
            <a:ext cx="2974619" cy="594325"/>
          </a:xfrm>
          <a:prstGeom prst="rect">
            <a:avLst/>
          </a:prstGeom>
          <a:noFill/>
          <a:ln/>
        </p:spPr>
        <p:txBody>
          <a:bodyPr wrap="square" lIns="0" tIns="0" rIns="0" bIns="0" rtlCol="0" anchor="t">
            <a:normAutofit/>
          </a:bodyPr>
          <a:lstStyle/>
          <a:p>
            <a:pPr algn="l" indent="0" marL="0">
              <a:lnSpc>
                <a:spcPts val="4480"/>
              </a:lnSpc>
              <a:buNone/>
            </a:pPr>
            <a:r>
              <a:rPr lang="en-US" sz="3200" b="1" dirty="0">
                <a:solidFill>
                  <a:srgbClr val="1E3F33"/>
                </a:solidFill>
                <a:latin typeface="Manrope" pitchFamily="34" charset="0"/>
                <a:ea typeface="Manrope" pitchFamily="34" charset="-122"/>
                <a:cs typeface="Manrope" pitchFamily="34" charset="-120"/>
              </a:rPr>
              <a:t>7 of 9</a:t>
            </a:r>
            <a:endParaRPr lang="en-US" sz="3200" dirty="0"/>
          </a:p>
        </p:txBody>
      </p:sp>
      <p:sp>
        <p:nvSpPr>
          <p:cNvPr id="15" name="Text 13"/>
          <p:cNvSpPr/>
          <p:nvPr/>
        </p:nvSpPr>
        <p:spPr>
          <a:xfrm>
            <a:off x="1070584" y="4776087"/>
            <a:ext cx="2974619" cy="487568"/>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A52"/>
                </a:solidFill>
                <a:latin typeface="DM Sans" pitchFamily="34" charset="0"/>
                <a:ea typeface="DM Sans" pitchFamily="34" charset="-122"/>
                <a:cs typeface="DM Sans" pitchFamily="34" charset="-120"/>
              </a:rPr>
              <a:t>changes verified — the other 2 correctly “not proven”</a:t>
            </a:r>
            <a:endParaRPr lang="en-US" sz="1300" dirty="0"/>
          </a:p>
        </p:txBody>
      </p:sp>
      <p:sp>
        <p:nvSpPr>
          <p:cNvPr id="16" name="Shape 14"/>
          <p:cNvSpPr/>
          <p:nvPr/>
        </p:nvSpPr>
        <p:spPr>
          <a:xfrm>
            <a:off x="4397338" y="3901722"/>
            <a:ext cx="3397297" cy="1591193"/>
          </a:xfrm>
          <a:prstGeom prst="roundRect">
            <a:avLst>
              <a:gd name="adj" fmla="val 7782"/>
            </a:avLst>
          </a:prstGeom>
          <a:solidFill>
            <a:srgbClr val="FFFDF7"/>
          </a:solidFill>
          <a:ln w="6350">
            <a:solidFill>
              <a:srgbClr val="D9DECF"/>
            </a:solidFill>
            <a:prstDash val="solid"/>
          </a:ln>
        </p:spPr>
      </p:sp>
      <p:sp>
        <p:nvSpPr>
          <p:cNvPr id="17" name="Text 15"/>
          <p:cNvSpPr/>
          <p:nvPr/>
        </p:nvSpPr>
        <p:spPr>
          <a:xfrm>
            <a:off x="4651997" y="4156379"/>
            <a:ext cx="2974619" cy="594325"/>
          </a:xfrm>
          <a:prstGeom prst="rect">
            <a:avLst/>
          </a:prstGeom>
          <a:noFill/>
          <a:ln/>
        </p:spPr>
        <p:txBody>
          <a:bodyPr wrap="square" lIns="0" tIns="0" rIns="0" bIns="0" rtlCol="0" anchor="t">
            <a:normAutofit/>
          </a:bodyPr>
          <a:lstStyle/>
          <a:p>
            <a:pPr algn="l" indent="0" marL="0">
              <a:lnSpc>
                <a:spcPts val="4480"/>
              </a:lnSpc>
              <a:buNone/>
            </a:pPr>
            <a:r>
              <a:rPr lang="en-US" sz="3200" b="1" dirty="0">
                <a:solidFill>
                  <a:srgbClr val="1E3F33"/>
                </a:solidFill>
                <a:latin typeface="Manrope" pitchFamily="34" charset="0"/>
                <a:ea typeface="Manrope" pitchFamily="34" charset="-122"/>
                <a:cs typeface="Manrope" pitchFamily="34" charset="-120"/>
              </a:rPr>
              <a:t>6 of 16</a:t>
            </a:r>
            <a:endParaRPr lang="en-US" sz="3200" dirty="0"/>
          </a:p>
        </p:txBody>
      </p:sp>
      <p:sp>
        <p:nvSpPr>
          <p:cNvPr id="18" name="Text 16"/>
          <p:cNvSpPr/>
          <p:nvPr/>
        </p:nvSpPr>
        <p:spPr>
          <a:xfrm>
            <a:off x="4651997" y="4776087"/>
            <a:ext cx="2974619" cy="487568"/>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A52"/>
                </a:solidFill>
                <a:latin typeface="DM Sans" pitchFamily="34" charset="0"/>
                <a:ea typeface="DM Sans" pitchFamily="34" charset="-122"/>
                <a:cs typeface="DM Sans" pitchFamily="34" charset="-120"/>
              </a:rPr>
              <a:t>departments flagged “high use”, each with one fix</a:t>
            </a:r>
            <a:endParaRPr lang="en-US" sz="1300" dirty="0"/>
          </a:p>
        </p:txBody>
      </p:sp>
      <p:sp>
        <p:nvSpPr>
          <p:cNvPr id="19" name="Shape 17"/>
          <p:cNvSpPr/>
          <p:nvPr/>
        </p:nvSpPr>
        <p:spPr>
          <a:xfrm>
            <a:off x="7978751" y="3901722"/>
            <a:ext cx="3397297" cy="1591193"/>
          </a:xfrm>
          <a:prstGeom prst="roundRect">
            <a:avLst>
              <a:gd name="adj" fmla="val 7782"/>
            </a:avLst>
          </a:prstGeom>
          <a:solidFill>
            <a:srgbClr val="FFFDF7"/>
          </a:solidFill>
          <a:ln w="6350">
            <a:solidFill>
              <a:srgbClr val="D9DECF"/>
            </a:solidFill>
            <a:prstDash val="solid"/>
          </a:ln>
        </p:spPr>
      </p:sp>
      <p:sp>
        <p:nvSpPr>
          <p:cNvPr id="20" name="Text 18"/>
          <p:cNvSpPr/>
          <p:nvPr/>
        </p:nvSpPr>
        <p:spPr>
          <a:xfrm>
            <a:off x="8233410" y="4156379"/>
            <a:ext cx="2974619" cy="594325"/>
          </a:xfrm>
          <a:prstGeom prst="rect">
            <a:avLst/>
          </a:prstGeom>
          <a:noFill/>
          <a:ln/>
        </p:spPr>
        <p:txBody>
          <a:bodyPr wrap="square" lIns="0" tIns="0" rIns="0" bIns="0" rtlCol="0" anchor="t">
            <a:normAutofit/>
          </a:bodyPr>
          <a:lstStyle/>
          <a:p>
            <a:pPr algn="l" indent="0" marL="0">
              <a:lnSpc>
                <a:spcPts val="4480"/>
              </a:lnSpc>
              <a:buNone/>
            </a:pPr>
            <a:r>
              <a:rPr lang="en-US" sz="3200" b="1" dirty="0">
                <a:solidFill>
                  <a:srgbClr val="1E3F33"/>
                </a:solidFill>
                <a:latin typeface="Manrope" pitchFamily="34" charset="0"/>
                <a:ea typeface="Manrope" pitchFamily="34" charset="-122"/>
                <a:cs typeface="Manrope" pitchFamily="34" charset="-120"/>
              </a:rPr>
              <a:t>2,803</a:t>
            </a:r>
            <a:endParaRPr lang="en-US" sz="3200" dirty="0"/>
          </a:p>
        </p:txBody>
      </p:sp>
      <p:sp>
        <p:nvSpPr>
          <p:cNvPr id="21" name="Text 19"/>
          <p:cNvSpPr/>
          <p:nvPr/>
        </p:nvSpPr>
        <p:spPr>
          <a:xfrm>
            <a:off x="8233410" y="4776087"/>
            <a:ext cx="2974619" cy="487568"/>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A52"/>
                </a:solidFill>
                <a:latin typeface="DM Sans" pitchFamily="34" charset="0"/>
                <a:ea typeface="DM Sans" pitchFamily="34" charset="-122"/>
                <a:cs typeface="DM Sans" pitchFamily="34" charset="-120"/>
              </a:rPr>
              <a:t>devices given an e-waste decision · ₹5,778K recoverable</a:t>
            </a:r>
            <a:endParaRPr lang="en-US" sz="1300" dirty="0"/>
          </a:p>
        </p:txBody>
      </p:sp>
      <p:sp>
        <p:nvSpPr>
          <p:cNvPr id="22" name="Text 20"/>
          <p:cNvSpPr/>
          <p:nvPr/>
        </p:nvSpPr>
        <p:spPr>
          <a:xfrm>
            <a:off x="812750" y="6238249"/>
            <a:ext cx="10883342" cy="238732"/>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A52"/>
                </a:solidFill>
                <a:latin typeface="DM Sans" pitchFamily="34" charset="0"/>
                <a:ea typeface="DM Sans" pitchFamily="34" charset="-122"/>
                <a:cs typeface="DM Sans" pitchFamily="34" charset="-120"/>
              </a:rPr>
              <a:t>Since the first change: 228.6 MWh and ₹1,943K saved · September 2026 · tariff ₹8.5/kWh · India grid 0.71 kg CO₂/kWh</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E3F33"/>
        </a:solidFill>
      </p:bgPr>
    </p:bg>
    <p:spTree>
      <p:nvGrpSpPr>
        <p:cNvPr id="1" name=""/>
        <p:cNvGrpSpPr/>
        <p:nvPr/>
      </p:nvGrpSpPr>
      <p:grpSpPr>
        <a:xfrm>
          <a:off x="0" y="0"/>
          <a:ext cx="0" cy="0"/>
          <a:chOff x="0" y="0"/>
          <a:chExt cx="0" cy="0"/>
        </a:xfrm>
      </p:grpSpPr>
      <p:sp>
        <p:nvSpPr>
          <p:cNvPr id="2" name="Text 0"/>
          <p:cNvSpPr/>
          <p:nvPr/>
        </p:nvSpPr>
        <p:spPr>
          <a:xfrm>
            <a:off x="812750" y="812750"/>
            <a:ext cx="10883467" cy="274357"/>
          </a:xfrm>
          <a:prstGeom prst="rect">
            <a:avLst/>
          </a:prstGeom>
          <a:noFill/>
          <a:ln/>
        </p:spPr>
        <p:txBody>
          <a:bodyPr wrap="square" lIns="0" tIns="0" rIns="0" bIns="0" rtlCol="0" anchor="t">
            <a:normAutofit/>
          </a:bodyPr>
          <a:lstStyle/>
          <a:p>
            <a:pPr algn="l" indent="0" marL="0">
              <a:lnSpc>
                <a:spcPts val="1960"/>
              </a:lnSpc>
              <a:buNone/>
            </a:pPr>
            <a:r>
              <a:rPr lang="en-US" sz="1400" b="1" spc="200" kern="0" dirty="0">
                <a:solidFill>
                  <a:srgbClr val="CDE46A"/>
                </a:solidFill>
                <a:latin typeface="DM Sans" pitchFamily="34" charset="0"/>
                <a:ea typeface="DM Sans" pitchFamily="34" charset="-122"/>
                <a:cs typeface="DM Sans" pitchFamily="34" charset="-120"/>
              </a:rPr>
              <a:t>03 · RESULTS · CAN YOU TRUST IT?</a:t>
            </a:r>
            <a:endParaRPr lang="en-US" sz="1400" dirty="0"/>
          </a:p>
        </p:txBody>
      </p:sp>
      <p:sp>
        <p:nvSpPr>
          <p:cNvPr id="3" name="Text 1"/>
          <p:cNvSpPr/>
          <p:nvPr>
            <p:ph type="title"/>
          </p:nvPr>
        </p:nvSpPr>
        <p:spPr>
          <a:xfrm>
            <a:off x="812750" y="1163272"/>
            <a:ext cx="10883467" cy="528327"/>
          </a:xfrm>
          <a:prstGeom prst="rect">
            <a:avLst/>
          </a:prstGeom>
          <a:noFill/>
          <a:ln/>
        </p:spPr>
        <p:txBody>
          <a:bodyPr wrap="square" lIns="0" tIns="0" rIns="0" bIns="0" rtlCol="0" anchor="t">
            <a:normAutofit/>
          </a:bodyPr>
          <a:lstStyle/>
          <a:p>
            <a:pPr algn="l" indent="0" marL="0">
              <a:lnSpc>
                <a:spcPts val="3960"/>
              </a:lnSpc>
              <a:buNone/>
            </a:pPr>
            <a:r>
              <a:rPr lang="en-US" sz="3600" b="1" i="0" spc="-50" kern="0" dirty="0">
                <a:solidFill>
                  <a:srgbClr val="F7F5EE"/>
                </a:solidFill>
                <a:latin typeface="Manrope" pitchFamily="34" charset="0"/>
                <a:ea typeface="Manrope" pitchFamily="34" charset="-122"/>
                <a:cs typeface="Manrope" pitchFamily="34" charset="-120"/>
              </a:rPr>
              <a:t>We tested the method before trusting it</a:t>
            </a:r>
            <a:endParaRPr lang="en-US" sz="3600" dirty="0"/>
          </a:p>
        </p:txBody>
      </p:sp>
      <p:sp>
        <p:nvSpPr>
          <p:cNvPr id="4" name="Shape 2"/>
          <p:cNvSpPr/>
          <p:nvPr/>
        </p:nvSpPr>
        <p:spPr>
          <a:xfrm>
            <a:off x="812750" y="2021793"/>
            <a:ext cx="3386679" cy="3820166"/>
          </a:xfrm>
          <a:prstGeom prst="roundRect">
            <a:avLst>
              <a:gd name="adj" fmla="val 4500"/>
            </a:avLst>
          </a:prstGeom>
          <a:solidFill>
            <a:srgbClr val="26493C"/>
          </a:solidFill>
          <a:ln/>
        </p:spPr>
      </p:sp>
      <p:sp>
        <p:nvSpPr>
          <p:cNvPr id="5" name="Text 3"/>
          <p:cNvSpPr/>
          <p:nvPr/>
        </p:nvSpPr>
        <p:spPr>
          <a:xfrm>
            <a:off x="1117501" y="2326543"/>
            <a:ext cx="2860493" cy="452063"/>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FD3C6"/>
                </a:solidFill>
                <a:latin typeface="DM Sans" pitchFamily="34" charset="0"/>
                <a:ea typeface="DM Sans" pitchFamily="34" charset="-122"/>
                <a:cs typeface="DM Sans" pitchFamily="34" charset="-120"/>
              </a:rPr>
              <a:t>REAL METERS · PLACEBO MONTHS</a:t>
            </a:r>
            <a:endParaRPr lang="en-US" sz="1200" dirty="0"/>
          </a:p>
        </p:txBody>
      </p:sp>
      <p:sp>
        <p:nvSpPr>
          <p:cNvPr id="6" name="Text 4"/>
          <p:cNvSpPr/>
          <p:nvPr/>
        </p:nvSpPr>
        <p:spPr>
          <a:xfrm>
            <a:off x="1117501" y="2854771"/>
            <a:ext cx="2860493" cy="787428"/>
          </a:xfrm>
          <a:prstGeom prst="rect">
            <a:avLst/>
          </a:prstGeom>
          <a:noFill/>
          <a:ln/>
        </p:spPr>
        <p:txBody>
          <a:bodyPr wrap="square" lIns="0" tIns="0" rIns="0" bIns="0" rtlCol="0" anchor="t">
            <a:normAutofit/>
          </a:bodyPr>
          <a:lstStyle/>
          <a:p>
            <a:pPr algn="l" indent="0" marL="0">
              <a:lnSpc>
                <a:spcPts val="6000"/>
              </a:lnSpc>
              <a:buNone/>
            </a:pPr>
            <a:r>
              <a:rPr lang="en-US" sz="6000" b="1" dirty="0">
                <a:solidFill>
                  <a:srgbClr val="CDE46A"/>
                </a:solidFill>
                <a:latin typeface="Manrope" pitchFamily="34" charset="0"/>
                <a:ea typeface="Manrope" pitchFamily="34" charset="-122"/>
                <a:cs typeface="Manrope" pitchFamily="34" charset="-120"/>
              </a:rPr>
              <a:t>1 / 55</a:t>
            </a:r>
            <a:endParaRPr lang="en-US" sz="6000" dirty="0"/>
          </a:p>
        </p:txBody>
      </p:sp>
      <p:sp>
        <p:nvSpPr>
          <p:cNvPr id="7" name="Text 5"/>
          <p:cNvSpPr/>
          <p:nvPr/>
        </p:nvSpPr>
        <p:spPr>
          <a:xfrm>
            <a:off x="1117501" y="3718359"/>
            <a:ext cx="2860493" cy="82553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E4EDE6"/>
                </a:solidFill>
                <a:latin typeface="DM Sans" pitchFamily="34" charset="0"/>
                <a:ea typeface="DM Sans" pitchFamily="34" charset="-122"/>
                <a:cs typeface="DM Sans" pitchFamily="34" charset="-120"/>
              </a:rPr>
              <a:t>false savings certified by GreenLedger — against </a:t>
            </a:r>
            <a:r>
              <a:rPr lang="en-US" sz="1500" b="1" dirty="0">
                <a:solidFill>
                  <a:srgbClr val="E4EDE6"/>
                </a:solidFill>
                <a:latin typeface="DM Sans" pitchFamily="34" charset="0"/>
                <a:ea typeface="DM Sans" pitchFamily="34" charset="-122"/>
                <a:cs typeface="DM Sans" pitchFamily="34" charset="-120"/>
              </a:rPr>
              <a:t>25 / 55</a:t>
            </a:r>
            <a:r>
              <a:rPr lang="en-US" sz="1500" dirty="0">
                <a:solidFill>
                  <a:srgbClr val="E4EDE6"/>
                </a:solidFill>
                <a:latin typeface="DM Sans" pitchFamily="34" charset="0"/>
                <a:ea typeface="DM Sans" pitchFamily="34" charset="-122"/>
                <a:cs typeface="DM Sans" pitchFamily="34" charset="-120"/>
              </a:rPr>
              <a:t> for a simple dashboard.</a:t>
            </a:r>
            <a:endParaRPr lang="en-US" sz="1500" dirty="0"/>
          </a:p>
        </p:txBody>
      </p:sp>
      <p:sp>
        <p:nvSpPr>
          <p:cNvPr id="8" name="Shape 6"/>
          <p:cNvSpPr/>
          <p:nvPr/>
        </p:nvSpPr>
        <p:spPr>
          <a:xfrm>
            <a:off x="4402617" y="2021793"/>
            <a:ext cx="3386739" cy="3820166"/>
          </a:xfrm>
          <a:prstGeom prst="roundRect">
            <a:avLst>
              <a:gd name="adj" fmla="val 4500"/>
            </a:avLst>
          </a:prstGeom>
          <a:solidFill>
            <a:srgbClr val="26493C"/>
          </a:solidFill>
          <a:ln/>
        </p:spPr>
      </p:sp>
      <p:sp>
        <p:nvSpPr>
          <p:cNvPr id="9" name="Text 7"/>
          <p:cNvSpPr/>
          <p:nvPr/>
        </p:nvSpPr>
        <p:spPr>
          <a:xfrm>
            <a:off x="4707368" y="2326543"/>
            <a:ext cx="3081988" cy="238732"/>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FD3C6"/>
                </a:solidFill>
                <a:latin typeface="DM Sans" pitchFamily="34" charset="0"/>
                <a:ea typeface="DM Sans" pitchFamily="34" charset="-122"/>
                <a:cs typeface="DM Sans" pitchFamily="34" charset="-120"/>
              </a:rPr>
              <a:t>TEST CAMPUS · KNOWN TRUTH</a:t>
            </a:r>
            <a:endParaRPr lang="en-US" sz="1200" dirty="0"/>
          </a:p>
        </p:txBody>
      </p:sp>
      <p:sp>
        <p:nvSpPr>
          <p:cNvPr id="10" name="Text 8"/>
          <p:cNvSpPr/>
          <p:nvPr/>
        </p:nvSpPr>
        <p:spPr>
          <a:xfrm>
            <a:off x="4707368" y="2641439"/>
            <a:ext cx="2860555" cy="787428"/>
          </a:xfrm>
          <a:prstGeom prst="rect">
            <a:avLst/>
          </a:prstGeom>
          <a:noFill/>
          <a:ln/>
        </p:spPr>
        <p:txBody>
          <a:bodyPr wrap="square" lIns="0" tIns="0" rIns="0" bIns="0" rtlCol="0" anchor="t">
            <a:normAutofit/>
          </a:bodyPr>
          <a:lstStyle/>
          <a:p>
            <a:pPr algn="l" indent="0" marL="0">
              <a:lnSpc>
                <a:spcPts val="6000"/>
              </a:lnSpc>
              <a:buNone/>
            </a:pPr>
            <a:r>
              <a:rPr lang="en-US" sz="6000" b="1" dirty="0">
                <a:solidFill>
                  <a:srgbClr val="CDE46A"/>
                </a:solidFill>
                <a:latin typeface="Manrope" pitchFamily="34" charset="0"/>
                <a:ea typeface="Manrope" pitchFamily="34" charset="-122"/>
                <a:cs typeface="Manrope" pitchFamily="34" charset="-120"/>
              </a:rPr>
              <a:t>9 / 9</a:t>
            </a:r>
            <a:endParaRPr lang="en-US" sz="6000" dirty="0"/>
          </a:p>
        </p:txBody>
      </p:sp>
      <p:sp>
        <p:nvSpPr>
          <p:cNvPr id="11" name="Text 9"/>
          <p:cNvSpPr/>
          <p:nvPr/>
        </p:nvSpPr>
        <p:spPr>
          <a:xfrm>
            <a:off x="4707368" y="3505033"/>
            <a:ext cx="2860555" cy="109224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E4EDE6"/>
                </a:solidFill>
                <a:latin typeface="DM Sans" pitchFamily="34" charset="0"/>
                <a:ea typeface="DM Sans" pitchFamily="34" charset="-122"/>
                <a:cs typeface="DM Sans" pitchFamily="34" charset="-120"/>
              </a:rPr>
              <a:t>actions where the true effect fell inside our 95% range — and the count never exceeded the truth.</a:t>
            </a:r>
            <a:endParaRPr lang="en-US" sz="1500" dirty="0"/>
          </a:p>
        </p:txBody>
      </p:sp>
      <p:sp>
        <p:nvSpPr>
          <p:cNvPr id="12" name="Shape 10"/>
          <p:cNvSpPr/>
          <p:nvPr/>
        </p:nvSpPr>
        <p:spPr>
          <a:xfrm>
            <a:off x="7992544" y="2021793"/>
            <a:ext cx="3386679" cy="3820166"/>
          </a:xfrm>
          <a:prstGeom prst="roundRect">
            <a:avLst>
              <a:gd name="adj" fmla="val 4500"/>
            </a:avLst>
          </a:prstGeom>
          <a:solidFill>
            <a:srgbClr val="26493C"/>
          </a:solidFill>
          <a:ln/>
        </p:spPr>
      </p:sp>
      <p:sp>
        <p:nvSpPr>
          <p:cNvPr id="13" name="Text 11"/>
          <p:cNvSpPr/>
          <p:nvPr/>
        </p:nvSpPr>
        <p:spPr>
          <a:xfrm>
            <a:off x="8297294" y="2326543"/>
            <a:ext cx="2860493" cy="238732"/>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FD3C6"/>
                </a:solidFill>
                <a:latin typeface="DM Sans" pitchFamily="34" charset="0"/>
                <a:ea typeface="DM Sans" pitchFamily="34" charset="-122"/>
                <a:cs typeface="DM Sans" pitchFamily="34" charset="-120"/>
              </a:rPr>
              <a:t>REAL EVENT · GROUND TRUTH</a:t>
            </a:r>
            <a:endParaRPr lang="en-US" sz="1200" dirty="0"/>
          </a:p>
        </p:txBody>
      </p:sp>
      <p:sp>
        <p:nvSpPr>
          <p:cNvPr id="14" name="Text 12"/>
          <p:cNvSpPr/>
          <p:nvPr/>
        </p:nvSpPr>
        <p:spPr>
          <a:xfrm>
            <a:off x="8297294" y="2641439"/>
            <a:ext cx="2860493" cy="787428"/>
          </a:xfrm>
          <a:prstGeom prst="rect">
            <a:avLst/>
          </a:prstGeom>
          <a:noFill/>
          <a:ln/>
        </p:spPr>
        <p:txBody>
          <a:bodyPr wrap="square" lIns="0" tIns="0" rIns="0" bIns="0" rtlCol="0" anchor="t">
            <a:normAutofit/>
          </a:bodyPr>
          <a:lstStyle/>
          <a:p>
            <a:pPr algn="l" indent="0" marL="0">
              <a:lnSpc>
                <a:spcPts val="6000"/>
              </a:lnSpc>
              <a:buNone/>
            </a:pPr>
            <a:r>
              <a:rPr lang="en-US" sz="6000" b="1" dirty="0">
                <a:solidFill>
                  <a:srgbClr val="CDE46A"/>
                </a:solidFill>
                <a:latin typeface="Manrope" pitchFamily="34" charset="0"/>
                <a:ea typeface="Manrope" pitchFamily="34" charset="-122"/>
                <a:cs typeface="Manrope" pitchFamily="34" charset="-120"/>
              </a:rPr>
              <a:t>3 / 3</a:t>
            </a:r>
            <a:endParaRPr lang="en-US" sz="6000" dirty="0"/>
          </a:p>
        </p:txBody>
      </p:sp>
      <p:sp>
        <p:nvSpPr>
          <p:cNvPr id="15" name="Text 13"/>
          <p:cNvSpPr/>
          <p:nvPr/>
        </p:nvSpPr>
        <p:spPr>
          <a:xfrm>
            <a:off x="8297294" y="3505033"/>
            <a:ext cx="2860493" cy="109224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E4EDE6"/>
                </a:solidFill>
                <a:latin typeface="DM Sans" pitchFamily="34" charset="0"/>
                <a:ea typeface="DM Sans" pitchFamily="34" charset="-122"/>
                <a:cs typeface="DM Sans" pitchFamily="34" charset="-120"/>
              </a:rPr>
              <a:t>electricity meters where the COVID-19 campus closure is detected and verified — a test, never counted as a saving.</a:t>
            </a:r>
            <a:endParaRPr lang="en-US" sz="1500" dirty="0"/>
          </a:p>
        </p:txBody>
      </p:sp>
      <p:sp>
        <p:nvSpPr>
          <p:cNvPr id="16" name="Text 14"/>
          <p:cNvSpPr/>
          <p:nvPr/>
        </p:nvSpPr>
        <p:spPr>
          <a:xfrm>
            <a:off x="812750" y="6238249"/>
            <a:ext cx="10883342" cy="238732"/>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FD3C6"/>
                </a:solidFill>
                <a:latin typeface="DM Sans" pitchFamily="34" charset="0"/>
                <a:ea typeface="DM Sans" pitchFamily="34" charset="-122"/>
                <a:cs typeface="DM Sans" pitchFamily="34" charset="-120"/>
              </a:rPr>
              <a:t>Real meters: Concordia University open data (CC BY 4.0). Test campus: 16 departments where the true effect of every change is known.</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5EE"/>
        </a:solidFill>
      </p:bgPr>
    </p:bg>
    <p:spTree>
      <p:nvGrpSpPr>
        <p:cNvPr id="1" name=""/>
        <p:cNvGrpSpPr/>
        <p:nvPr/>
      </p:nvGrpSpPr>
      <p:grpSpPr>
        <a:xfrm>
          <a:off x="0" y="0"/>
          <a:ext cx="0" cy="0"/>
          <a:chOff x="0" y="0"/>
          <a:chExt cx="0" cy="0"/>
        </a:xfrm>
      </p:grpSpPr>
      <p:sp>
        <p:nvSpPr>
          <p:cNvPr id="2" name="Text 0"/>
          <p:cNvSpPr/>
          <p:nvPr/>
        </p:nvSpPr>
        <p:spPr>
          <a:xfrm>
            <a:off x="812750" y="812750"/>
            <a:ext cx="10883467" cy="274357"/>
          </a:xfrm>
          <a:prstGeom prst="rect">
            <a:avLst/>
          </a:prstGeom>
          <a:noFill/>
          <a:ln/>
        </p:spPr>
        <p:txBody>
          <a:bodyPr wrap="square" lIns="0" tIns="0" rIns="0" bIns="0" rtlCol="0" anchor="t">
            <a:normAutofit/>
          </a:bodyPr>
          <a:lstStyle/>
          <a:p>
            <a:pPr algn="l" indent="0" marL="0">
              <a:lnSpc>
                <a:spcPts val="1960"/>
              </a:lnSpc>
              <a:buNone/>
            </a:pPr>
            <a:r>
              <a:rPr lang="en-US" sz="1400" b="1" spc="200" kern="0" dirty="0">
                <a:solidFill>
                  <a:srgbClr val="9A6B1F"/>
                </a:solidFill>
                <a:latin typeface="DM Sans" pitchFamily="34" charset="0"/>
                <a:ea typeface="DM Sans" pitchFamily="34" charset="-122"/>
                <a:cs typeface="DM Sans" pitchFamily="34" charset="-120"/>
              </a:rPr>
              <a:t>04 · HOW IT HELPS</a:t>
            </a:r>
            <a:endParaRPr lang="en-US" sz="1400" dirty="0"/>
          </a:p>
        </p:txBody>
      </p:sp>
      <p:sp>
        <p:nvSpPr>
          <p:cNvPr id="3" name="Text 1"/>
          <p:cNvSpPr/>
          <p:nvPr>
            <p:ph type="title"/>
          </p:nvPr>
        </p:nvSpPr>
        <p:spPr>
          <a:xfrm>
            <a:off x="812750" y="1163272"/>
            <a:ext cx="10883467" cy="472412"/>
          </a:xfrm>
          <a:prstGeom prst="rect">
            <a:avLst/>
          </a:prstGeom>
          <a:noFill/>
          <a:ln/>
        </p:spPr>
        <p:txBody>
          <a:bodyPr wrap="square" lIns="0" tIns="0" rIns="0" bIns="0" rtlCol="0" anchor="t">
            <a:normAutofit/>
          </a:bodyPr>
          <a:lstStyle/>
          <a:p>
            <a:pPr algn="l" indent="0" marL="0">
              <a:lnSpc>
                <a:spcPts val="3520"/>
              </a:lnSpc>
              <a:buNone/>
            </a:pPr>
            <a:r>
              <a:rPr lang="en-US" sz="3200" b="1" i="0" spc="-50" kern="0" dirty="0">
                <a:solidFill>
                  <a:srgbClr val="1E3F33"/>
                </a:solidFill>
                <a:latin typeface="Manrope" pitchFamily="34" charset="0"/>
                <a:ea typeface="Manrope" pitchFamily="34" charset="-122"/>
                <a:cs typeface="Manrope" pitchFamily="34" charset="-120"/>
              </a:rPr>
              <a:t>Everyone on campus gets something</a:t>
            </a:r>
            <a:endParaRPr lang="en-US" sz="3200" dirty="0"/>
          </a:p>
        </p:txBody>
      </p:sp>
      <p:sp>
        <p:nvSpPr>
          <p:cNvPr id="4" name="Shape 2"/>
          <p:cNvSpPr/>
          <p:nvPr/>
        </p:nvSpPr>
        <p:spPr>
          <a:xfrm>
            <a:off x="815925" y="1918208"/>
            <a:ext cx="5188003" cy="1297914"/>
          </a:xfrm>
          <a:prstGeom prst="roundRect">
            <a:avLst>
              <a:gd name="adj" fmla="val 9540"/>
            </a:avLst>
          </a:prstGeom>
          <a:solidFill>
            <a:srgbClr val="FFFDF7"/>
          </a:solidFill>
          <a:ln w="6350">
            <a:solidFill>
              <a:srgbClr val="D9DECF"/>
            </a:solidFill>
            <a:prstDash val="solid"/>
          </a:ln>
        </p:spPr>
      </p:sp>
      <p:pic>
        <p:nvPicPr>
          <p:cNvPr id="5" name="Image 0" descr="Wrench">    </p:cNvPr>
          <p:cNvPicPr>
            <a:picLocks noChangeAspect="1"/>
          </p:cNvPicPr>
          <p:nvPr/>
        </p:nvPicPr>
        <p:blipFill>
          <a:blip r:embed="rId1"/>
          <a:srcRect l="0" r="0" t="0" b="0"/>
          <a:stretch/>
        </p:blipFill>
        <p:spPr>
          <a:xfrm>
            <a:off x="1070584" y="2172866"/>
            <a:ext cx="355593" cy="355593"/>
          </a:xfrm>
          <a:prstGeom prst="rect">
            <a:avLst/>
          </a:prstGeom>
        </p:spPr>
      </p:pic>
      <p:sp>
        <p:nvSpPr>
          <p:cNvPr id="6" name="Text 3"/>
          <p:cNvSpPr/>
          <p:nvPr/>
        </p:nvSpPr>
        <p:spPr>
          <a:xfrm>
            <a:off x="1603943" y="2172866"/>
            <a:ext cx="4269686" cy="284502"/>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1E3F33"/>
                </a:solidFill>
                <a:latin typeface="DM Sans" pitchFamily="34" charset="0"/>
                <a:ea typeface="DM Sans" pitchFamily="34" charset="-122"/>
                <a:cs typeface="DM Sans" pitchFamily="34" charset="-120"/>
              </a:rPr>
              <a:t>Facilities office</a:t>
            </a:r>
            <a:endParaRPr lang="en-US" sz="1700" dirty="0"/>
          </a:p>
        </p:txBody>
      </p:sp>
      <p:sp>
        <p:nvSpPr>
          <p:cNvPr id="7" name="Text 4"/>
          <p:cNvSpPr/>
          <p:nvPr/>
        </p:nvSpPr>
        <p:spPr>
          <a:xfrm>
            <a:off x="1603943" y="2482751"/>
            <a:ext cx="4269686" cy="504113"/>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4A5A52"/>
                </a:solidFill>
                <a:latin typeface="DM Sans" pitchFamily="34" charset="0"/>
                <a:ea typeface="DM Sans" pitchFamily="34" charset="-122"/>
                <a:cs typeface="DM Sans" pitchFamily="34" charset="-120"/>
              </a:rPr>
              <a:t>Sees exactly where energy and water are wasted, and which fix really worked.</a:t>
            </a:r>
            <a:endParaRPr lang="en-US" sz="1300" dirty="0"/>
          </a:p>
        </p:txBody>
      </p:sp>
      <p:sp>
        <p:nvSpPr>
          <p:cNvPr id="8" name="Shape 5"/>
          <p:cNvSpPr/>
          <p:nvPr/>
        </p:nvSpPr>
        <p:spPr>
          <a:xfrm>
            <a:off x="6188044" y="1918208"/>
            <a:ext cx="5188003" cy="1297914"/>
          </a:xfrm>
          <a:prstGeom prst="roundRect">
            <a:avLst>
              <a:gd name="adj" fmla="val 9540"/>
            </a:avLst>
          </a:prstGeom>
          <a:solidFill>
            <a:srgbClr val="FFFDF7"/>
          </a:solidFill>
          <a:ln w="6350">
            <a:solidFill>
              <a:srgbClr val="D9DECF"/>
            </a:solidFill>
            <a:prstDash val="solid"/>
          </a:ln>
        </p:spPr>
      </p:sp>
      <p:pic>
        <p:nvPicPr>
          <p:cNvPr id="9" name="Image 1" descr="Chart">    </p:cNvPr>
          <p:cNvPicPr>
            <a:picLocks noChangeAspect="1"/>
          </p:cNvPicPr>
          <p:nvPr/>
        </p:nvPicPr>
        <p:blipFill>
          <a:blip r:embed="rId2"/>
          <a:srcRect l="0" r="0" t="0" b="0"/>
          <a:stretch/>
        </p:blipFill>
        <p:spPr>
          <a:xfrm>
            <a:off x="6442703" y="2172866"/>
            <a:ext cx="355593" cy="355593"/>
          </a:xfrm>
          <a:prstGeom prst="rect">
            <a:avLst/>
          </a:prstGeom>
        </p:spPr>
      </p:pic>
      <p:sp>
        <p:nvSpPr>
          <p:cNvPr id="10" name="Text 6"/>
          <p:cNvSpPr/>
          <p:nvPr/>
        </p:nvSpPr>
        <p:spPr>
          <a:xfrm>
            <a:off x="6976063" y="2172866"/>
            <a:ext cx="4269686" cy="284502"/>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1E3F33"/>
                </a:solidFill>
                <a:latin typeface="DM Sans" pitchFamily="34" charset="0"/>
                <a:ea typeface="DM Sans" pitchFamily="34" charset="-122"/>
                <a:cs typeface="DM Sans" pitchFamily="34" charset="-120"/>
              </a:rPr>
              <a:t>Management &amp; finance</a:t>
            </a:r>
            <a:endParaRPr lang="en-US" sz="1700" dirty="0"/>
          </a:p>
        </p:txBody>
      </p:sp>
      <p:sp>
        <p:nvSpPr>
          <p:cNvPr id="11" name="Text 7"/>
          <p:cNvSpPr/>
          <p:nvPr/>
        </p:nvSpPr>
        <p:spPr>
          <a:xfrm>
            <a:off x="6976063" y="2482751"/>
            <a:ext cx="4269686" cy="504113"/>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4A5A52"/>
                </a:solidFill>
                <a:latin typeface="DM Sans" pitchFamily="34" charset="0"/>
                <a:ea typeface="DM Sans" pitchFamily="34" charset="-122"/>
                <a:cs typeface="DM Sans" pitchFamily="34" charset="-120"/>
              </a:rPr>
              <a:t>Proven rupees saved every month — spend the budget on what works.</a:t>
            </a:r>
            <a:endParaRPr lang="en-US" sz="1300" dirty="0"/>
          </a:p>
        </p:txBody>
      </p:sp>
      <p:sp>
        <p:nvSpPr>
          <p:cNvPr id="12" name="Shape 8"/>
          <p:cNvSpPr/>
          <p:nvPr/>
        </p:nvSpPr>
        <p:spPr>
          <a:xfrm>
            <a:off x="815925" y="3400239"/>
            <a:ext cx="5188003" cy="1297914"/>
          </a:xfrm>
          <a:prstGeom prst="roundRect">
            <a:avLst>
              <a:gd name="adj" fmla="val 9540"/>
            </a:avLst>
          </a:prstGeom>
          <a:solidFill>
            <a:srgbClr val="FFFDF7"/>
          </a:solidFill>
          <a:ln w="6350">
            <a:solidFill>
              <a:srgbClr val="D9DECF"/>
            </a:solidFill>
            <a:prstDash val="solid"/>
          </a:ln>
        </p:spPr>
      </p:sp>
      <p:pic>
        <p:nvPicPr>
          <p:cNvPr id="13" name="Image 2" descr="Users">    </p:cNvPr>
          <p:cNvPicPr>
            <a:picLocks noChangeAspect="1"/>
          </p:cNvPicPr>
          <p:nvPr/>
        </p:nvPicPr>
        <p:blipFill>
          <a:blip r:embed="rId3"/>
          <a:srcRect l="0" r="0" t="0" b="0"/>
          <a:stretch/>
        </p:blipFill>
        <p:spPr>
          <a:xfrm>
            <a:off x="1070584" y="3654896"/>
            <a:ext cx="355593" cy="355593"/>
          </a:xfrm>
          <a:prstGeom prst="rect">
            <a:avLst/>
          </a:prstGeom>
        </p:spPr>
      </p:pic>
      <p:sp>
        <p:nvSpPr>
          <p:cNvPr id="14" name="Text 9"/>
          <p:cNvSpPr/>
          <p:nvPr/>
        </p:nvSpPr>
        <p:spPr>
          <a:xfrm>
            <a:off x="1603943" y="3654896"/>
            <a:ext cx="4269686" cy="284502"/>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1E3F33"/>
                </a:solidFill>
                <a:latin typeface="DM Sans" pitchFamily="34" charset="0"/>
                <a:ea typeface="DM Sans" pitchFamily="34" charset="-122"/>
                <a:cs typeface="DM Sans" pitchFamily="34" charset="-120"/>
              </a:rPr>
              <a:t>Students &amp; staff</a:t>
            </a:r>
            <a:endParaRPr lang="en-US" sz="1700" dirty="0"/>
          </a:p>
        </p:txBody>
      </p:sp>
      <p:sp>
        <p:nvSpPr>
          <p:cNvPr id="15" name="Text 10"/>
          <p:cNvSpPr/>
          <p:nvPr/>
        </p:nvSpPr>
        <p:spPr>
          <a:xfrm>
            <a:off x="1603943" y="3964781"/>
            <a:ext cx="4269686" cy="504113"/>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4A5A52"/>
                </a:solidFill>
                <a:latin typeface="DM Sans" pitchFamily="34" charset="0"/>
                <a:ea typeface="DM Sans" pitchFamily="34" charset="-122"/>
                <a:cs typeface="DM Sans" pitchFamily="34" charset="-120"/>
              </a:rPr>
              <a:t>Comfortable rooms that adjust themselves; no fans or AC running in empty rooms.</a:t>
            </a:r>
            <a:endParaRPr lang="en-US" sz="1300" dirty="0"/>
          </a:p>
        </p:txBody>
      </p:sp>
      <p:sp>
        <p:nvSpPr>
          <p:cNvPr id="16" name="Shape 11"/>
          <p:cNvSpPr/>
          <p:nvPr/>
        </p:nvSpPr>
        <p:spPr>
          <a:xfrm>
            <a:off x="6184869" y="3397064"/>
            <a:ext cx="5194353" cy="1304264"/>
          </a:xfrm>
          <a:prstGeom prst="roundRect">
            <a:avLst>
              <a:gd name="adj" fmla="val 9737"/>
            </a:avLst>
          </a:prstGeom>
          <a:solidFill>
            <a:srgbClr val="1E3F33"/>
          </a:solidFill>
          <a:ln/>
        </p:spPr>
      </p:sp>
      <p:pic>
        <p:nvPicPr>
          <p:cNvPr id="17" name="Image 3" descr="Globe">    </p:cNvPr>
          <p:cNvPicPr>
            <a:picLocks noChangeAspect="1"/>
          </p:cNvPicPr>
          <p:nvPr/>
        </p:nvPicPr>
        <p:blipFill>
          <a:blip r:embed="rId4"/>
          <a:srcRect l="0" r="0" t="0" b="0"/>
          <a:stretch/>
        </p:blipFill>
        <p:spPr>
          <a:xfrm>
            <a:off x="6438839" y="3651033"/>
            <a:ext cx="355593" cy="355593"/>
          </a:xfrm>
          <a:prstGeom prst="rect">
            <a:avLst/>
          </a:prstGeom>
        </p:spPr>
      </p:pic>
      <p:sp>
        <p:nvSpPr>
          <p:cNvPr id="18" name="Text 12"/>
          <p:cNvSpPr/>
          <p:nvPr/>
        </p:nvSpPr>
        <p:spPr>
          <a:xfrm>
            <a:off x="6972198" y="3651033"/>
            <a:ext cx="4277647" cy="284502"/>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CDE46A"/>
                </a:solidFill>
                <a:latin typeface="DM Sans" pitchFamily="34" charset="0"/>
                <a:ea typeface="DM Sans" pitchFamily="34" charset="-122"/>
                <a:cs typeface="DM Sans" pitchFamily="34" charset="-120"/>
              </a:rPr>
              <a:t>Environment &amp; accreditation</a:t>
            </a:r>
            <a:endParaRPr lang="en-US" sz="1700" dirty="0"/>
          </a:p>
        </p:txBody>
      </p:sp>
      <p:sp>
        <p:nvSpPr>
          <p:cNvPr id="19" name="Text 13"/>
          <p:cNvSpPr/>
          <p:nvPr/>
        </p:nvSpPr>
        <p:spPr>
          <a:xfrm>
            <a:off x="6972198" y="3960918"/>
            <a:ext cx="4277647" cy="504113"/>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E4EDE6"/>
                </a:solidFill>
                <a:latin typeface="DM Sans" pitchFamily="34" charset="0"/>
                <a:ea typeface="DM Sans" pitchFamily="34" charset="-122"/>
                <a:cs typeface="DM Sans" pitchFamily="34" charset="-120"/>
              </a:rPr>
              <a:t>Honest CO₂ numbers and a verified report for green and energy audits (e.g., NAAC).</a:t>
            </a:r>
            <a:endParaRPr lang="en-US" sz="13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7F5EE"/>
        </a:solidFill>
      </p:bgPr>
    </p:bg>
    <p:spTree>
      <p:nvGrpSpPr>
        <p:cNvPr id="1" name=""/>
        <p:cNvGrpSpPr/>
        <p:nvPr/>
      </p:nvGrpSpPr>
      <p:grpSpPr>
        <a:xfrm>
          <a:off x="0" y="0"/>
          <a:ext cx="0" cy="0"/>
          <a:chOff x="0" y="0"/>
          <a:chExt cx="0" cy="0"/>
        </a:xfrm>
      </p:grpSpPr>
      <p:sp>
        <p:nvSpPr>
          <p:cNvPr id="2" name="Text 0"/>
          <p:cNvSpPr/>
          <p:nvPr/>
        </p:nvSpPr>
        <p:spPr>
          <a:xfrm>
            <a:off x="812750" y="812750"/>
            <a:ext cx="10883467" cy="274357"/>
          </a:xfrm>
          <a:prstGeom prst="rect">
            <a:avLst/>
          </a:prstGeom>
          <a:noFill/>
          <a:ln/>
        </p:spPr>
        <p:txBody>
          <a:bodyPr wrap="square" lIns="0" tIns="0" rIns="0" bIns="0" rtlCol="0" anchor="t">
            <a:normAutofit/>
          </a:bodyPr>
          <a:lstStyle/>
          <a:p>
            <a:pPr algn="l" indent="0" marL="0">
              <a:lnSpc>
                <a:spcPts val="1960"/>
              </a:lnSpc>
              <a:buNone/>
            </a:pPr>
            <a:r>
              <a:rPr lang="en-US" sz="1400" b="1" spc="200" kern="0" dirty="0">
                <a:solidFill>
                  <a:srgbClr val="9A6B1F"/>
                </a:solidFill>
                <a:latin typeface="DM Sans" pitchFamily="34" charset="0"/>
                <a:ea typeface="DM Sans" pitchFamily="34" charset="-122"/>
                <a:cs typeface="DM Sans" pitchFamily="34" charset="-120"/>
              </a:rPr>
              <a:t>05 · ADVANTAGES</a:t>
            </a:r>
            <a:endParaRPr lang="en-US" sz="1400" dirty="0"/>
          </a:p>
        </p:txBody>
      </p:sp>
      <p:sp>
        <p:nvSpPr>
          <p:cNvPr id="3" name="Text 1"/>
          <p:cNvSpPr/>
          <p:nvPr>
            <p:ph type="title"/>
          </p:nvPr>
        </p:nvSpPr>
        <p:spPr>
          <a:xfrm>
            <a:off x="812750" y="1163272"/>
            <a:ext cx="10883467" cy="472412"/>
          </a:xfrm>
          <a:prstGeom prst="rect">
            <a:avLst/>
          </a:prstGeom>
          <a:noFill/>
          <a:ln/>
        </p:spPr>
        <p:txBody>
          <a:bodyPr wrap="square" lIns="0" tIns="0" rIns="0" bIns="0" rtlCol="0" anchor="t">
            <a:normAutofit/>
          </a:bodyPr>
          <a:lstStyle/>
          <a:p>
            <a:pPr algn="l" indent="0" marL="0">
              <a:lnSpc>
                <a:spcPts val="3520"/>
              </a:lnSpc>
              <a:buNone/>
            </a:pPr>
            <a:r>
              <a:rPr lang="en-US" sz="3200" b="1" i="0" spc="-50" kern="0" dirty="0">
                <a:solidFill>
                  <a:srgbClr val="1E3F33"/>
                </a:solidFill>
                <a:latin typeface="Manrope" pitchFamily="34" charset="0"/>
                <a:ea typeface="Manrope" pitchFamily="34" charset="-122"/>
                <a:cs typeface="Manrope" pitchFamily="34" charset="-120"/>
              </a:rPr>
              <a:t>Why GreenLedger beats a normal dashboard</a:t>
            </a:r>
            <a:endParaRPr lang="en-US" sz="3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4343" y="1875846"/>
          <a:ext cx="10554879" cy="2865034"/>
        </p:xfrm>
        <a:graphic>
          <a:graphicData uri="http://schemas.openxmlformats.org/drawingml/2006/table">
            <a:tbl>
              <a:tblPr/>
              <a:tblGrid>
                <a:gridCol w="3799757"/>
                <a:gridCol w="2955366"/>
                <a:gridCol w="3799757"/>
              </a:tblGrid>
              <a:tr h="358129">
                <a:tc>
                  <a:txBody>
                    <a:bodyPr/>
                    <a:lstStyle/>
                    <a:p>
                      <a:pPr indent="0" marL="0">
                        <a:lnSpc>
                          <a:spcPts val="1820"/>
                        </a:lnSpc>
                        <a:buNone/>
                      </a:pPr>
                      <a:r>
                        <a:rPr lang="en-US" sz="1300" b="1" dirty="0">
                          <a:solidFill>
                            <a:srgbClr val="1E3F33"/>
                          </a:solidFill>
                          <a:latin typeface="DM Sans" pitchFamily="34" charset="0"/>
                          <a:ea typeface="DM Sans" pitchFamily="34" charset="-122"/>
                          <a:cs typeface="DM Sans" pitchFamily="34" charset="-120"/>
                        </a:rPr>
                        <a:t>What matters</a:t>
                      </a:r>
                      <a:endParaRPr lang="en-US" sz="1300" dirty="0">
                        <a:latin typeface="DM Sans" charset="0"/>
                        <a:ea typeface="DM Sans" charset="0"/>
                        <a:cs typeface="DM Sans" charset="0"/>
                      </a:endParaRPr>
                    </a:p>
                  </a:txBody>
                  <a:tcPr marL="57785" marR="57785" marT="57785" marB="57785" anchor="t">
                    <a:lnL w="12700" cap="flat" cmpd="sng" algn="ctr">
                      <a:solidFill>
                        <a:srgbClr val="C5C4BE"/>
                      </a:solidFill>
                      <a:prstDash val="solid"/>
                      <a:round/>
                      <a:headEnd type="none" w="med" len="med"/>
                      <a:tailEnd type="none" w="med" len="med"/>
                    </a:lnL>
                    <a:lnR w="12700" cap="flat" cmpd="sng" algn="ctr">
                      <a:solidFill>
                        <a:srgbClr val="B7B5B0"/>
                      </a:solidFill>
                      <a:prstDash val="solid"/>
                      <a:round/>
                      <a:headEnd type="none" w="med" len="med"/>
                      <a:tailEnd type="none" w="med" len="med"/>
                    </a:lnR>
                    <a:lnT w="12700" cap="flat" cmpd="sng" algn="ctr">
                      <a:solidFill>
                        <a:srgbClr val="C5C4BE"/>
                      </a:solidFill>
                      <a:prstDash val="solid"/>
                      <a:round/>
                      <a:headEnd type="none" w="med" len="med"/>
                      <a:tailEnd type="none" w="med" len="med"/>
                    </a:lnT>
                    <a:lnB w="12700" cap="flat" cmpd="sng" algn="ctr">
                      <a:solidFill>
                        <a:srgbClr val="B7B5B0"/>
                      </a:solidFill>
                      <a:prstDash val="solid"/>
                      <a:round/>
                      <a:headEnd type="none" w="med" len="med"/>
                      <a:tailEnd type="none" w="med" len="med"/>
                    </a:lnB>
                    <a:solidFill>
                      <a:srgbClr val="E5E3DC"/>
                    </a:solidFill>
                  </a:tcPr>
                </a:tc>
                <a:tc>
                  <a:txBody>
                    <a:bodyPr/>
                    <a:lstStyle/>
                    <a:p>
                      <a:pPr indent="0" marL="0">
                        <a:lnSpc>
                          <a:spcPts val="1820"/>
                        </a:lnSpc>
                        <a:buNone/>
                      </a:pPr>
                      <a:r>
                        <a:rPr lang="en-US" sz="1300" b="1" dirty="0">
                          <a:solidFill>
                            <a:srgbClr val="1E3F33"/>
                          </a:solidFill>
                          <a:latin typeface="DM Sans" pitchFamily="34" charset="0"/>
                          <a:ea typeface="DM Sans" pitchFamily="34" charset="-122"/>
                          <a:cs typeface="DM Sans" pitchFamily="34" charset="-120"/>
                        </a:rPr>
                        <a:t>Normal dashboard</a:t>
                      </a:r>
                      <a:endParaRPr lang="en-US" sz="1300" dirty="0">
                        <a:latin typeface="DM Sans" charset="0"/>
                        <a:ea typeface="DM Sans" charset="0"/>
                        <a:cs typeface="DM Sans" charset="0"/>
                      </a:endParaRPr>
                    </a:p>
                  </a:txBody>
                  <a:tcPr marL="57785" marR="57785" marT="57785" marB="57785" anchor="t">
                    <a:lnL w="12700" cap="flat" cmpd="sng" algn="ctr">
                      <a:solidFill>
                        <a:srgbClr val="B7B5B0"/>
                      </a:solidFill>
                      <a:prstDash val="solid"/>
                      <a:round/>
                      <a:headEnd type="none" w="med" len="med"/>
                      <a:tailEnd type="none" w="med" len="med"/>
                    </a:lnL>
                    <a:lnR w="12700" cap="flat" cmpd="sng" algn="ctr">
                      <a:solidFill>
                        <a:srgbClr val="B7B5B0"/>
                      </a:solidFill>
                      <a:prstDash val="solid"/>
                      <a:round/>
                      <a:headEnd type="none" w="med" len="med"/>
                      <a:tailEnd type="none" w="med" len="med"/>
                    </a:lnR>
                    <a:lnT w="12700" cap="flat" cmpd="sng" algn="ctr">
                      <a:solidFill>
                        <a:srgbClr val="C5C4BE"/>
                      </a:solidFill>
                      <a:prstDash val="solid"/>
                      <a:round/>
                      <a:headEnd type="none" w="med" len="med"/>
                      <a:tailEnd type="none" w="med" len="med"/>
                    </a:lnT>
                    <a:lnB w="12700" cap="flat" cmpd="sng" algn="ctr">
                      <a:solidFill>
                        <a:srgbClr val="B7B5B0"/>
                      </a:solidFill>
                      <a:prstDash val="solid"/>
                      <a:round/>
                      <a:headEnd type="none" w="med" len="med"/>
                      <a:tailEnd type="none" w="med" len="med"/>
                    </a:lnB>
                    <a:solidFill>
                      <a:srgbClr val="E5E3DC"/>
                    </a:solidFill>
                  </a:tcPr>
                </a:tc>
                <a:tc>
                  <a:txBody>
                    <a:bodyPr/>
                    <a:lstStyle/>
                    <a:p>
                      <a:pPr indent="0" marL="0">
                        <a:lnSpc>
                          <a:spcPts val="1820"/>
                        </a:lnSpc>
                        <a:buNone/>
                      </a:pPr>
                      <a:r>
                        <a:rPr lang="en-US" sz="1300" b="1" dirty="0">
                          <a:solidFill>
                            <a:srgbClr val="1E3F33"/>
                          </a:solidFill>
                          <a:latin typeface="DM Sans" pitchFamily="34" charset="0"/>
                          <a:ea typeface="DM Sans" pitchFamily="34" charset="-122"/>
                          <a:cs typeface="DM Sans" pitchFamily="34" charset="-120"/>
                        </a:rPr>
                        <a:t>GreenLedger</a:t>
                      </a:r>
                      <a:endParaRPr lang="en-US" sz="1300" dirty="0">
                        <a:latin typeface="DM Sans" charset="0"/>
                        <a:ea typeface="DM Sans" charset="0"/>
                        <a:cs typeface="DM Sans" charset="0"/>
                      </a:endParaRPr>
                    </a:p>
                  </a:txBody>
                  <a:tcPr marL="57785" marR="57785" marT="57785" marB="57785" anchor="t">
                    <a:lnL w="12700" cap="flat" cmpd="sng" algn="ctr">
                      <a:solidFill>
                        <a:srgbClr val="B7B5B0"/>
                      </a:solidFill>
                      <a:prstDash val="solid"/>
                      <a:round/>
                      <a:headEnd type="none" w="med" len="med"/>
                      <a:tailEnd type="none" w="med" len="med"/>
                    </a:lnL>
                    <a:lnR w="12700" cap="flat" cmpd="sng" algn="ctr">
                      <a:solidFill>
                        <a:srgbClr val="B7B5B0"/>
                      </a:solidFill>
                      <a:prstDash val="solid"/>
                      <a:round/>
                      <a:headEnd type="none" w="med" len="med"/>
                      <a:tailEnd type="none" w="med" len="med"/>
                    </a:lnR>
                    <a:lnT w="12700" cap="flat" cmpd="sng" algn="ctr">
                      <a:solidFill>
                        <a:srgbClr val="C5C4BE"/>
                      </a:solidFill>
                      <a:prstDash val="solid"/>
                      <a:round/>
                      <a:headEnd type="none" w="med" len="med"/>
                      <a:tailEnd type="none" w="med" len="med"/>
                    </a:lnT>
                    <a:lnB w="12700" cap="flat" cmpd="sng" algn="ctr">
                      <a:solidFill>
                        <a:srgbClr val="B7B5B0"/>
                      </a:solidFill>
                      <a:prstDash val="solid"/>
                      <a:round/>
                      <a:headEnd type="none" w="med" len="med"/>
                      <a:tailEnd type="none" w="med" len="med"/>
                    </a:lnB>
                    <a:solidFill>
                      <a:srgbClr val="E5E3DC"/>
                    </a:solidFill>
                  </a:tcPr>
                </a:tc>
              </a:tr>
              <a:tr h="358129">
                <a:tc>
                  <a:txBody>
                    <a:bodyPr/>
                    <a:lstStyle/>
                    <a:p>
                      <a:pPr indent="0" marL="0">
                        <a:lnSpc>
                          <a:spcPts val="1820"/>
                        </a:lnSpc>
                        <a:buNone/>
                      </a:pPr>
                      <a:r>
                        <a:rPr lang="en-US" sz="1300" dirty="0">
                          <a:solidFill>
                            <a:srgbClr val="1E3F33"/>
                          </a:solidFill>
                          <a:latin typeface="DM Sans" pitchFamily="34" charset="0"/>
                          <a:ea typeface="DM Sans" pitchFamily="34" charset="-122"/>
                          <a:cs typeface="DM Sans" pitchFamily="34" charset="-120"/>
                        </a:rPr>
                        <a:t>Fair comparison</a:t>
                      </a:r>
                      <a:endParaRPr lang="en-US" sz="1300" dirty="0">
                        <a:latin typeface="DM Sans" charset="0"/>
                        <a:ea typeface="DM Sans" charset="0"/>
                        <a:cs typeface="DM Sans" charset="0"/>
                      </a:endParaRPr>
                    </a:p>
                  </a:txBody>
                  <a:tcPr marL="57785" marR="57785" marT="57785" marB="57785" anchor="t">
                    <a:lnL w="12700" cap="flat" cmpd="sng" algn="ctr">
                      <a:solidFill>
                        <a:srgbClr val="C5C4BE"/>
                      </a:solidFill>
                      <a:prstDash val="solid"/>
                      <a:round/>
                      <a:headEnd type="none" w="med" len="med"/>
                      <a:tailEnd type="none" w="med" len="med"/>
                    </a:lnL>
                    <a:lnR w="12700" cap="flat" cmpd="sng" algn="ctr">
                      <a:solidFill>
                        <a:srgbClr val="C5C4BE"/>
                      </a:solidFill>
                      <a:prstDash val="solid"/>
                      <a:round/>
                      <a:headEnd type="none" w="med" len="med"/>
                      <a:tailEnd type="none" w="med" len="med"/>
                    </a:lnR>
                    <a:lnT w="12700" cap="flat" cmpd="sng" algn="ctr">
                      <a:solidFill>
                        <a:srgbClr val="B7B5B0"/>
                      </a:solidFill>
                      <a:prstDash val="solid"/>
                      <a:round/>
                      <a:headEnd type="none" w="med" len="med"/>
                      <a:tailEnd type="none" w="med" len="med"/>
                    </a:lnT>
                    <a:lnB w="12700" cap="flat" cmpd="sng" algn="ctr">
                      <a:solidFill>
                        <a:srgbClr val="C5C4BE"/>
                      </a:solidFill>
                      <a:prstDash val="solid"/>
                      <a:round/>
                      <a:headEnd type="none" w="med" len="med"/>
                      <a:tailEnd type="none" w="med" len="med"/>
                    </a:lnB>
                  </a:tcPr>
                </a:tc>
                <a:tc>
                  <a:txBody>
                    <a:bodyPr/>
                    <a:lstStyle/>
                    <a:p>
                      <a:pPr indent="0" marL="0">
                        <a:lnSpc>
                          <a:spcPts val="1820"/>
                        </a:lnSpc>
                        <a:buNone/>
                      </a:pPr>
                      <a:r>
                        <a:rPr lang="en-US" sz="1300" dirty="0">
                          <a:solidFill>
                            <a:srgbClr val="1E3F33"/>
                          </a:solidFill>
                          <a:latin typeface="DM Sans" pitchFamily="34" charset="0"/>
                          <a:ea typeface="DM Sans" pitchFamily="34" charset="-122"/>
                          <a:cs typeface="DM Sans" pitchFamily="34" charset="-120"/>
                        </a:rPr>
                        <a:t>This month vs last month</a:t>
                      </a:r>
                      <a:endParaRPr lang="en-US" sz="1300" dirty="0">
                        <a:latin typeface="DM Sans" charset="0"/>
                        <a:ea typeface="DM Sans" charset="0"/>
                        <a:cs typeface="DM Sans" charset="0"/>
                      </a:endParaRPr>
                    </a:p>
                  </a:txBody>
                  <a:tcPr marL="57785" marR="57785" marT="57785" marB="57785" anchor="t">
                    <a:lnL w="12700" cap="flat" cmpd="sng" algn="ctr">
                      <a:solidFill>
                        <a:srgbClr val="C5C4BE"/>
                      </a:solidFill>
                      <a:prstDash val="solid"/>
                      <a:round/>
                      <a:headEnd type="none" w="med" len="med"/>
                      <a:tailEnd type="none" w="med" len="med"/>
                    </a:lnL>
                    <a:lnR w="12700" cap="flat" cmpd="sng" algn="ctr">
                      <a:solidFill>
                        <a:srgbClr val="C5C4BE"/>
                      </a:solidFill>
                      <a:prstDash val="solid"/>
                      <a:round/>
                      <a:headEnd type="none" w="med" len="med"/>
                      <a:tailEnd type="none" w="med" len="med"/>
                    </a:lnR>
                    <a:lnT w="12700" cap="flat" cmpd="sng" algn="ctr">
                      <a:solidFill>
                        <a:srgbClr val="B7B5B0"/>
                      </a:solidFill>
                      <a:prstDash val="solid"/>
                      <a:round/>
                      <a:headEnd type="none" w="med" len="med"/>
                      <a:tailEnd type="none" w="med" len="med"/>
                    </a:lnT>
                    <a:lnB w="12700" cap="flat" cmpd="sng" algn="ctr">
                      <a:solidFill>
                        <a:srgbClr val="C5C4BE"/>
                      </a:solidFill>
                      <a:prstDash val="solid"/>
                      <a:round/>
                      <a:headEnd type="none" w="med" len="med"/>
                      <a:tailEnd type="none" w="med" len="med"/>
                    </a:lnB>
                  </a:tcPr>
                </a:tc>
                <a:tc>
                  <a:txBody>
                    <a:bodyPr/>
                    <a:lstStyle/>
                    <a:p>
                      <a:pPr indent="0" marL="0">
                        <a:lnSpc>
                          <a:spcPts val="1820"/>
                        </a:lnSpc>
                        <a:buNone/>
                      </a:pPr>
                      <a:r>
                        <a:rPr lang="en-US" sz="1300" dirty="0">
                          <a:solidFill>
                            <a:srgbClr val="1E3F33"/>
                          </a:solidFill>
                          <a:latin typeface="DM Sans" pitchFamily="34" charset="0"/>
                          <a:ea typeface="DM Sans" pitchFamily="34" charset="-122"/>
                          <a:cs typeface="DM Sans" pitchFamily="34" charset="-120"/>
                        </a:rPr>
                        <a:t>Adjusts for weather, exams, holidays</a:t>
                      </a:r>
                      <a:endParaRPr lang="en-US" sz="1300" dirty="0">
                        <a:latin typeface="DM Sans" charset="0"/>
                        <a:ea typeface="DM Sans" charset="0"/>
                        <a:cs typeface="DM Sans" charset="0"/>
                      </a:endParaRPr>
                    </a:p>
                  </a:txBody>
                  <a:tcPr marL="57785" marR="57785" marT="57785" marB="57785" anchor="t">
                    <a:lnL w="12700" cap="flat" cmpd="sng" algn="ctr">
                      <a:solidFill>
                        <a:srgbClr val="C5C4BE"/>
                      </a:solidFill>
                      <a:prstDash val="solid"/>
                      <a:round/>
                      <a:headEnd type="none" w="med" len="med"/>
                      <a:tailEnd type="none" w="med" len="med"/>
                    </a:lnL>
                    <a:lnR w="12700" cap="flat" cmpd="sng" algn="ctr">
                      <a:solidFill>
                        <a:srgbClr val="C5C4BE"/>
                      </a:solidFill>
                      <a:prstDash val="solid"/>
                      <a:round/>
                      <a:headEnd type="none" w="med" len="med"/>
                      <a:tailEnd type="none" w="med" len="med"/>
                    </a:lnR>
                    <a:lnT w="12700" cap="flat" cmpd="sng" algn="ctr">
                      <a:solidFill>
                        <a:srgbClr val="B7B5B0"/>
                      </a:solidFill>
                      <a:prstDash val="solid"/>
                      <a:round/>
                      <a:headEnd type="none" w="med" len="med"/>
                      <a:tailEnd type="none" w="med" len="med"/>
                    </a:lnT>
                    <a:lnB w="12700" cap="flat" cmpd="sng" algn="ctr">
                      <a:solidFill>
                        <a:srgbClr val="C5C4BE"/>
                      </a:solidFill>
                      <a:prstDash val="solid"/>
                      <a:round/>
                      <a:headEnd type="none" w="med" len="med"/>
                      <a:tailEnd type="none" w="med" len="med"/>
                    </a:lnB>
                  </a:tcPr>
                </a:tc>
              </a:tr>
              <a:tr h="358129">
                <a:tc>
                  <a:txBody>
                    <a:bodyPr/>
                    <a:lstStyle/>
                    <a:p>
                      <a:pPr indent="0" marL="0">
                        <a:lnSpc>
                          <a:spcPts val="1820"/>
                        </a:lnSpc>
                        <a:buNone/>
                      </a:pPr>
                      <a:r>
                        <a:rPr lang="en-US" sz="1300" dirty="0">
                          <a:solidFill>
                            <a:srgbClr val="1E3F33"/>
                          </a:solidFill>
                          <a:latin typeface="DM Sans" pitchFamily="34" charset="0"/>
                          <a:ea typeface="DM Sans" pitchFamily="34" charset="-122"/>
                          <a:cs typeface="DM Sans" pitchFamily="34" charset="-120"/>
                        </a:rPr>
                        <a:t>Proof that a saving is real</a:t>
                      </a:r>
                      <a:endParaRPr lang="en-US" sz="1300" dirty="0">
                        <a:latin typeface="DM Sans" charset="0"/>
                        <a:ea typeface="DM Sans" charset="0"/>
                        <a:cs typeface="DM Sans" charset="0"/>
                      </a:endParaRPr>
                    </a:p>
                  </a:txBody>
                  <a:tcPr marL="57785" marR="57785" marT="57785" marB="57785" anchor="t">
                    <a:lnL w="12700" cap="flat" cmpd="sng" algn="ctr">
                      <a:solidFill>
                        <a:srgbClr val="C5C4BE"/>
                      </a:solidFill>
                      <a:prstDash val="solid"/>
                      <a:round/>
                      <a:headEnd type="none" w="med" len="med"/>
                      <a:tailEnd type="none" w="med" len="med"/>
                    </a:lnL>
                    <a:lnR w="12700" cap="flat" cmpd="sng" algn="ctr">
                      <a:solidFill>
                        <a:srgbClr val="BFC2B8"/>
                      </a:solidFill>
                      <a:prstDash val="solid"/>
                      <a:round/>
                      <a:headEnd type="none" w="med" len="med"/>
                      <a:tailEnd type="none" w="med" len="med"/>
                    </a:lnR>
                    <a:lnT w="12700" cap="flat" cmpd="sng" algn="ctr">
                      <a:solidFill>
                        <a:srgbClr val="C5C4BE"/>
                      </a:solidFill>
                      <a:prstDash val="solid"/>
                      <a:round/>
                      <a:headEnd type="none" w="med" len="med"/>
                      <a:tailEnd type="none" w="med" len="med"/>
                    </a:lnT>
                    <a:lnB w="12700" cap="flat" cmpd="sng" algn="ctr">
                      <a:solidFill>
                        <a:srgbClr val="BFC2B8"/>
                      </a:solidFill>
                      <a:prstDash val="solid"/>
                      <a:round/>
                      <a:headEnd type="none" w="med" len="med"/>
                      <a:tailEnd type="none" w="med" len="med"/>
                    </a:lnB>
                    <a:solidFill>
                      <a:srgbClr val="EFF3E6"/>
                    </a:solidFill>
                  </a:tcPr>
                </a:tc>
                <a:tc>
                  <a:txBody>
                    <a:bodyPr/>
                    <a:lstStyle/>
                    <a:p>
                      <a:pPr indent="0" marL="0">
                        <a:lnSpc>
                          <a:spcPts val="1820"/>
                        </a:lnSpc>
                        <a:buNone/>
                      </a:pPr>
                      <a:r>
                        <a:rPr lang="en-US" sz="1300" dirty="0">
                          <a:solidFill>
                            <a:srgbClr val="1E3F33"/>
                          </a:solidFill>
                          <a:latin typeface="DM Sans" pitchFamily="34" charset="0"/>
                          <a:ea typeface="DM Sans" pitchFamily="34" charset="-122"/>
                          <a:cs typeface="DM Sans" pitchFamily="34" charset="-120"/>
                        </a:rPr>
                        <a:t>None</a:t>
                      </a:r>
                      <a:endParaRPr lang="en-US" sz="1300" dirty="0">
                        <a:latin typeface="DM Sans" charset="0"/>
                        <a:ea typeface="DM Sans" charset="0"/>
                        <a:cs typeface="DM Sans" charset="0"/>
                      </a:endParaRPr>
                    </a:p>
                  </a:txBody>
                  <a:tcPr marL="57785" marR="57785" marT="57785" marB="57785" anchor="t">
                    <a:lnL w="12700" cap="flat" cmpd="sng" algn="ctr">
                      <a:solidFill>
                        <a:srgbClr val="BFC2B8"/>
                      </a:solidFill>
                      <a:prstDash val="solid"/>
                      <a:round/>
                      <a:headEnd type="none" w="med" len="med"/>
                      <a:tailEnd type="none" w="med" len="med"/>
                    </a:lnL>
                    <a:lnR w="12700" cap="flat" cmpd="sng" algn="ctr">
                      <a:solidFill>
                        <a:srgbClr val="BFC2B8"/>
                      </a:solidFill>
                      <a:prstDash val="solid"/>
                      <a:round/>
                      <a:headEnd type="none" w="med" len="med"/>
                      <a:tailEnd type="none" w="med" len="med"/>
                    </a:lnR>
                    <a:lnT w="12700" cap="flat" cmpd="sng" algn="ctr">
                      <a:solidFill>
                        <a:srgbClr val="C5C4BE"/>
                      </a:solidFill>
                      <a:prstDash val="solid"/>
                      <a:round/>
                      <a:headEnd type="none" w="med" len="med"/>
                      <a:tailEnd type="none" w="med" len="med"/>
                    </a:lnT>
                    <a:lnB w="12700" cap="flat" cmpd="sng" algn="ctr">
                      <a:solidFill>
                        <a:srgbClr val="BFC2B8"/>
                      </a:solidFill>
                      <a:prstDash val="solid"/>
                      <a:round/>
                      <a:headEnd type="none" w="med" len="med"/>
                      <a:tailEnd type="none" w="med" len="med"/>
                    </a:lnB>
                    <a:solidFill>
                      <a:srgbClr val="EFF3E6"/>
                    </a:solidFill>
                  </a:tcPr>
                </a:tc>
                <a:tc>
                  <a:txBody>
                    <a:bodyPr/>
                    <a:lstStyle/>
                    <a:p>
                      <a:pPr indent="0" marL="0">
                        <a:lnSpc>
                          <a:spcPts val="1820"/>
                        </a:lnSpc>
                        <a:buNone/>
                      </a:pPr>
                      <a:r>
                        <a:rPr lang="en-US" sz="1300" dirty="0">
                          <a:solidFill>
                            <a:srgbClr val="1E3F33"/>
                          </a:solidFill>
                          <a:latin typeface="DM Sans" pitchFamily="34" charset="0"/>
                          <a:ea typeface="DM Sans" pitchFamily="34" charset="-122"/>
                          <a:cs typeface="DM Sans" pitchFamily="34" charset="-120"/>
                        </a:rPr>
                        <a:t>Placebo test + safe low end</a:t>
                      </a:r>
                      <a:endParaRPr lang="en-US" sz="1300" dirty="0">
                        <a:latin typeface="DM Sans" charset="0"/>
                        <a:ea typeface="DM Sans" charset="0"/>
                        <a:cs typeface="DM Sans" charset="0"/>
                      </a:endParaRPr>
                    </a:p>
                  </a:txBody>
                  <a:tcPr marL="57785" marR="57785" marT="57785" marB="57785" anchor="t">
                    <a:lnL w="12700" cap="flat" cmpd="sng" algn="ctr">
                      <a:solidFill>
                        <a:srgbClr val="BFC2B8"/>
                      </a:solidFill>
                      <a:prstDash val="solid"/>
                      <a:round/>
                      <a:headEnd type="none" w="med" len="med"/>
                      <a:tailEnd type="none" w="med" len="med"/>
                    </a:lnL>
                    <a:lnR w="12700" cap="flat" cmpd="sng" algn="ctr">
                      <a:solidFill>
                        <a:srgbClr val="BFC2B8"/>
                      </a:solidFill>
                      <a:prstDash val="solid"/>
                      <a:round/>
                      <a:headEnd type="none" w="med" len="med"/>
                      <a:tailEnd type="none" w="med" len="med"/>
                    </a:lnR>
                    <a:lnT w="12700" cap="flat" cmpd="sng" algn="ctr">
                      <a:solidFill>
                        <a:srgbClr val="C5C4BE"/>
                      </a:solidFill>
                      <a:prstDash val="solid"/>
                      <a:round/>
                      <a:headEnd type="none" w="med" len="med"/>
                      <a:tailEnd type="none" w="med" len="med"/>
                    </a:lnT>
                    <a:lnB w="12700" cap="flat" cmpd="sng" algn="ctr">
                      <a:solidFill>
                        <a:srgbClr val="BFC2B8"/>
                      </a:solidFill>
                      <a:prstDash val="solid"/>
                      <a:round/>
                      <a:headEnd type="none" w="med" len="med"/>
                      <a:tailEnd type="none" w="med" len="med"/>
                    </a:lnB>
                    <a:solidFill>
                      <a:srgbClr val="EFF3E6"/>
                    </a:solidFill>
                  </a:tcPr>
                </a:tc>
              </a:tr>
              <a:tr h="358129">
                <a:tc>
                  <a:txBody>
                    <a:bodyPr/>
                    <a:lstStyle/>
                    <a:p>
                      <a:pPr indent="0" marL="0">
                        <a:lnSpc>
                          <a:spcPts val="1820"/>
                        </a:lnSpc>
                        <a:buNone/>
                      </a:pPr>
                      <a:r>
                        <a:rPr lang="en-US" sz="1300" dirty="0">
                          <a:solidFill>
                            <a:srgbClr val="1E3F33"/>
                          </a:solidFill>
                          <a:latin typeface="DM Sans" pitchFamily="34" charset="0"/>
                          <a:ea typeface="DM Sans" pitchFamily="34" charset="-122"/>
                          <a:cs typeface="DM Sans" pitchFamily="34" charset="-120"/>
                        </a:rPr>
                        <a:t>False savings in normal months</a:t>
                      </a:r>
                      <a:endParaRPr lang="en-US" sz="1300" dirty="0">
                        <a:latin typeface="DM Sans" charset="0"/>
                        <a:ea typeface="DM Sans" charset="0"/>
                        <a:cs typeface="DM Sans" charset="0"/>
                      </a:endParaRPr>
                    </a:p>
                  </a:txBody>
                  <a:tcPr marL="57785" marR="57785" marT="57785" marB="57785" anchor="t">
                    <a:lnL w="12700" cap="flat" cmpd="sng" algn="ctr">
                      <a:solidFill>
                        <a:srgbClr val="C5C4BE"/>
                      </a:solidFill>
                      <a:prstDash val="solid"/>
                      <a:round/>
                      <a:headEnd type="none" w="med" len="med"/>
                      <a:tailEnd type="none" w="med" len="med"/>
                    </a:lnL>
                    <a:lnR w="12700" cap="flat" cmpd="sng" algn="ctr">
                      <a:solidFill>
                        <a:srgbClr val="C5C4BE"/>
                      </a:solidFill>
                      <a:prstDash val="solid"/>
                      <a:round/>
                      <a:headEnd type="none" w="med" len="med"/>
                      <a:tailEnd type="none" w="med" len="med"/>
                    </a:lnR>
                    <a:lnT w="12700" cap="flat" cmpd="sng" algn="ctr">
                      <a:solidFill>
                        <a:srgbClr val="BFC2B8"/>
                      </a:solidFill>
                      <a:prstDash val="solid"/>
                      <a:round/>
                      <a:headEnd type="none" w="med" len="med"/>
                      <a:tailEnd type="none" w="med" len="med"/>
                    </a:lnT>
                    <a:lnB w="12700" cap="flat" cmpd="sng" algn="ctr">
                      <a:solidFill>
                        <a:srgbClr val="C5C4BE"/>
                      </a:solidFill>
                      <a:prstDash val="solid"/>
                      <a:round/>
                      <a:headEnd type="none" w="med" len="med"/>
                      <a:tailEnd type="none" w="med" len="med"/>
                    </a:lnB>
                  </a:tcPr>
                </a:tc>
                <a:tc>
                  <a:txBody>
                    <a:bodyPr/>
                    <a:lstStyle/>
                    <a:p>
                      <a:pPr indent="0" marL="0">
                        <a:lnSpc>
                          <a:spcPts val="1820"/>
                        </a:lnSpc>
                        <a:buNone/>
                      </a:pPr>
                      <a:r>
                        <a:rPr lang="en-US" sz="1300" dirty="0">
                          <a:solidFill>
                            <a:srgbClr val="1E3F33"/>
                          </a:solidFill>
                          <a:latin typeface="DM Sans" pitchFamily="34" charset="0"/>
                          <a:ea typeface="DM Sans" pitchFamily="34" charset="-122"/>
                          <a:cs typeface="DM Sans" pitchFamily="34" charset="-120"/>
                        </a:rPr>
                        <a:t>25 of 55</a:t>
                      </a:r>
                      <a:endParaRPr lang="en-US" sz="1300" dirty="0">
                        <a:latin typeface="DM Sans" charset="0"/>
                        <a:ea typeface="DM Sans" charset="0"/>
                        <a:cs typeface="DM Sans" charset="0"/>
                      </a:endParaRPr>
                    </a:p>
                  </a:txBody>
                  <a:tcPr marL="57785" marR="57785" marT="57785" marB="57785" anchor="t">
                    <a:lnL w="12700" cap="flat" cmpd="sng" algn="ctr">
                      <a:solidFill>
                        <a:srgbClr val="C5C4BE"/>
                      </a:solidFill>
                      <a:prstDash val="solid"/>
                      <a:round/>
                      <a:headEnd type="none" w="med" len="med"/>
                      <a:tailEnd type="none" w="med" len="med"/>
                    </a:lnL>
                    <a:lnR w="12700" cap="flat" cmpd="sng" algn="ctr">
                      <a:solidFill>
                        <a:srgbClr val="C5C4BE"/>
                      </a:solidFill>
                      <a:prstDash val="solid"/>
                      <a:round/>
                      <a:headEnd type="none" w="med" len="med"/>
                      <a:tailEnd type="none" w="med" len="med"/>
                    </a:lnR>
                    <a:lnT w="12700" cap="flat" cmpd="sng" algn="ctr">
                      <a:solidFill>
                        <a:srgbClr val="BFC2B8"/>
                      </a:solidFill>
                      <a:prstDash val="solid"/>
                      <a:round/>
                      <a:headEnd type="none" w="med" len="med"/>
                      <a:tailEnd type="none" w="med" len="med"/>
                    </a:lnT>
                    <a:lnB w="12700" cap="flat" cmpd="sng" algn="ctr">
                      <a:solidFill>
                        <a:srgbClr val="C5C4BE"/>
                      </a:solidFill>
                      <a:prstDash val="solid"/>
                      <a:round/>
                      <a:headEnd type="none" w="med" len="med"/>
                      <a:tailEnd type="none" w="med" len="med"/>
                    </a:lnB>
                  </a:tcPr>
                </a:tc>
                <a:tc>
                  <a:txBody>
                    <a:bodyPr/>
                    <a:lstStyle/>
                    <a:p>
                      <a:pPr indent="0" marL="0">
                        <a:lnSpc>
                          <a:spcPts val="1820"/>
                        </a:lnSpc>
                        <a:buNone/>
                      </a:pPr>
                      <a:r>
                        <a:rPr lang="en-US" sz="1300" dirty="0">
                          <a:solidFill>
                            <a:srgbClr val="1E3F33"/>
                          </a:solidFill>
                          <a:latin typeface="DM Sans" pitchFamily="34" charset="0"/>
                          <a:ea typeface="DM Sans" pitchFamily="34" charset="-122"/>
                          <a:cs typeface="DM Sans" pitchFamily="34" charset="-120"/>
                        </a:rPr>
                        <a:t>1 of 55</a:t>
                      </a:r>
                      <a:endParaRPr lang="en-US" sz="1300" dirty="0">
                        <a:latin typeface="DM Sans" charset="0"/>
                        <a:ea typeface="DM Sans" charset="0"/>
                        <a:cs typeface="DM Sans" charset="0"/>
                      </a:endParaRPr>
                    </a:p>
                  </a:txBody>
                  <a:tcPr marL="57785" marR="57785" marT="57785" marB="57785" anchor="t">
                    <a:lnL w="12700" cap="flat" cmpd="sng" algn="ctr">
                      <a:solidFill>
                        <a:srgbClr val="C5C4BE"/>
                      </a:solidFill>
                      <a:prstDash val="solid"/>
                      <a:round/>
                      <a:headEnd type="none" w="med" len="med"/>
                      <a:tailEnd type="none" w="med" len="med"/>
                    </a:lnL>
                    <a:lnR w="12700" cap="flat" cmpd="sng" algn="ctr">
                      <a:solidFill>
                        <a:srgbClr val="C5C4BE"/>
                      </a:solidFill>
                      <a:prstDash val="solid"/>
                      <a:round/>
                      <a:headEnd type="none" w="med" len="med"/>
                      <a:tailEnd type="none" w="med" len="med"/>
                    </a:lnR>
                    <a:lnT w="12700" cap="flat" cmpd="sng" algn="ctr">
                      <a:solidFill>
                        <a:srgbClr val="BFC2B8"/>
                      </a:solidFill>
                      <a:prstDash val="solid"/>
                      <a:round/>
                      <a:headEnd type="none" w="med" len="med"/>
                      <a:tailEnd type="none" w="med" len="med"/>
                    </a:lnT>
                    <a:lnB w="12700" cap="flat" cmpd="sng" algn="ctr">
                      <a:solidFill>
                        <a:srgbClr val="C5C4BE"/>
                      </a:solidFill>
                      <a:prstDash val="solid"/>
                      <a:round/>
                      <a:headEnd type="none" w="med" len="med"/>
                      <a:tailEnd type="none" w="med" len="med"/>
                    </a:lnB>
                  </a:tcPr>
                </a:tc>
              </a:tr>
              <a:tr h="358129">
                <a:tc>
                  <a:txBody>
                    <a:bodyPr/>
                    <a:lstStyle/>
                    <a:p>
                      <a:pPr indent="0" marL="0">
                        <a:lnSpc>
                          <a:spcPts val="1820"/>
                        </a:lnSpc>
                        <a:buNone/>
                      </a:pPr>
                      <a:r>
                        <a:rPr lang="en-US" sz="1300" dirty="0">
                          <a:solidFill>
                            <a:srgbClr val="1E3F33"/>
                          </a:solidFill>
                          <a:latin typeface="DM Sans" pitchFamily="34" charset="0"/>
                          <a:ea typeface="DM Sans" pitchFamily="34" charset="-122"/>
                          <a:cs typeface="DM Sans" pitchFamily="34" charset="-120"/>
                        </a:rPr>
                        <a:t>Electricity, water, waste, e-waste</a:t>
                      </a:r>
                      <a:endParaRPr lang="en-US" sz="1300" dirty="0">
                        <a:latin typeface="DM Sans" charset="0"/>
                        <a:ea typeface="DM Sans" charset="0"/>
                        <a:cs typeface="DM Sans" charset="0"/>
                      </a:endParaRPr>
                    </a:p>
                  </a:txBody>
                  <a:tcPr marL="57785" marR="57785" marT="57785" marB="57785" anchor="t">
                    <a:lnL w="12700" cap="flat" cmpd="sng" algn="ctr">
                      <a:solidFill>
                        <a:srgbClr val="C5C4BE"/>
                      </a:solidFill>
                      <a:prstDash val="solid"/>
                      <a:round/>
                      <a:headEnd type="none" w="med" len="med"/>
                      <a:tailEnd type="none" w="med" len="med"/>
                    </a:lnL>
                    <a:lnR w="12700" cap="flat" cmpd="sng" algn="ctr">
                      <a:solidFill>
                        <a:srgbClr val="BFC2B8"/>
                      </a:solidFill>
                      <a:prstDash val="solid"/>
                      <a:round/>
                      <a:headEnd type="none" w="med" len="med"/>
                      <a:tailEnd type="none" w="med" len="med"/>
                    </a:lnR>
                    <a:lnT w="12700" cap="flat" cmpd="sng" algn="ctr">
                      <a:solidFill>
                        <a:srgbClr val="C5C4BE"/>
                      </a:solidFill>
                      <a:prstDash val="solid"/>
                      <a:round/>
                      <a:headEnd type="none" w="med" len="med"/>
                      <a:tailEnd type="none" w="med" len="med"/>
                    </a:lnT>
                    <a:lnB w="12700" cap="flat" cmpd="sng" algn="ctr">
                      <a:solidFill>
                        <a:srgbClr val="BFC2B8"/>
                      </a:solidFill>
                      <a:prstDash val="solid"/>
                      <a:round/>
                      <a:headEnd type="none" w="med" len="med"/>
                      <a:tailEnd type="none" w="med" len="med"/>
                    </a:lnB>
                    <a:solidFill>
                      <a:srgbClr val="EFF3E6"/>
                    </a:solidFill>
                  </a:tcPr>
                </a:tc>
                <a:tc>
                  <a:txBody>
                    <a:bodyPr/>
                    <a:lstStyle/>
                    <a:p>
                      <a:pPr indent="0" marL="0">
                        <a:lnSpc>
                          <a:spcPts val="1820"/>
                        </a:lnSpc>
                        <a:buNone/>
                      </a:pPr>
                      <a:r>
                        <a:rPr lang="en-US" sz="1300" dirty="0">
                          <a:solidFill>
                            <a:srgbClr val="1E3F33"/>
                          </a:solidFill>
                          <a:latin typeface="DM Sans" pitchFamily="34" charset="0"/>
                          <a:ea typeface="DM Sans" pitchFamily="34" charset="-122"/>
                          <a:cs typeface="DM Sans" pitchFamily="34" charset="-120"/>
                        </a:rPr>
                        <a:t>Separate sheets</a:t>
                      </a:r>
                      <a:endParaRPr lang="en-US" sz="1300" dirty="0">
                        <a:latin typeface="DM Sans" charset="0"/>
                        <a:ea typeface="DM Sans" charset="0"/>
                        <a:cs typeface="DM Sans" charset="0"/>
                      </a:endParaRPr>
                    </a:p>
                  </a:txBody>
                  <a:tcPr marL="57785" marR="57785" marT="57785" marB="57785" anchor="t">
                    <a:lnL w="12700" cap="flat" cmpd="sng" algn="ctr">
                      <a:solidFill>
                        <a:srgbClr val="BFC2B8"/>
                      </a:solidFill>
                      <a:prstDash val="solid"/>
                      <a:round/>
                      <a:headEnd type="none" w="med" len="med"/>
                      <a:tailEnd type="none" w="med" len="med"/>
                    </a:lnL>
                    <a:lnR w="12700" cap="flat" cmpd="sng" algn="ctr">
                      <a:solidFill>
                        <a:srgbClr val="BFC2B8"/>
                      </a:solidFill>
                      <a:prstDash val="solid"/>
                      <a:round/>
                      <a:headEnd type="none" w="med" len="med"/>
                      <a:tailEnd type="none" w="med" len="med"/>
                    </a:lnR>
                    <a:lnT w="12700" cap="flat" cmpd="sng" algn="ctr">
                      <a:solidFill>
                        <a:srgbClr val="C5C4BE"/>
                      </a:solidFill>
                      <a:prstDash val="solid"/>
                      <a:round/>
                      <a:headEnd type="none" w="med" len="med"/>
                      <a:tailEnd type="none" w="med" len="med"/>
                    </a:lnT>
                    <a:lnB w="12700" cap="flat" cmpd="sng" algn="ctr">
                      <a:solidFill>
                        <a:srgbClr val="BFC2B8"/>
                      </a:solidFill>
                      <a:prstDash val="solid"/>
                      <a:round/>
                      <a:headEnd type="none" w="med" len="med"/>
                      <a:tailEnd type="none" w="med" len="med"/>
                    </a:lnB>
                    <a:solidFill>
                      <a:srgbClr val="EFF3E6"/>
                    </a:solidFill>
                  </a:tcPr>
                </a:tc>
                <a:tc>
                  <a:txBody>
                    <a:bodyPr/>
                    <a:lstStyle/>
                    <a:p>
                      <a:pPr indent="0" marL="0">
                        <a:lnSpc>
                          <a:spcPts val="1820"/>
                        </a:lnSpc>
                        <a:buNone/>
                      </a:pPr>
                      <a:r>
                        <a:rPr lang="en-US" sz="1300" dirty="0">
                          <a:solidFill>
                            <a:srgbClr val="1E3F33"/>
                          </a:solidFill>
                          <a:latin typeface="DM Sans" pitchFamily="34" charset="0"/>
                          <a:ea typeface="DM Sans" pitchFamily="34" charset="-122"/>
                          <a:cs typeface="DM Sans" pitchFamily="34" charset="-120"/>
                        </a:rPr>
                        <a:t>One place, per department, on a map</a:t>
                      </a:r>
                      <a:endParaRPr lang="en-US" sz="1300" dirty="0">
                        <a:latin typeface="DM Sans" charset="0"/>
                        <a:ea typeface="DM Sans" charset="0"/>
                        <a:cs typeface="DM Sans" charset="0"/>
                      </a:endParaRPr>
                    </a:p>
                  </a:txBody>
                  <a:tcPr marL="57785" marR="57785" marT="57785" marB="57785" anchor="t">
                    <a:lnL w="12700" cap="flat" cmpd="sng" algn="ctr">
                      <a:solidFill>
                        <a:srgbClr val="BFC2B8"/>
                      </a:solidFill>
                      <a:prstDash val="solid"/>
                      <a:round/>
                      <a:headEnd type="none" w="med" len="med"/>
                      <a:tailEnd type="none" w="med" len="med"/>
                    </a:lnL>
                    <a:lnR w="12700" cap="flat" cmpd="sng" algn="ctr">
                      <a:solidFill>
                        <a:srgbClr val="BFC2B8"/>
                      </a:solidFill>
                      <a:prstDash val="solid"/>
                      <a:round/>
                      <a:headEnd type="none" w="med" len="med"/>
                      <a:tailEnd type="none" w="med" len="med"/>
                    </a:lnR>
                    <a:lnT w="12700" cap="flat" cmpd="sng" algn="ctr">
                      <a:solidFill>
                        <a:srgbClr val="C5C4BE"/>
                      </a:solidFill>
                      <a:prstDash val="solid"/>
                      <a:round/>
                      <a:headEnd type="none" w="med" len="med"/>
                      <a:tailEnd type="none" w="med" len="med"/>
                    </a:lnT>
                    <a:lnB w="12700" cap="flat" cmpd="sng" algn="ctr">
                      <a:solidFill>
                        <a:srgbClr val="BFC2B8"/>
                      </a:solidFill>
                      <a:prstDash val="solid"/>
                      <a:round/>
                      <a:headEnd type="none" w="med" len="med"/>
                      <a:tailEnd type="none" w="med" len="med"/>
                    </a:lnB>
                    <a:solidFill>
                      <a:srgbClr val="EFF3E6"/>
                    </a:solidFill>
                  </a:tcPr>
                </a:tc>
              </a:tr>
              <a:tr h="358129">
                <a:tc>
                  <a:txBody>
                    <a:bodyPr/>
                    <a:lstStyle/>
                    <a:p>
                      <a:pPr indent="0" marL="0">
                        <a:lnSpc>
                          <a:spcPts val="1820"/>
                        </a:lnSpc>
                        <a:buNone/>
                      </a:pPr>
                      <a:r>
                        <a:rPr lang="en-US" sz="1300" dirty="0">
                          <a:solidFill>
                            <a:srgbClr val="1E3F33"/>
                          </a:solidFill>
                          <a:latin typeface="DM Sans" pitchFamily="34" charset="0"/>
                          <a:ea typeface="DM Sans" pitchFamily="34" charset="-122"/>
                          <a:cs typeface="DM Sans" pitchFamily="34" charset="-120"/>
                        </a:rPr>
                        <a:t>Takes action</a:t>
                      </a:r>
                      <a:endParaRPr lang="en-US" sz="1300" dirty="0">
                        <a:latin typeface="DM Sans" charset="0"/>
                        <a:ea typeface="DM Sans" charset="0"/>
                        <a:cs typeface="DM Sans" charset="0"/>
                      </a:endParaRPr>
                    </a:p>
                  </a:txBody>
                  <a:tcPr marL="57785" marR="57785" marT="57785" marB="57785" anchor="t">
                    <a:lnL w="12700" cap="flat" cmpd="sng" algn="ctr">
                      <a:solidFill>
                        <a:srgbClr val="C5C4BE"/>
                      </a:solidFill>
                      <a:prstDash val="solid"/>
                      <a:round/>
                      <a:headEnd type="none" w="med" len="med"/>
                      <a:tailEnd type="none" w="med" len="med"/>
                    </a:lnL>
                    <a:lnR w="12700" cap="flat" cmpd="sng" algn="ctr">
                      <a:solidFill>
                        <a:srgbClr val="C5C4BE"/>
                      </a:solidFill>
                      <a:prstDash val="solid"/>
                      <a:round/>
                      <a:headEnd type="none" w="med" len="med"/>
                      <a:tailEnd type="none" w="med" len="med"/>
                    </a:lnR>
                    <a:lnT w="12700" cap="flat" cmpd="sng" algn="ctr">
                      <a:solidFill>
                        <a:srgbClr val="BFC2B8"/>
                      </a:solidFill>
                      <a:prstDash val="solid"/>
                      <a:round/>
                      <a:headEnd type="none" w="med" len="med"/>
                      <a:tailEnd type="none" w="med" len="med"/>
                    </a:lnT>
                    <a:lnB w="12700" cap="flat" cmpd="sng" algn="ctr">
                      <a:solidFill>
                        <a:srgbClr val="C5C4BE"/>
                      </a:solidFill>
                      <a:prstDash val="solid"/>
                      <a:round/>
                      <a:headEnd type="none" w="med" len="med"/>
                      <a:tailEnd type="none" w="med" len="med"/>
                    </a:lnB>
                  </a:tcPr>
                </a:tc>
                <a:tc>
                  <a:txBody>
                    <a:bodyPr/>
                    <a:lstStyle/>
                    <a:p>
                      <a:pPr indent="0" marL="0">
                        <a:lnSpc>
                          <a:spcPts val="1820"/>
                        </a:lnSpc>
                        <a:buNone/>
                      </a:pPr>
                      <a:r>
                        <a:rPr lang="en-US" sz="1300" dirty="0">
                          <a:solidFill>
                            <a:srgbClr val="1E3F33"/>
                          </a:solidFill>
                          <a:latin typeface="DM Sans" pitchFamily="34" charset="0"/>
                          <a:ea typeface="DM Sans" pitchFamily="34" charset="-122"/>
                          <a:cs typeface="DM Sans" pitchFamily="34" charset="-120"/>
                        </a:rPr>
                        <a:t>Only shows numbers</a:t>
                      </a:r>
                      <a:endParaRPr lang="en-US" sz="1300" dirty="0">
                        <a:latin typeface="DM Sans" charset="0"/>
                        <a:ea typeface="DM Sans" charset="0"/>
                        <a:cs typeface="DM Sans" charset="0"/>
                      </a:endParaRPr>
                    </a:p>
                  </a:txBody>
                  <a:tcPr marL="57785" marR="57785" marT="57785" marB="57785" anchor="t">
                    <a:lnL w="12700" cap="flat" cmpd="sng" algn="ctr">
                      <a:solidFill>
                        <a:srgbClr val="C5C4BE"/>
                      </a:solidFill>
                      <a:prstDash val="solid"/>
                      <a:round/>
                      <a:headEnd type="none" w="med" len="med"/>
                      <a:tailEnd type="none" w="med" len="med"/>
                    </a:lnL>
                    <a:lnR w="12700" cap="flat" cmpd="sng" algn="ctr">
                      <a:solidFill>
                        <a:srgbClr val="C5C4BE"/>
                      </a:solidFill>
                      <a:prstDash val="solid"/>
                      <a:round/>
                      <a:headEnd type="none" w="med" len="med"/>
                      <a:tailEnd type="none" w="med" len="med"/>
                    </a:lnR>
                    <a:lnT w="12700" cap="flat" cmpd="sng" algn="ctr">
                      <a:solidFill>
                        <a:srgbClr val="BFC2B8"/>
                      </a:solidFill>
                      <a:prstDash val="solid"/>
                      <a:round/>
                      <a:headEnd type="none" w="med" len="med"/>
                      <a:tailEnd type="none" w="med" len="med"/>
                    </a:lnT>
                    <a:lnB w="12700" cap="flat" cmpd="sng" algn="ctr">
                      <a:solidFill>
                        <a:srgbClr val="C5C4BE"/>
                      </a:solidFill>
                      <a:prstDash val="solid"/>
                      <a:round/>
                      <a:headEnd type="none" w="med" len="med"/>
                      <a:tailEnd type="none" w="med" len="med"/>
                    </a:lnB>
                  </a:tcPr>
                </a:tc>
                <a:tc>
                  <a:txBody>
                    <a:bodyPr/>
                    <a:lstStyle/>
                    <a:p>
                      <a:pPr indent="0" marL="0">
                        <a:lnSpc>
                          <a:spcPts val="1820"/>
                        </a:lnSpc>
                        <a:buNone/>
                      </a:pPr>
                      <a:r>
                        <a:rPr lang="en-US" sz="1300" dirty="0">
                          <a:solidFill>
                            <a:srgbClr val="1E3F33"/>
                          </a:solidFill>
                          <a:latin typeface="DM Sans" pitchFamily="34" charset="0"/>
                          <a:ea typeface="DM Sans" pitchFamily="34" charset="-122"/>
                          <a:cs typeface="DM Sans" pitchFamily="34" charset="-120"/>
                        </a:rPr>
                        <a:t>Room switches fan, lights, AC itself</a:t>
                      </a:r>
                      <a:endParaRPr lang="en-US" sz="1300" dirty="0">
                        <a:latin typeface="DM Sans" charset="0"/>
                        <a:ea typeface="DM Sans" charset="0"/>
                        <a:cs typeface="DM Sans" charset="0"/>
                      </a:endParaRPr>
                    </a:p>
                  </a:txBody>
                  <a:tcPr marL="57785" marR="57785" marT="57785" marB="57785" anchor="t">
                    <a:lnL w="12700" cap="flat" cmpd="sng" algn="ctr">
                      <a:solidFill>
                        <a:srgbClr val="C5C4BE"/>
                      </a:solidFill>
                      <a:prstDash val="solid"/>
                      <a:round/>
                      <a:headEnd type="none" w="med" len="med"/>
                      <a:tailEnd type="none" w="med" len="med"/>
                    </a:lnL>
                    <a:lnR w="12700" cap="flat" cmpd="sng" algn="ctr">
                      <a:solidFill>
                        <a:srgbClr val="C5C4BE"/>
                      </a:solidFill>
                      <a:prstDash val="solid"/>
                      <a:round/>
                      <a:headEnd type="none" w="med" len="med"/>
                      <a:tailEnd type="none" w="med" len="med"/>
                    </a:lnR>
                    <a:lnT w="12700" cap="flat" cmpd="sng" algn="ctr">
                      <a:solidFill>
                        <a:srgbClr val="BFC2B8"/>
                      </a:solidFill>
                      <a:prstDash val="solid"/>
                      <a:round/>
                      <a:headEnd type="none" w="med" len="med"/>
                      <a:tailEnd type="none" w="med" len="med"/>
                    </a:lnT>
                    <a:lnB w="12700" cap="flat" cmpd="sng" algn="ctr">
                      <a:solidFill>
                        <a:srgbClr val="C5C4BE"/>
                      </a:solidFill>
                      <a:prstDash val="solid"/>
                      <a:round/>
                      <a:headEnd type="none" w="med" len="med"/>
                      <a:tailEnd type="none" w="med" len="med"/>
                    </a:lnB>
                  </a:tcPr>
                </a:tc>
              </a:tr>
              <a:tr h="358129">
                <a:tc>
                  <a:txBody>
                    <a:bodyPr/>
                    <a:lstStyle/>
                    <a:p>
                      <a:pPr indent="0" marL="0">
                        <a:lnSpc>
                          <a:spcPts val="1820"/>
                        </a:lnSpc>
                        <a:buNone/>
                      </a:pPr>
                      <a:r>
                        <a:rPr lang="en-US" sz="1300" dirty="0">
                          <a:solidFill>
                            <a:srgbClr val="1E3F33"/>
                          </a:solidFill>
                          <a:latin typeface="DM Sans" pitchFamily="34" charset="0"/>
                          <a:ea typeface="DM Sans" pitchFamily="34" charset="-122"/>
                          <a:cs typeface="DM Sans" pitchFamily="34" charset="-120"/>
                        </a:rPr>
                        <a:t>Privacy</a:t>
                      </a:r>
                      <a:endParaRPr lang="en-US" sz="1300" dirty="0">
                        <a:latin typeface="DM Sans" charset="0"/>
                        <a:ea typeface="DM Sans" charset="0"/>
                        <a:cs typeface="DM Sans" charset="0"/>
                      </a:endParaRPr>
                    </a:p>
                  </a:txBody>
                  <a:tcPr marL="57785" marR="57785" marT="57785" marB="57785" anchor="t">
                    <a:lnL w="12700" cap="flat" cmpd="sng" algn="ctr">
                      <a:solidFill>
                        <a:srgbClr val="C5C4BE"/>
                      </a:solidFill>
                      <a:prstDash val="solid"/>
                      <a:round/>
                      <a:headEnd type="none" w="med" len="med"/>
                      <a:tailEnd type="none" w="med" len="med"/>
                    </a:lnL>
                    <a:lnR w="12700" cap="flat" cmpd="sng" algn="ctr">
                      <a:solidFill>
                        <a:srgbClr val="BFC2B8"/>
                      </a:solidFill>
                      <a:prstDash val="solid"/>
                      <a:round/>
                      <a:headEnd type="none" w="med" len="med"/>
                      <a:tailEnd type="none" w="med" len="med"/>
                    </a:lnR>
                    <a:lnT w="12700" cap="flat" cmpd="sng" algn="ctr">
                      <a:solidFill>
                        <a:srgbClr val="C5C4BE"/>
                      </a:solidFill>
                      <a:prstDash val="solid"/>
                      <a:round/>
                      <a:headEnd type="none" w="med" len="med"/>
                      <a:tailEnd type="none" w="med" len="med"/>
                    </a:lnT>
                    <a:lnB w="12700" cap="flat" cmpd="sng" algn="ctr">
                      <a:solidFill>
                        <a:srgbClr val="BFC2B8"/>
                      </a:solidFill>
                      <a:prstDash val="solid"/>
                      <a:round/>
                      <a:headEnd type="none" w="med" len="med"/>
                      <a:tailEnd type="none" w="med" len="med"/>
                    </a:lnB>
                    <a:solidFill>
                      <a:srgbClr val="EFF3E6"/>
                    </a:solidFill>
                  </a:tcPr>
                </a:tc>
                <a:tc>
                  <a:txBody>
                    <a:bodyPr/>
                    <a:lstStyle/>
                    <a:p>
                      <a:pPr indent="0" marL="0">
                        <a:lnSpc>
                          <a:spcPts val="1820"/>
                        </a:lnSpc>
                        <a:buNone/>
                      </a:pPr>
                      <a:r>
                        <a:rPr lang="en-US" sz="1300" dirty="0">
                          <a:solidFill>
                            <a:srgbClr val="1E3F33"/>
                          </a:solidFill>
                          <a:latin typeface="DM Sans" pitchFamily="34" charset="0"/>
                          <a:ea typeface="DM Sans" pitchFamily="34" charset="-122"/>
                          <a:cs typeface="DM Sans" pitchFamily="34" charset="-120"/>
                        </a:rPr>
                        <a:t>—</a:t>
                      </a:r>
                      <a:endParaRPr lang="en-US" sz="1300" dirty="0">
                        <a:latin typeface="DM Sans" charset="0"/>
                        <a:ea typeface="DM Sans" charset="0"/>
                        <a:cs typeface="DM Sans" charset="0"/>
                      </a:endParaRPr>
                    </a:p>
                  </a:txBody>
                  <a:tcPr marL="57785" marR="57785" marT="57785" marB="57785" anchor="t">
                    <a:lnL w="12700" cap="flat" cmpd="sng" algn="ctr">
                      <a:solidFill>
                        <a:srgbClr val="BFC2B8"/>
                      </a:solidFill>
                      <a:prstDash val="solid"/>
                      <a:round/>
                      <a:headEnd type="none" w="med" len="med"/>
                      <a:tailEnd type="none" w="med" len="med"/>
                    </a:lnL>
                    <a:lnR w="12700" cap="flat" cmpd="sng" algn="ctr">
                      <a:solidFill>
                        <a:srgbClr val="BFC2B8"/>
                      </a:solidFill>
                      <a:prstDash val="solid"/>
                      <a:round/>
                      <a:headEnd type="none" w="med" len="med"/>
                      <a:tailEnd type="none" w="med" len="med"/>
                    </a:lnR>
                    <a:lnT w="12700" cap="flat" cmpd="sng" algn="ctr">
                      <a:solidFill>
                        <a:srgbClr val="C5C4BE"/>
                      </a:solidFill>
                      <a:prstDash val="solid"/>
                      <a:round/>
                      <a:headEnd type="none" w="med" len="med"/>
                      <a:tailEnd type="none" w="med" len="med"/>
                    </a:lnT>
                    <a:lnB w="12700" cap="flat" cmpd="sng" algn="ctr">
                      <a:solidFill>
                        <a:srgbClr val="BFC2B8"/>
                      </a:solidFill>
                      <a:prstDash val="solid"/>
                      <a:round/>
                      <a:headEnd type="none" w="med" len="med"/>
                      <a:tailEnd type="none" w="med" len="med"/>
                    </a:lnB>
                    <a:solidFill>
                      <a:srgbClr val="EFF3E6"/>
                    </a:solidFill>
                  </a:tcPr>
                </a:tc>
                <a:tc>
                  <a:txBody>
                    <a:bodyPr/>
                    <a:lstStyle/>
                    <a:p>
                      <a:pPr indent="0" marL="0">
                        <a:lnSpc>
                          <a:spcPts val="1820"/>
                        </a:lnSpc>
                        <a:buNone/>
                      </a:pPr>
                      <a:r>
                        <a:rPr lang="en-US" sz="1300" dirty="0">
                          <a:solidFill>
                            <a:srgbClr val="1E3F33"/>
                          </a:solidFill>
                          <a:latin typeface="DM Sans" pitchFamily="34" charset="0"/>
                          <a:ea typeface="DM Sans" pitchFamily="34" charset="-122"/>
                          <a:cs typeface="DM Sans" pitchFamily="34" charset="-120"/>
                        </a:rPr>
                        <a:t>People blurred, no images saved</a:t>
                      </a:r>
                      <a:endParaRPr lang="en-US" sz="1300" dirty="0">
                        <a:latin typeface="DM Sans" charset="0"/>
                        <a:ea typeface="DM Sans" charset="0"/>
                        <a:cs typeface="DM Sans" charset="0"/>
                      </a:endParaRPr>
                    </a:p>
                  </a:txBody>
                  <a:tcPr marL="57785" marR="57785" marT="57785" marB="57785" anchor="t">
                    <a:lnL w="12700" cap="flat" cmpd="sng" algn="ctr">
                      <a:solidFill>
                        <a:srgbClr val="BFC2B8"/>
                      </a:solidFill>
                      <a:prstDash val="solid"/>
                      <a:round/>
                      <a:headEnd type="none" w="med" len="med"/>
                      <a:tailEnd type="none" w="med" len="med"/>
                    </a:lnL>
                    <a:lnR w="12700" cap="flat" cmpd="sng" algn="ctr">
                      <a:solidFill>
                        <a:srgbClr val="BFC2B8"/>
                      </a:solidFill>
                      <a:prstDash val="solid"/>
                      <a:round/>
                      <a:headEnd type="none" w="med" len="med"/>
                      <a:tailEnd type="none" w="med" len="med"/>
                    </a:lnR>
                    <a:lnT w="12700" cap="flat" cmpd="sng" algn="ctr">
                      <a:solidFill>
                        <a:srgbClr val="C5C4BE"/>
                      </a:solidFill>
                      <a:prstDash val="solid"/>
                      <a:round/>
                      <a:headEnd type="none" w="med" len="med"/>
                      <a:tailEnd type="none" w="med" len="med"/>
                    </a:lnT>
                    <a:lnB w="12700" cap="flat" cmpd="sng" algn="ctr">
                      <a:solidFill>
                        <a:srgbClr val="BFC2B8"/>
                      </a:solidFill>
                      <a:prstDash val="solid"/>
                      <a:round/>
                      <a:headEnd type="none" w="med" len="med"/>
                      <a:tailEnd type="none" w="med" len="med"/>
                    </a:lnB>
                    <a:solidFill>
                      <a:srgbClr val="EFF3E6"/>
                    </a:solidFill>
                  </a:tcPr>
                </a:tc>
              </a:tr>
              <a:tr h="358129">
                <a:tc>
                  <a:txBody>
                    <a:bodyPr/>
                    <a:lstStyle/>
                    <a:p>
                      <a:pPr indent="0" marL="0">
                        <a:lnSpc>
                          <a:spcPts val="1820"/>
                        </a:lnSpc>
                        <a:buNone/>
                      </a:pPr>
                      <a:r>
                        <a:rPr lang="en-US" sz="1300" dirty="0">
                          <a:solidFill>
                            <a:srgbClr val="1E3F33"/>
                          </a:solidFill>
                          <a:latin typeface="DM Sans" pitchFamily="34" charset="0"/>
                          <a:ea typeface="DM Sans" pitchFamily="34" charset="-122"/>
                          <a:cs typeface="DM Sans" pitchFamily="34" charset="-120"/>
                        </a:rPr>
                        <a:t>Cost to start</a:t>
                      </a:r>
                      <a:endParaRPr lang="en-US" sz="1300" dirty="0">
                        <a:latin typeface="DM Sans" charset="0"/>
                        <a:ea typeface="DM Sans" charset="0"/>
                        <a:cs typeface="DM Sans" charset="0"/>
                      </a:endParaRPr>
                    </a:p>
                  </a:txBody>
                  <a:tcPr marL="57785" marR="57785" marT="57785" marB="57785" anchor="t">
                    <a:lnL w="12700" cap="flat" cmpd="sng" algn="ctr">
                      <a:solidFill>
                        <a:srgbClr val="C5C4BE"/>
                      </a:solidFill>
                      <a:prstDash val="solid"/>
                      <a:round/>
                      <a:headEnd type="none" w="med" len="med"/>
                      <a:tailEnd type="none" w="med" len="med"/>
                    </a:lnL>
                    <a:lnR w="12700" cap="flat" cmpd="sng" algn="ctr">
                      <a:solidFill>
                        <a:srgbClr val="C5C4BE"/>
                      </a:solidFill>
                      <a:prstDash val="solid"/>
                      <a:round/>
                      <a:headEnd type="none" w="med" len="med"/>
                      <a:tailEnd type="none" w="med" len="med"/>
                    </a:lnR>
                    <a:lnT w="12700" cap="flat" cmpd="sng" algn="ctr">
                      <a:solidFill>
                        <a:srgbClr val="BFC2B8"/>
                      </a:solidFill>
                      <a:prstDash val="solid"/>
                      <a:round/>
                      <a:headEnd type="none" w="med" len="med"/>
                      <a:tailEnd type="none" w="med" len="med"/>
                    </a:lnT>
                    <a:lnB w="12700" cap="flat" cmpd="sng" algn="ctr">
                      <a:solidFill>
                        <a:srgbClr val="C5C4BE"/>
                      </a:solidFill>
                      <a:prstDash val="solid"/>
                      <a:round/>
                      <a:headEnd type="none" w="med" len="med"/>
                      <a:tailEnd type="none" w="med" len="med"/>
                    </a:lnB>
                  </a:tcPr>
                </a:tc>
                <a:tc>
                  <a:txBody>
                    <a:bodyPr/>
                    <a:lstStyle/>
                    <a:p>
                      <a:pPr indent="0" marL="0">
                        <a:lnSpc>
                          <a:spcPts val="1820"/>
                        </a:lnSpc>
                        <a:buNone/>
                      </a:pPr>
                      <a:r>
                        <a:rPr lang="en-US" sz="1300" dirty="0">
                          <a:solidFill>
                            <a:srgbClr val="1E3F33"/>
                          </a:solidFill>
                          <a:latin typeface="DM Sans" pitchFamily="34" charset="0"/>
                          <a:ea typeface="DM Sans" pitchFamily="34" charset="-122"/>
                          <a:cs typeface="DM Sans" pitchFamily="34" charset="-120"/>
                        </a:rPr>
                        <a:t>New meters</a:t>
                      </a:r>
                      <a:endParaRPr lang="en-US" sz="1300" dirty="0">
                        <a:latin typeface="DM Sans" charset="0"/>
                        <a:ea typeface="DM Sans" charset="0"/>
                        <a:cs typeface="DM Sans" charset="0"/>
                      </a:endParaRPr>
                    </a:p>
                  </a:txBody>
                  <a:tcPr marL="57785" marR="57785" marT="57785" marB="57785" anchor="t">
                    <a:lnL w="12700" cap="flat" cmpd="sng" algn="ctr">
                      <a:solidFill>
                        <a:srgbClr val="C5C4BE"/>
                      </a:solidFill>
                      <a:prstDash val="solid"/>
                      <a:round/>
                      <a:headEnd type="none" w="med" len="med"/>
                      <a:tailEnd type="none" w="med" len="med"/>
                    </a:lnL>
                    <a:lnR w="12700" cap="flat" cmpd="sng" algn="ctr">
                      <a:solidFill>
                        <a:srgbClr val="C5C4BE"/>
                      </a:solidFill>
                      <a:prstDash val="solid"/>
                      <a:round/>
                      <a:headEnd type="none" w="med" len="med"/>
                      <a:tailEnd type="none" w="med" len="med"/>
                    </a:lnR>
                    <a:lnT w="12700" cap="flat" cmpd="sng" algn="ctr">
                      <a:solidFill>
                        <a:srgbClr val="BFC2B8"/>
                      </a:solidFill>
                      <a:prstDash val="solid"/>
                      <a:round/>
                      <a:headEnd type="none" w="med" len="med"/>
                      <a:tailEnd type="none" w="med" len="med"/>
                    </a:lnT>
                    <a:lnB w="12700" cap="flat" cmpd="sng" algn="ctr">
                      <a:solidFill>
                        <a:srgbClr val="C5C4BE"/>
                      </a:solidFill>
                      <a:prstDash val="solid"/>
                      <a:round/>
                      <a:headEnd type="none" w="med" len="med"/>
                      <a:tailEnd type="none" w="med" len="med"/>
                    </a:lnB>
                  </a:tcPr>
                </a:tc>
                <a:tc>
                  <a:txBody>
                    <a:bodyPr/>
                    <a:lstStyle/>
                    <a:p>
                      <a:pPr indent="0" marL="0">
                        <a:lnSpc>
                          <a:spcPts val="1820"/>
                        </a:lnSpc>
                        <a:buNone/>
                      </a:pPr>
                      <a:r>
                        <a:rPr lang="en-US" sz="1300" dirty="0">
                          <a:solidFill>
                            <a:srgbClr val="1E3F33"/>
                          </a:solidFill>
                          <a:latin typeface="DM Sans" pitchFamily="34" charset="0"/>
                          <a:ea typeface="DM Sans" pitchFamily="34" charset="-122"/>
                          <a:cs typeface="DM Sans" pitchFamily="34" charset="-120"/>
                        </a:rPr>
                        <a:t>Existing bills · open-source</a:t>
                      </a:r>
                      <a:endParaRPr lang="en-US" sz="1300" dirty="0">
                        <a:latin typeface="DM Sans" charset="0"/>
                        <a:ea typeface="DM Sans" charset="0"/>
                        <a:cs typeface="DM Sans" charset="0"/>
                      </a:endParaRPr>
                    </a:p>
                  </a:txBody>
                  <a:tcPr marL="57785" marR="57785" marT="57785" marB="57785" anchor="t">
                    <a:lnL w="12700" cap="flat" cmpd="sng" algn="ctr">
                      <a:solidFill>
                        <a:srgbClr val="C5C4BE"/>
                      </a:solidFill>
                      <a:prstDash val="solid"/>
                      <a:round/>
                      <a:headEnd type="none" w="med" len="med"/>
                      <a:tailEnd type="none" w="med" len="med"/>
                    </a:lnL>
                    <a:lnR w="12700" cap="flat" cmpd="sng" algn="ctr">
                      <a:solidFill>
                        <a:srgbClr val="C5C4BE"/>
                      </a:solidFill>
                      <a:prstDash val="solid"/>
                      <a:round/>
                      <a:headEnd type="none" w="med" len="med"/>
                      <a:tailEnd type="none" w="med" len="med"/>
                    </a:lnR>
                    <a:lnT w="12700" cap="flat" cmpd="sng" algn="ctr">
                      <a:solidFill>
                        <a:srgbClr val="BFC2B8"/>
                      </a:solidFill>
                      <a:prstDash val="solid"/>
                      <a:round/>
                      <a:headEnd type="none" w="med" len="med"/>
                      <a:tailEnd type="none" w="med" len="med"/>
                    </a:lnT>
                    <a:lnB w="12700" cap="flat" cmpd="sng" algn="ctr">
                      <a:solidFill>
                        <a:srgbClr val="C5C4BE"/>
                      </a:solidFill>
                      <a:prstDash val="solid"/>
                      <a:round/>
                      <a:headEnd type="none" w="med" len="med"/>
                      <a:tailEnd type="none" w="med" len="med"/>
                    </a:lnB>
                  </a:tcPr>
                </a:tc>
              </a:tr>
            </a:tbl>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7F5EE"/>
        </a:solidFill>
      </p:bgPr>
    </p:bg>
    <p:spTree>
      <p:nvGrpSpPr>
        <p:cNvPr id="1" name=""/>
        <p:cNvGrpSpPr/>
        <p:nvPr/>
      </p:nvGrpSpPr>
      <p:grpSpPr>
        <a:xfrm>
          <a:off x="0" y="0"/>
          <a:ext cx="0" cy="0"/>
          <a:chOff x="0" y="0"/>
          <a:chExt cx="0" cy="0"/>
        </a:xfrm>
      </p:grpSpPr>
      <p:sp>
        <p:nvSpPr>
          <p:cNvPr id="2" name="Text 0"/>
          <p:cNvSpPr/>
          <p:nvPr/>
        </p:nvSpPr>
        <p:spPr>
          <a:xfrm>
            <a:off x="812750" y="812750"/>
            <a:ext cx="10883467" cy="274357"/>
          </a:xfrm>
          <a:prstGeom prst="rect">
            <a:avLst/>
          </a:prstGeom>
          <a:noFill/>
          <a:ln/>
        </p:spPr>
        <p:txBody>
          <a:bodyPr wrap="square" lIns="0" tIns="0" rIns="0" bIns="0" rtlCol="0" anchor="t">
            <a:normAutofit/>
          </a:bodyPr>
          <a:lstStyle/>
          <a:p>
            <a:pPr algn="l" indent="0" marL="0">
              <a:lnSpc>
                <a:spcPts val="1960"/>
              </a:lnSpc>
              <a:buNone/>
            </a:pPr>
            <a:r>
              <a:rPr lang="en-US" sz="1400" b="1" spc="200" kern="0" dirty="0">
                <a:solidFill>
                  <a:srgbClr val="9A6B1F"/>
                </a:solidFill>
                <a:latin typeface="DM Sans" pitchFamily="34" charset="0"/>
                <a:ea typeface="DM Sans" pitchFamily="34" charset="-122"/>
                <a:cs typeface="DM Sans" pitchFamily="34" charset="-120"/>
              </a:rPr>
              <a:t>05 · BENEFITS</a:t>
            </a:r>
            <a:endParaRPr lang="en-US" sz="1400" dirty="0"/>
          </a:p>
        </p:txBody>
      </p:sp>
      <p:sp>
        <p:nvSpPr>
          <p:cNvPr id="3" name="Text 1"/>
          <p:cNvSpPr/>
          <p:nvPr>
            <p:ph type="title"/>
          </p:nvPr>
        </p:nvSpPr>
        <p:spPr>
          <a:xfrm>
            <a:off x="812750" y="1163272"/>
            <a:ext cx="10883467" cy="472412"/>
          </a:xfrm>
          <a:prstGeom prst="rect">
            <a:avLst/>
          </a:prstGeom>
          <a:noFill/>
          <a:ln/>
        </p:spPr>
        <p:txBody>
          <a:bodyPr wrap="square" lIns="0" tIns="0" rIns="0" bIns="0" rtlCol="0" anchor="t">
            <a:normAutofit/>
          </a:bodyPr>
          <a:lstStyle/>
          <a:p>
            <a:pPr algn="l" indent="0" marL="0">
              <a:lnSpc>
                <a:spcPts val="3520"/>
              </a:lnSpc>
              <a:buNone/>
            </a:pPr>
            <a:r>
              <a:rPr lang="en-US" sz="3200" b="1" i="0" spc="-50" kern="0" dirty="0">
                <a:solidFill>
                  <a:srgbClr val="1E3F33"/>
                </a:solidFill>
                <a:latin typeface="Manrope" pitchFamily="34" charset="0"/>
                <a:ea typeface="Manrope" pitchFamily="34" charset="-122"/>
                <a:cs typeface="Manrope" pitchFamily="34" charset="-120"/>
              </a:rPr>
              <a:t>Four reasons a campus can start tomorrow</a:t>
            </a:r>
            <a:endParaRPr lang="en-US" sz="3200" dirty="0"/>
          </a:p>
        </p:txBody>
      </p:sp>
      <p:sp>
        <p:nvSpPr>
          <p:cNvPr id="4" name="Shape 2"/>
          <p:cNvSpPr/>
          <p:nvPr/>
        </p:nvSpPr>
        <p:spPr>
          <a:xfrm>
            <a:off x="815925" y="1892852"/>
            <a:ext cx="5188003" cy="1552487"/>
          </a:xfrm>
          <a:prstGeom prst="roundRect">
            <a:avLst>
              <a:gd name="adj" fmla="val 7976"/>
            </a:avLst>
          </a:prstGeom>
          <a:solidFill>
            <a:srgbClr val="FFFDF7"/>
          </a:solidFill>
          <a:ln w="6350">
            <a:solidFill>
              <a:srgbClr val="D9DECF"/>
            </a:solidFill>
            <a:prstDash val="solid"/>
          </a:ln>
        </p:spPr>
      </p:sp>
      <p:sp>
        <p:nvSpPr>
          <p:cNvPr id="5" name="Text 3"/>
          <p:cNvSpPr/>
          <p:nvPr/>
        </p:nvSpPr>
        <p:spPr>
          <a:xfrm>
            <a:off x="1070584" y="2147509"/>
            <a:ext cx="406393" cy="523194"/>
          </a:xfrm>
          <a:prstGeom prst="rect">
            <a:avLst/>
          </a:prstGeom>
          <a:noFill/>
          <a:ln/>
        </p:spPr>
        <p:txBody>
          <a:bodyPr wrap="square" lIns="0" tIns="0" rIns="0" bIns="0" rtlCol="0" anchor="t">
            <a:normAutofit/>
          </a:bodyPr>
          <a:lstStyle/>
          <a:p>
            <a:pPr algn="l" indent="0" marL="0">
              <a:lnSpc>
                <a:spcPts val="3920"/>
              </a:lnSpc>
              <a:buNone/>
            </a:pPr>
            <a:r>
              <a:rPr lang="en-US" sz="2800" b="1" dirty="0">
                <a:solidFill>
                  <a:srgbClr val="9A6B1F"/>
                </a:solidFill>
                <a:latin typeface="Manrope" pitchFamily="34" charset="0"/>
                <a:ea typeface="Manrope" pitchFamily="34" charset="-122"/>
                <a:cs typeface="Manrope" pitchFamily="34" charset="-120"/>
              </a:rPr>
              <a:t>1</a:t>
            </a:r>
            <a:endParaRPr lang="en-US" sz="2800" dirty="0"/>
          </a:p>
        </p:txBody>
      </p:sp>
      <p:sp>
        <p:nvSpPr>
          <p:cNvPr id="6" name="Text 4"/>
          <p:cNvSpPr/>
          <p:nvPr/>
        </p:nvSpPr>
        <p:spPr>
          <a:xfrm>
            <a:off x="1603943" y="2147509"/>
            <a:ext cx="4269686" cy="299718"/>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E3F33"/>
                </a:solidFill>
                <a:latin typeface="DM Sans" pitchFamily="34" charset="0"/>
                <a:ea typeface="DM Sans" pitchFamily="34" charset="-122"/>
                <a:cs typeface="DM Sans" pitchFamily="34" charset="-120"/>
              </a:rPr>
              <a:t>Low cost</a:t>
            </a:r>
            <a:endParaRPr lang="en-US" sz="1800" dirty="0"/>
          </a:p>
        </p:txBody>
      </p:sp>
      <p:sp>
        <p:nvSpPr>
          <p:cNvPr id="7" name="Text 5"/>
          <p:cNvSpPr/>
          <p:nvPr/>
        </p:nvSpPr>
        <p:spPr>
          <a:xfrm>
            <a:off x="1603943" y="2472606"/>
            <a:ext cx="4269686" cy="743470"/>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4A5A52"/>
                </a:solidFill>
                <a:latin typeface="DM Sans" pitchFamily="34" charset="0"/>
                <a:ea typeface="DM Sans" pitchFamily="34" charset="-122"/>
                <a:cs typeface="DM Sans" pitchFamily="34" charset="-120"/>
              </a:rPr>
              <a:t>Open-source software on a computer the campus already has. It starts from the monthly bills — no new meters to begin.</a:t>
            </a:r>
            <a:endParaRPr lang="en-US" sz="1300" dirty="0"/>
          </a:p>
        </p:txBody>
      </p:sp>
      <p:sp>
        <p:nvSpPr>
          <p:cNvPr id="8" name="Shape 6"/>
          <p:cNvSpPr/>
          <p:nvPr/>
        </p:nvSpPr>
        <p:spPr>
          <a:xfrm>
            <a:off x="6188044" y="1892852"/>
            <a:ext cx="5188003" cy="1552487"/>
          </a:xfrm>
          <a:prstGeom prst="roundRect">
            <a:avLst>
              <a:gd name="adj" fmla="val 7976"/>
            </a:avLst>
          </a:prstGeom>
          <a:solidFill>
            <a:srgbClr val="FFFDF7"/>
          </a:solidFill>
          <a:ln w="6350">
            <a:solidFill>
              <a:srgbClr val="D9DECF"/>
            </a:solidFill>
            <a:prstDash val="solid"/>
          </a:ln>
        </p:spPr>
      </p:sp>
      <p:sp>
        <p:nvSpPr>
          <p:cNvPr id="9" name="Text 7"/>
          <p:cNvSpPr/>
          <p:nvPr/>
        </p:nvSpPr>
        <p:spPr>
          <a:xfrm>
            <a:off x="6442703" y="2147509"/>
            <a:ext cx="406393" cy="523194"/>
          </a:xfrm>
          <a:prstGeom prst="rect">
            <a:avLst/>
          </a:prstGeom>
          <a:noFill/>
          <a:ln/>
        </p:spPr>
        <p:txBody>
          <a:bodyPr wrap="square" lIns="0" tIns="0" rIns="0" bIns="0" rtlCol="0" anchor="t">
            <a:normAutofit/>
          </a:bodyPr>
          <a:lstStyle/>
          <a:p>
            <a:pPr algn="l" indent="0" marL="0">
              <a:lnSpc>
                <a:spcPts val="3920"/>
              </a:lnSpc>
              <a:buNone/>
            </a:pPr>
            <a:r>
              <a:rPr lang="en-US" sz="2800" b="1" dirty="0">
                <a:solidFill>
                  <a:srgbClr val="9A6B1F"/>
                </a:solidFill>
                <a:latin typeface="Manrope" pitchFamily="34" charset="0"/>
                <a:ea typeface="Manrope" pitchFamily="34" charset="-122"/>
                <a:cs typeface="Manrope" pitchFamily="34" charset="-120"/>
              </a:rPr>
              <a:t>2</a:t>
            </a:r>
            <a:endParaRPr lang="en-US" sz="2800" dirty="0"/>
          </a:p>
        </p:txBody>
      </p:sp>
      <p:sp>
        <p:nvSpPr>
          <p:cNvPr id="10" name="Text 8"/>
          <p:cNvSpPr/>
          <p:nvPr/>
        </p:nvSpPr>
        <p:spPr>
          <a:xfrm>
            <a:off x="6976063" y="2147509"/>
            <a:ext cx="4269686" cy="299718"/>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E3F33"/>
                </a:solidFill>
                <a:latin typeface="DM Sans" pitchFamily="34" charset="0"/>
                <a:ea typeface="DM Sans" pitchFamily="34" charset="-122"/>
                <a:cs typeface="DM Sans" pitchFamily="34" charset="-120"/>
              </a:rPr>
              <a:t>No new hardware</a:t>
            </a:r>
            <a:endParaRPr lang="en-US" sz="1800" dirty="0"/>
          </a:p>
        </p:txBody>
      </p:sp>
      <p:sp>
        <p:nvSpPr>
          <p:cNvPr id="11" name="Text 9"/>
          <p:cNvSpPr/>
          <p:nvPr/>
        </p:nvSpPr>
        <p:spPr>
          <a:xfrm>
            <a:off x="6976063" y="2472606"/>
            <a:ext cx="4269686" cy="743470"/>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4A5A52"/>
                </a:solidFill>
                <a:latin typeface="DM Sans" pitchFamily="34" charset="0"/>
                <a:ea typeface="DM Sans" pitchFamily="34" charset="-122"/>
                <a:cs typeface="DM Sans" pitchFamily="34" charset="-120"/>
              </a:rPr>
              <a:t>Counts people with the classroom’s existing CCTV or webcam. Real switching just plugs into a standard smart plug when you’re ready.</a:t>
            </a:r>
            <a:endParaRPr lang="en-US" sz="1300" dirty="0"/>
          </a:p>
        </p:txBody>
      </p:sp>
      <p:sp>
        <p:nvSpPr>
          <p:cNvPr id="12" name="Shape 10"/>
          <p:cNvSpPr/>
          <p:nvPr/>
        </p:nvSpPr>
        <p:spPr>
          <a:xfrm>
            <a:off x="812750" y="3626278"/>
            <a:ext cx="5194353" cy="1558837"/>
          </a:xfrm>
          <a:prstGeom prst="roundRect">
            <a:avLst>
              <a:gd name="adj" fmla="val 8147"/>
            </a:avLst>
          </a:prstGeom>
          <a:solidFill>
            <a:srgbClr val="1E3F33"/>
          </a:solidFill>
          <a:ln/>
        </p:spPr>
      </p:sp>
      <p:sp>
        <p:nvSpPr>
          <p:cNvPr id="13" name="Text 11"/>
          <p:cNvSpPr/>
          <p:nvPr/>
        </p:nvSpPr>
        <p:spPr>
          <a:xfrm>
            <a:off x="1066719" y="3880247"/>
            <a:ext cx="406393" cy="523194"/>
          </a:xfrm>
          <a:prstGeom prst="rect">
            <a:avLst/>
          </a:prstGeom>
          <a:noFill/>
          <a:ln/>
        </p:spPr>
        <p:txBody>
          <a:bodyPr wrap="square" lIns="0" tIns="0" rIns="0" bIns="0" rtlCol="0" anchor="t">
            <a:normAutofit/>
          </a:bodyPr>
          <a:lstStyle/>
          <a:p>
            <a:pPr algn="l" indent="0" marL="0">
              <a:lnSpc>
                <a:spcPts val="3920"/>
              </a:lnSpc>
              <a:buNone/>
            </a:pPr>
            <a:r>
              <a:rPr lang="en-US" sz="2800" b="1" dirty="0">
                <a:solidFill>
                  <a:srgbClr val="CDE46A"/>
                </a:solidFill>
                <a:latin typeface="Manrope" pitchFamily="34" charset="0"/>
                <a:ea typeface="Manrope" pitchFamily="34" charset="-122"/>
                <a:cs typeface="Manrope" pitchFamily="34" charset="-120"/>
              </a:rPr>
              <a:t>3</a:t>
            </a:r>
            <a:endParaRPr lang="en-US" sz="2800" dirty="0"/>
          </a:p>
        </p:txBody>
      </p:sp>
      <p:sp>
        <p:nvSpPr>
          <p:cNvPr id="14" name="Text 12"/>
          <p:cNvSpPr/>
          <p:nvPr/>
        </p:nvSpPr>
        <p:spPr>
          <a:xfrm>
            <a:off x="1600079" y="3880247"/>
            <a:ext cx="4277647" cy="299718"/>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CDE46A"/>
                </a:solidFill>
                <a:latin typeface="DM Sans" pitchFamily="34" charset="0"/>
                <a:ea typeface="DM Sans" pitchFamily="34" charset="-122"/>
                <a:cs typeface="DM Sans" pitchFamily="34" charset="-120"/>
              </a:rPr>
              <a:t>Real savings</a:t>
            </a:r>
            <a:endParaRPr lang="en-US" sz="1800" dirty="0"/>
          </a:p>
        </p:txBody>
      </p:sp>
      <p:sp>
        <p:nvSpPr>
          <p:cNvPr id="15" name="Text 13"/>
          <p:cNvSpPr/>
          <p:nvPr/>
        </p:nvSpPr>
        <p:spPr>
          <a:xfrm>
            <a:off x="1600079" y="4205350"/>
            <a:ext cx="4277647" cy="743470"/>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E4EDE6"/>
                </a:solidFill>
                <a:latin typeface="DM Sans" pitchFamily="34" charset="0"/>
                <a:ea typeface="DM Sans" pitchFamily="34" charset="-122"/>
                <a:cs typeface="DM Sans" pitchFamily="34" charset="-120"/>
              </a:rPr>
              <a:t>Every saving is proven against a ghost twin and counted at the safe, low end — 26,551 kWh and ₹226K last month.</a:t>
            </a:r>
            <a:endParaRPr lang="en-US" sz="1300" dirty="0"/>
          </a:p>
        </p:txBody>
      </p:sp>
      <p:sp>
        <p:nvSpPr>
          <p:cNvPr id="16" name="Shape 14"/>
          <p:cNvSpPr/>
          <p:nvPr/>
        </p:nvSpPr>
        <p:spPr>
          <a:xfrm>
            <a:off x="6188044" y="3629453"/>
            <a:ext cx="5188003" cy="1552487"/>
          </a:xfrm>
          <a:prstGeom prst="roundRect">
            <a:avLst>
              <a:gd name="adj" fmla="val 7976"/>
            </a:avLst>
          </a:prstGeom>
          <a:solidFill>
            <a:srgbClr val="FFFDF7"/>
          </a:solidFill>
          <a:ln w="6350">
            <a:solidFill>
              <a:srgbClr val="D9DECF"/>
            </a:solidFill>
            <a:prstDash val="solid"/>
          </a:ln>
        </p:spPr>
      </p:sp>
      <p:sp>
        <p:nvSpPr>
          <p:cNvPr id="17" name="Text 15"/>
          <p:cNvSpPr/>
          <p:nvPr/>
        </p:nvSpPr>
        <p:spPr>
          <a:xfrm>
            <a:off x="6442703" y="3884110"/>
            <a:ext cx="406393" cy="523194"/>
          </a:xfrm>
          <a:prstGeom prst="rect">
            <a:avLst/>
          </a:prstGeom>
          <a:noFill/>
          <a:ln/>
        </p:spPr>
        <p:txBody>
          <a:bodyPr wrap="square" lIns="0" tIns="0" rIns="0" bIns="0" rtlCol="0" anchor="t">
            <a:normAutofit/>
          </a:bodyPr>
          <a:lstStyle/>
          <a:p>
            <a:pPr algn="l" indent="0" marL="0">
              <a:lnSpc>
                <a:spcPts val="3920"/>
              </a:lnSpc>
              <a:buNone/>
            </a:pPr>
            <a:r>
              <a:rPr lang="en-US" sz="2800" b="1" dirty="0">
                <a:solidFill>
                  <a:srgbClr val="9A6B1F"/>
                </a:solidFill>
                <a:latin typeface="Manrope" pitchFamily="34" charset="0"/>
                <a:ea typeface="Manrope" pitchFamily="34" charset="-122"/>
                <a:cs typeface="Manrope" pitchFamily="34" charset="-120"/>
              </a:rPr>
              <a:t>4</a:t>
            </a:r>
            <a:endParaRPr lang="en-US" sz="2800" dirty="0"/>
          </a:p>
        </p:txBody>
      </p:sp>
      <p:sp>
        <p:nvSpPr>
          <p:cNvPr id="18" name="Text 16"/>
          <p:cNvSpPr/>
          <p:nvPr/>
        </p:nvSpPr>
        <p:spPr>
          <a:xfrm>
            <a:off x="6976063" y="3884110"/>
            <a:ext cx="4269686" cy="299718"/>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E3F33"/>
                </a:solidFill>
                <a:latin typeface="DM Sans" pitchFamily="34" charset="0"/>
                <a:ea typeface="DM Sans" pitchFamily="34" charset="-122"/>
                <a:cs typeface="DM Sans" pitchFamily="34" charset="-120"/>
              </a:rPr>
              <a:t>Automated</a:t>
            </a:r>
            <a:endParaRPr lang="en-US" sz="1800" dirty="0"/>
          </a:p>
        </p:txBody>
      </p:sp>
      <p:sp>
        <p:nvSpPr>
          <p:cNvPr id="19" name="Text 17"/>
          <p:cNvSpPr/>
          <p:nvPr/>
        </p:nvSpPr>
        <p:spPr>
          <a:xfrm>
            <a:off x="6976063" y="4209213"/>
            <a:ext cx="4269686" cy="743470"/>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4A5A52"/>
                </a:solidFill>
                <a:latin typeface="DM Sans" pitchFamily="34" charset="0"/>
                <a:ea typeface="DM Sans" pitchFamily="34" charset="-122"/>
                <a:cs typeface="DM Sans" pitchFamily="34" charset="-120"/>
              </a:rPr>
              <a:t>Rooms switch fan, lights and AC by themselves; weather updates every 10 min; every change is checked; the report is one click.</a:t>
            </a:r>
            <a:endParaRPr lang="en-US" sz="13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7F5EE"/>
        </a:solidFill>
      </p:bgPr>
    </p:bg>
    <p:spTree>
      <p:nvGrpSpPr>
        <p:cNvPr id="1" name=""/>
        <p:cNvGrpSpPr/>
        <p:nvPr/>
      </p:nvGrpSpPr>
      <p:grpSpPr>
        <a:xfrm>
          <a:off x="0" y="0"/>
          <a:ext cx="0" cy="0"/>
          <a:chOff x="0" y="0"/>
          <a:chExt cx="0" cy="0"/>
        </a:xfrm>
      </p:grpSpPr>
      <p:sp>
        <p:nvSpPr>
          <p:cNvPr id="2" name="Text 0"/>
          <p:cNvSpPr/>
          <p:nvPr/>
        </p:nvSpPr>
        <p:spPr>
          <a:xfrm>
            <a:off x="812750" y="812750"/>
            <a:ext cx="10883467" cy="274357"/>
          </a:xfrm>
          <a:prstGeom prst="rect">
            <a:avLst/>
          </a:prstGeom>
          <a:noFill/>
          <a:ln/>
        </p:spPr>
        <p:txBody>
          <a:bodyPr wrap="square" lIns="0" tIns="0" rIns="0" bIns="0" rtlCol="0" anchor="t">
            <a:normAutofit/>
          </a:bodyPr>
          <a:lstStyle/>
          <a:p>
            <a:pPr algn="l" indent="0" marL="0">
              <a:lnSpc>
                <a:spcPts val="1960"/>
              </a:lnSpc>
              <a:buNone/>
            </a:pPr>
            <a:r>
              <a:rPr lang="en-US" sz="1400" b="1" spc="200" kern="0" dirty="0">
                <a:solidFill>
                  <a:srgbClr val="9A6B1F"/>
                </a:solidFill>
                <a:latin typeface="DM Sans" pitchFamily="34" charset="0"/>
                <a:ea typeface="DM Sans" pitchFamily="34" charset="-122"/>
                <a:cs typeface="DM Sans" pitchFamily="34" charset="-120"/>
              </a:rPr>
              <a:t>BRIEF COVERAGE · EVERY EXPECTED OUTPUT</a:t>
            </a:r>
            <a:endParaRPr lang="en-US" sz="1400" dirty="0"/>
          </a:p>
        </p:txBody>
      </p:sp>
      <p:sp>
        <p:nvSpPr>
          <p:cNvPr id="3" name="Text 1"/>
          <p:cNvSpPr/>
          <p:nvPr>
            <p:ph type="title"/>
          </p:nvPr>
        </p:nvSpPr>
        <p:spPr>
          <a:xfrm>
            <a:off x="812750" y="1163272"/>
            <a:ext cx="10883467" cy="472412"/>
          </a:xfrm>
          <a:prstGeom prst="rect">
            <a:avLst/>
          </a:prstGeom>
          <a:noFill/>
          <a:ln/>
        </p:spPr>
        <p:txBody>
          <a:bodyPr wrap="square" lIns="0" tIns="0" rIns="0" bIns="0" rtlCol="0" anchor="t">
            <a:normAutofit/>
          </a:bodyPr>
          <a:lstStyle/>
          <a:p>
            <a:pPr algn="l" indent="0" marL="0">
              <a:lnSpc>
                <a:spcPts val="3520"/>
              </a:lnSpc>
              <a:buNone/>
            </a:pPr>
            <a:r>
              <a:rPr lang="en-US" sz="3200" b="1" i="0" spc="-50" kern="0" dirty="0">
                <a:solidFill>
                  <a:srgbClr val="1E3F33"/>
                </a:solidFill>
                <a:latin typeface="Manrope" pitchFamily="34" charset="0"/>
                <a:ea typeface="Manrope" pitchFamily="34" charset="-122"/>
                <a:cs typeface="Manrope" pitchFamily="34" charset="-120"/>
              </a:rPr>
              <a:t>Every expected output is in the app</a:t>
            </a:r>
            <a:endParaRPr lang="en-US" sz="3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4343" y="1875839"/>
          <a:ext cx="10554879" cy="2984048"/>
        </p:xfrm>
        <a:graphic>
          <a:graphicData uri="http://schemas.openxmlformats.org/drawingml/2006/table">
            <a:tbl>
              <a:tblPr/>
              <a:tblGrid>
                <a:gridCol w="3588659"/>
                <a:gridCol w="6966220"/>
              </a:tblGrid>
              <a:tr h="331561">
                <a:tc>
                  <a:txBody>
                    <a:bodyPr/>
                    <a:lstStyle/>
                    <a:p>
                      <a:pPr indent="0" marL="0">
                        <a:lnSpc>
                          <a:spcPts val="1680"/>
                        </a:lnSpc>
                        <a:buNone/>
                      </a:pPr>
                      <a:r>
                        <a:rPr lang="en-US" sz="1200" b="1" dirty="0">
                          <a:solidFill>
                            <a:srgbClr val="1E3F33"/>
                          </a:solidFill>
                          <a:latin typeface="DM Sans" pitchFamily="34" charset="0"/>
                          <a:ea typeface="DM Sans" pitchFamily="34" charset="-122"/>
                          <a:cs typeface="DM Sans" pitchFamily="34" charset="-120"/>
                        </a:rPr>
                        <a:t>The brief asks for</a:t>
                      </a:r>
                      <a:endParaRPr lang="en-US" sz="1200" dirty="0">
                        <a:latin typeface="DM Sans" charset="0"/>
                        <a:ea typeface="DM Sans" charset="0"/>
                        <a:cs typeface="DM Sans" charset="0"/>
                      </a:endParaRPr>
                    </a:p>
                  </a:txBody>
                  <a:tcPr marL="53340" marR="53340" marT="53340" marB="53340" anchor="t">
                    <a:lnL w="12700" cap="flat" cmpd="sng" algn="ctr">
                      <a:solidFill>
                        <a:srgbClr val="C5C4BE"/>
                      </a:solidFill>
                      <a:prstDash val="solid"/>
                      <a:round/>
                      <a:headEnd type="none" w="med" len="med"/>
                      <a:tailEnd type="none" w="med" len="med"/>
                    </a:lnL>
                    <a:lnR w="12700" cap="flat" cmpd="sng" algn="ctr">
                      <a:solidFill>
                        <a:srgbClr val="B7B5B0"/>
                      </a:solidFill>
                      <a:prstDash val="solid"/>
                      <a:round/>
                      <a:headEnd type="none" w="med" len="med"/>
                      <a:tailEnd type="none" w="med" len="med"/>
                    </a:lnR>
                    <a:lnT w="12700" cap="flat" cmpd="sng" algn="ctr">
                      <a:solidFill>
                        <a:srgbClr val="C5C4BE"/>
                      </a:solidFill>
                      <a:prstDash val="solid"/>
                      <a:round/>
                      <a:headEnd type="none" w="med" len="med"/>
                      <a:tailEnd type="none" w="med" len="med"/>
                    </a:lnT>
                    <a:lnB w="12700" cap="flat" cmpd="sng" algn="ctr">
                      <a:solidFill>
                        <a:srgbClr val="B7B5B0"/>
                      </a:solidFill>
                      <a:prstDash val="solid"/>
                      <a:round/>
                      <a:headEnd type="none" w="med" len="med"/>
                      <a:tailEnd type="none" w="med" len="med"/>
                    </a:lnB>
                    <a:solidFill>
                      <a:srgbClr val="E5E3DC"/>
                    </a:solidFill>
                  </a:tcPr>
                </a:tc>
                <a:tc>
                  <a:txBody>
                    <a:bodyPr/>
                    <a:lstStyle/>
                    <a:p>
                      <a:pPr indent="0" marL="0">
                        <a:lnSpc>
                          <a:spcPts val="1680"/>
                        </a:lnSpc>
                        <a:buNone/>
                      </a:pPr>
                      <a:r>
                        <a:rPr lang="en-US" sz="1200" b="1" dirty="0">
                          <a:solidFill>
                            <a:srgbClr val="1E3F33"/>
                          </a:solidFill>
                          <a:latin typeface="DM Sans" pitchFamily="34" charset="0"/>
                          <a:ea typeface="DM Sans" pitchFamily="34" charset="-122"/>
                          <a:cs typeface="DM Sans" pitchFamily="34" charset="-120"/>
                        </a:rPr>
                        <a:t>GreenLedger</a:t>
                      </a:r>
                      <a:endParaRPr lang="en-US" sz="1200" dirty="0">
                        <a:latin typeface="DM Sans" charset="0"/>
                        <a:ea typeface="DM Sans" charset="0"/>
                        <a:cs typeface="DM Sans" charset="0"/>
                      </a:endParaRPr>
                    </a:p>
                  </a:txBody>
                  <a:tcPr marL="53340" marR="53340" marT="53340" marB="53340" anchor="t">
                    <a:lnL w="12700" cap="flat" cmpd="sng" algn="ctr">
                      <a:solidFill>
                        <a:srgbClr val="B7B5B0"/>
                      </a:solidFill>
                      <a:prstDash val="solid"/>
                      <a:round/>
                      <a:headEnd type="none" w="med" len="med"/>
                      <a:tailEnd type="none" w="med" len="med"/>
                    </a:lnL>
                    <a:lnR w="12700" cap="flat" cmpd="sng" algn="ctr">
                      <a:solidFill>
                        <a:srgbClr val="B7B5B0"/>
                      </a:solidFill>
                      <a:prstDash val="solid"/>
                      <a:round/>
                      <a:headEnd type="none" w="med" len="med"/>
                      <a:tailEnd type="none" w="med" len="med"/>
                    </a:lnR>
                    <a:lnT w="12700" cap="flat" cmpd="sng" algn="ctr">
                      <a:solidFill>
                        <a:srgbClr val="C5C4BE"/>
                      </a:solidFill>
                      <a:prstDash val="solid"/>
                      <a:round/>
                      <a:headEnd type="none" w="med" len="med"/>
                      <a:tailEnd type="none" w="med" len="med"/>
                    </a:lnT>
                    <a:lnB w="12700" cap="flat" cmpd="sng" algn="ctr">
                      <a:solidFill>
                        <a:srgbClr val="B7B5B0"/>
                      </a:solidFill>
                      <a:prstDash val="solid"/>
                      <a:round/>
                      <a:headEnd type="none" w="med" len="med"/>
                      <a:tailEnd type="none" w="med" len="med"/>
                    </a:lnB>
                    <a:solidFill>
                      <a:srgbClr val="E5E3DC"/>
                    </a:solidFill>
                  </a:tcPr>
                </a:tc>
              </a:tr>
              <a:tr h="331561">
                <a:tc>
                  <a:txBody>
                    <a:bodyPr/>
                    <a:lstStyle/>
                    <a:p>
                      <a:pPr indent="0" marL="0">
                        <a:lnSpc>
                          <a:spcPts val="1680"/>
                        </a:lnSpc>
                        <a:buNone/>
                      </a:pPr>
                      <a:r>
                        <a:rPr lang="en-US" sz="1200" dirty="0">
                          <a:solidFill>
                            <a:srgbClr val="1E3F33"/>
                          </a:solidFill>
                          <a:latin typeface="DM Sans" pitchFamily="34" charset="0"/>
                          <a:ea typeface="DM Sans" pitchFamily="34" charset="-122"/>
                          <a:cs typeface="DM Sans" pitchFamily="34" charset="-120"/>
                        </a:rPr>
                        <a:t>Resource dashboard</a:t>
                      </a:r>
                      <a:endParaRPr lang="en-US" sz="1200" dirty="0">
                        <a:latin typeface="DM Sans" charset="0"/>
                        <a:ea typeface="DM Sans" charset="0"/>
                        <a:cs typeface="DM Sans" charset="0"/>
                      </a:endParaRPr>
                    </a:p>
                  </a:txBody>
                  <a:tcPr marL="53340" marR="53340" marT="53340" marB="53340" anchor="t">
                    <a:lnL w="12700" cap="flat" cmpd="sng" algn="ctr">
                      <a:solidFill>
                        <a:srgbClr val="C5C4BE"/>
                      </a:solidFill>
                      <a:prstDash val="solid"/>
                      <a:round/>
                      <a:headEnd type="none" w="med" len="med"/>
                      <a:tailEnd type="none" w="med" len="med"/>
                    </a:lnL>
                    <a:lnR w="12700" cap="flat" cmpd="sng" algn="ctr">
                      <a:solidFill>
                        <a:srgbClr val="C5C4BE"/>
                      </a:solidFill>
                      <a:prstDash val="solid"/>
                      <a:round/>
                      <a:headEnd type="none" w="med" len="med"/>
                      <a:tailEnd type="none" w="med" len="med"/>
                    </a:lnR>
                    <a:lnT w="12700" cap="flat" cmpd="sng" algn="ctr">
                      <a:solidFill>
                        <a:srgbClr val="B7B5B0"/>
                      </a:solidFill>
                      <a:prstDash val="solid"/>
                      <a:round/>
                      <a:headEnd type="none" w="med" len="med"/>
                      <a:tailEnd type="none" w="med" len="med"/>
                    </a:lnT>
                    <a:lnB w="12700" cap="flat" cmpd="sng" algn="ctr">
                      <a:solidFill>
                        <a:srgbClr val="C5C4BE"/>
                      </a:solidFill>
                      <a:prstDash val="solid"/>
                      <a:round/>
                      <a:headEnd type="none" w="med" len="med"/>
                      <a:tailEnd type="none" w="med" len="med"/>
                    </a:lnB>
                  </a:tcPr>
                </a:tc>
                <a:tc>
                  <a:txBody>
                    <a:bodyPr/>
                    <a:lstStyle/>
                    <a:p>
                      <a:pPr indent="0" marL="0">
                        <a:lnSpc>
                          <a:spcPts val="1680"/>
                        </a:lnSpc>
                        <a:buNone/>
                      </a:pPr>
                      <a:r>
                        <a:rPr lang="en-US" sz="1200" dirty="0">
                          <a:solidFill>
                            <a:srgbClr val="1E3F33"/>
                          </a:solidFill>
                          <a:latin typeface="DM Sans" pitchFamily="34" charset="0"/>
                          <a:ea typeface="DM Sans" pitchFamily="34" charset="-122"/>
                          <a:cs typeface="DM Sans" pitchFamily="34" charset="-120"/>
                        </a:rPr>
                        <a:t>Energy, water, waste, e-waste, carbon — by department and on the campus map</a:t>
                      </a:r>
                      <a:endParaRPr lang="en-US" sz="1200" dirty="0">
                        <a:latin typeface="DM Sans" charset="0"/>
                        <a:ea typeface="DM Sans" charset="0"/>
                        <a:cs typeface="DM Sans" charset="0"/>
                      </a:endParaRPr>
                    </a:p>
                  </a:txBody>
                  <a:tcPr marL="53340" marR="53340" marT="53340" marB="53340" anchor="t">
                    <a:lnL w="12700" cap="flat" cmpd="sng" algn="ctr">
                      <a:solidFill>
                        <a:srgbClr val="C5C4BE"/>
                      </a:solidFill>
                      <a:prstDash val="solid"/>
                      <a:round/>
                      <a:headEnd type="none" w="med" len="med"/>
                      <a:tailEnd type="none" w="med" len="med"/>
                    </a:lnL>
                    <a:lnR w="12700" cap="flat" cmpd="sng" algn="ctr">
                      <a:solidFill>
                        <a:srgbClr val="C5C4BE"/>
                      </a:solidFill>
                      <a:prstDash val="solid"/>
                      <a:round/>
                      <a:headEnd type="none" w="med" len="med"/>
                      <a:tailEnd type="none" w="med" len="med"/>
                    </a:lnR>
                    <a:lnT w="12700" cap="flat" cmpd="sng" algn="ctr">
                      <a:solidFill>
                        <a:srgbClr val="B7B5B0"/>
                      </a:solidFill>
                      <a:prstDash val="solid"/>
                      <a:round/>
                      <a:headEnd type="none" w="med" len="med"/>
                      <a:tailEnd type="none" w="med" len="med"/>
                    </a:lnT>
                    <a:lnB w="12700" cap="flat" cmpd="sng" algn="ctr">
                      <a:solidFill>
                        <a:srgbClr val="C5C4BE"/>
                      </a:solidFill>
                      <a:prstDash val="solid"/>
                      <a:round/>
                      <a:headEnd type="none" w="med" len="med"/>
                      <a:tailEnd type="none" w="med" len="med"/>
                    </a:lnB>
                  </a:tcPr>
                </a:tc>
              </a:tr>
              <a:tr h="331561">
                <a:tc>
                  <a:txBody>
                    <a:bodyPr/>
                    <a:lstStyle/>
                    <a:p>
                      <a:pPr indent="0" marL="0">
                        <a:lnSpc>
                          <a:spcPts val="1680"/>
                        </a:lnSpc>
                        <a:buNone/>
                      </a:pPr>
                      <a:r>
                        <a:rPr lang="en-US" sz="1200" dirty="0">
                          <a:solidFill>
                            <a:srgbClr val="1E3F33"/>
                          </a:solidFill>
                          <a:latin typeface="DM Sans" pitchFamily="34" charset="0"/>
                          <a:ea typeface="DM Sans" pitchFamily="34" charset="-122"/>
                          <a:cs typeface="DM Sans" pitchFamily="34" charset="-120"/>
                        </a:rPr>
                        <a:t>Baseline / trend comparison</a:t>
                      </a:r>
                      <a:endParaRPr lang="en-US" sz="1200" dirty="0">
                        <a:latin typeface="DM Sans" charset="0"/>
                        <a:ea typeface="DM Sans" charset="0"/>
                        <a:cs typeface="DM Sans" charset="0"/>
                      </a:endParaRPr>
                    </a:p>
                  </a:txBody>
                  <a:tcPr marL="53340" marR="53340" marT="53340" marB="53340" anchor="t">
                    <a:lnL w="12700" cap="flat" cmpd="sng" algn="ctr">
                      <a:solidFill>
                        <a:srgbClr val="C5C4BE"/>
                      </a:solidFill>
                      <a:prstDash val="solid"/>
                      <a:round/>
                      <a:headEnd type="none" w="med" len="med"/>
                      <a:tailEnd type="none" w="med" len="med"/>
                    </a:lnL>
                    <a:lnR w="12700" cap="flat" cmpd="sng" algn="ctr">
                      <a:solidFill>
                        <a:srgbClr val="BFC2B8"/>
                      </a:solidFill>
                      <a:prstDash val="solid"/>
                      <a:round/>
                      <a:headEnd type="none" w="med" len="med"/>
                      <a:tailEnd type="none" w="med" len="med"/>
                    </a:lnR>
                    <a:lnT w="12700" cap="flat" cmpd="sng" algn="ctr">
                      <a:solidFill>
                        <a:srgbClr val="C5C4BE"/>
                      </a:solidFill>
                      <a:prstDash val="solid"/>
                      <a:round/>
                      <a:headEnd type="none" w="med" len="med"/>
                      <a:tailEnd type="none" w="med" len="med"/>
                    </a:lnT>
                    <a:lnB w="12700" cap="flat" cmpd="sng" algn="ctr">
                      <a:solidFill>
                        <a:srgbClr val="BFC2B8"/>
                      </a:solidFill>
                      <a:prstDash val="solid"/>
                      <a:round/>
                      <a:headEnd type="none" w="med" len="med"/>
                      <a:tailEnd type="none" w="med" len="med"/>
                    </a:lnB>
                    <a:solidFill>
                      <a:srgbClr val="EFF3E6"/>
                    </a:solidFill>
                  </a:tcPr>
                </a:tc>
                <a:tc>
                  <a:txBody>
                    <a:bodyPr/>
                    <a:lstStyle/>
                    <a:p>
                      <a:pPr indent="0" marL="0">
                        <a:lnSpc>
                          <a:spcPts val="1680"/>
                        </a:lnSpc>
                        <a:buNone/>
                      </a:pPr>
                      <a:r>
                        <a:rPr lang="en-US" sz="1200" dirty="0">
                          <a:solidFill>
                            <a:srgbClr val="1E3F33"/>
                          </a:solidFill>
                          <a:latin typeface="DM Sans" pitchFamily="34" charset="0"/>
                          <a:ea typeface="DM Sans" pitchFamily="34" charset="-122"/>
                          <a:cs typeface="DM Sans" pitchFamily="34" charset="-120"/>
                        </a:rPr>
                        <a:t>Ghost twin: weather- and calendar-adjusted baseline from the 12 months before</a:t>
                      </a:r>
                      <a:endParaRPr lang="en-US" sz="1200" dirty="0">
                        <a:latin typeface="DM Sans" charset="0"/>
                        <a:ea typeface="DM Sans" charset="0"/>
                        <a:cs typeface="DM Sans" charset="0"/>
                      </a:endParaRPr>
                    </a:p>
                  </a:txBody>
                  <a:tcPr marL="53340" marR="53340" marT="53340" marB="53340" anchor="t">
                    <a:lnL w="12700" cap="flat" cmpd="sng" algn="ctr">
                      <a:solidFill>
                        <a:srgbClr val="BFC2B8"/>
                      </a:solidFill>
                      <a:prstDash val="solid"/>
                      <a:round/>
                      <a:headEnd type="none" w="med" len="med"/>
                      <a:tailEnd type="none" w="med" len="med"/>
                    </a:lnL>
                    <a:lnR w="12700" cap="flat" cmpd="sng" algn="ctr">
                      <a:solidFill>
                        <a:srgbClr val="BFC2B8"/>
                      </a:solidFill>
                      <a:prstDash val="solid"/>
                      <a:round/>
                      <a:headEnd type="none" w="med" len="med"/>
                      <a:tailEnd type="none" w="med" len="med"/>
                    </a:lnR>
                    <a:lnT w="12700" cap="flat" cmpd="sng" algn="ctr">
                      <a:solidFill>
                        <a:srgbClr val="C5C4BE"/>
                      </a:solidFill>
                      <a:prstDash val="solid"/>
                      <a:round/>
                      <a:headEnd type="none" w="med" len="med"/>
                      <a:tailEnd type="none" w="med" len="med"/>
                    </a:lnT>
                    <a:lnB w="12700" cap="flat" cmpd="sng" algn="ctr">
                      <a:solidFill>
                        <a:srgbClr val="BFC2B8"/>
                      </a:solidFill>
                      <a:prstDash val="solid"/>
                      <a:round/>
                      <a:headEnd type="none" w="med" len="med"/>
                      <a:tailEnd type="none" w="med" len="med"/>
                    </a:lnB>
                    <a:solidFill>
                      <a:srgbClr val="EFF3E6"/>
                    </a:solidFill>
                  </a:tcPr>
                </a:tc>
              </a:tr>
              <a:tr h="331561">
                <a:tc>
                  <a:txBody>
                    <a:bodyPr/>
                    <a:lstStyle/>
                    <a:p>
                      <a:pPr indent="0" marL="0">
                        <a:lnSpc>
                          <a:spcPts val="1680"/>
                        </a:lnSpc>
                        <a:buNone/>
                      </a:pPr>
                      <a:r>
                        <a:rPr lang="en-US" sz="1200" dirty="0">
                          <a:solidFill>
                            <a:srgbClr val="1E3F33"/>
                          </a:solidFill>
                          <a:latin typeface="DM Sans" pitchFamily="34" charset="0"/>
                          <a:ea typeface="DM Sans" pitchFamily="34" charset="-122"/>
                          <a:cs typeface="DM Sans" pitchFamily="34" charset="-120"/>
                        </a:rPr>
                        <a:t>Highlight unusual changes</a:t>
                      </a:r>
                      <a:endParaRPr lang="en-US" sz="1200" dirty="0">
                        <a:latin typeface="DM Sans" charset="0"/>
                        <a:ea typeface="DM Sans" charset="0"/>
                        <a:cs typeface="DM Sans" charset="0"/>
                      </a:endParaRPr>
                    </a:p>
                  </a:txBody>
                  <a:tcPr marL="53340" marR="53340" marT="53340" marB="53340" anchor="t">
                    <a:lnL w="12700" cap="flat" cmpd="sng" algn="ctr">
                      <a:solidFill>
                        <a:srgbClr val="C5C4BE"/>
                      </a:solidFill>
                      <a:prstDash val="solid"/>
                      <a:round/>
                      <a:headEnd type="none" w="med" len="med"/>
                      <a:tailEnd type="none" w="med" len="med"/>
                    </a:lnL>
                    <a:lnR w="12700" cap="flat" cmpd="sng" algn="ctr">
                      <a:solidFill>
                        <a:srgbClr val="C5C4BE"/>
                      </a:solidFill>
                      <a:prstDash val="solid"/>
                      <a:round/>
                      <a:headEnd type="none" w="med" len="med"/>
                      <a:tailEnd type="none" w="med" len="med"/>
                    </a:lnR>
                    <a:lnT w="12700" cap="flat" cmpd="sng" algn="ctr">
                      <a:solidFill>
                        <a:srgbClr val="BFC2B8"/>
                      </a:solidFill>
                      <a:prstDash val="solid"/>
                      <a:round/>
                      <a:headEnd type="none" w="med" len="med"/>
                      <a:tailEnd type="none" w="med" len="med"/>
                    </a:lnT>
                    <a:lnB w="12700" cap="flat" cmpd="sng" algn="ctr">
                      <a:solidFill>
                        <a:srgbClr val="C5C4BE"/>
                      </a:solidFill>
                      <a:prstDash val="solid"/>
                      <a:round/>
                      <a:headEnd type="none" w="med" len="med"/>
                      <a:tailEnd type="none" w="med" len="med"/>
                    </a:lnB>
                  </a:tcPr>
                </a:tc>
                <a:tc>
                  <a:txBody>
                    <a:bodyPr/>
                    <a:lstStyle/>
                    <a:p>
                      <a:pPr indent="0" marL="0">
                        <a:lnSpc>
                          <a:spcPts val="1680"/>
                        </a:lnSpc>
                        <a:buNone/>
                      </a:pPr>
                      <a:r>
                        <a:rPr lang="en-US" sz="1200" dirty="0">
                          <a:solidFill>
                            <a:srgbClr val="1E3F33"/>
                          </a:solidFill>
                          <a:latin typeface="DM Sans" pitchFamily="34" charset="0"/>
                          <a:ea typeface="DM Sans" pitchFamily="34" charset="-122"/>
                          <a:cs typeface="DM Sans" pitchFamily="34" charset="-120"/>
                        </a:rPr>
                        <a:t>Alerts, discoveries and “fix now” items; the COVID closure is caught on real meters</a:t>
                      </a:r>
                      <a:endParaRPr lang="en-US" sz="1200" dirty="0">
                        <a:latin typeface="DM Sans" charset="0"/>
                        <a:ea typeface="DM Sans" charset="0"/>
                        <a:cs typeface="DM Sans" charset="0"/>
                      </a:endParaRPr>
                    </a:p>
                  </a:txBody>
                  <a:tcPr marL="53340" marR="53340" marT="53340" marB="53340" anchor="t">
                    <a:lnL w="12700" cap="flat" cmpd="sng" algn="ctr">
                      <a:solidFill>
                        <a:srgbClr val="C5C4BE"/>
                      </a:solidFill>
                      <a:prstDash val="solid"/>
                      <a:round/>
                      <a:headEnd type="none" w="med" len="med"/>
                      <a:tailEnd type="none" w="med" len="med"/>
                    </a:lnL>
                    <a:lnR w="12700" cap="flat" cmpd="sng" algn="ctr">
                      <a:solidFill>
                        <a:srgbClr val="C5C4BE"/>
                      </a:solidFill>
                      <a:prstDash val="solid"/>
                      <a:round/>
                      <a:headEnd type="none" w="med" len="med"/>
                      <a:tailEnd type="none" w="med" len="med"/>
                    </a:lnR>
                    <a:lnT w="12700" cap="flat" cmpd="sng" algn="ctr">
                      <a:solidFill>
                        <a:srgbClr val="BFC2B8"/>
                      </a:solidFill>
                      <a:prstDash val="solid"/>
                      <a:round/>
                      <a:headEnd type="none" w="med" len="med"/>
                      <a:tailEnd type="none" w="med" len="med"/>
                    </a:lnT>
                    <a:lnB w="12700" cap="flat" cmpd="sng" algn="ctr">
                      <a:solidFill>
                        <a:srgbClr val="C5C4BE"/>
                      </a:solidFill>
                      <a:prstDash val="solid"/>
                      <a:round/>
                      <a:headEnd type="none" w="med" len="med"/>
                      <a:tailEnd type="none" w="med" len="med"/>
                    </a:lnB>
                  </a:tcPr>
                </a:tc>
              </a:tr>
              <a:tr h="331561">
                <a:tc>
                  <a:txBody>
                    <a:bodyPr/>
                    <a:lstStyle/>
                    <a:p>
                      <a:pPr indent="0" marL="0">
                        <a:lnSpc>
                          <a:spcPts val="1680"/>
                        </a:lnSpc>
                        <a:buNone/>
                      </a:pPr>
                      <a:r>
                        <a:rPr lang="en-US" sz="1200" dirty="0">
                          <a:solidFill>
                            <a:srgbClr val="1E3F33"/>
                          </a:solidFill>
                          <a:latin typeface="DM Sans" pitchFamily="34" charset="0"/>
                          <a:ea typeface="DM Sans" pitchFamily="34" charset="-122"/>
                          <a:cs typeface="DM Sans" pitchFamily="34" charset="-120"/>
                        </a:rPr>
                        <a:t>Action register</a:t>
                      </a:r>
                      <a:endParaRPr lang="en-US" sz="1200" dirty="0">
                        <a:latin typeface="DM Sans" charset="0"/>
                        <a:ea typeface="DM Sans" charset="0"/>
                        <a:cs typeface="DM Sans" charset="0"/>
                      </a:endParaRPr>
                    </a:p>
                  </a:txBody>
                  <a:tcPr marL="53340" marR="53340" marT="53340" marB="53340" anchor="t">
                    <a:lnL w="12700" cap="flat" cmpd="sng" algn="ctr">
                      <a:solidFill>
                        <a:srgbClr val="C5C4BE"/>
                      </a:solidFill>
                      <a:prstDash val="solid"/>
                      <a:round/>
                      <a:headEnd type="none" w="med" len="med"/>
                      <a:tailEnd type="none" w="med" len="med"/>
                    </a:lnL>
                    <a:lnR w="12700" cap="flat" cmpd="sng" algn="ctr">
                      <a:solidFill>
                        <a:srgbClr val="BFC2B8"/>
                      </a:solidFill>
                      <a:prstDash val="solid"/>
                      <a:round/>
                      <a:headEnd type="none" w="med" len="med"/>
                      <a:tailEnd type="none" w="med" len="med"/>
                    </a:lnR>
                    <a:lnT w="12700" cap="flat" cmpd="sng" algn="ctr">
                      <a:solidFill>
                        <a:srgbClr val="C5C4BE"/>
                      </a:solidFill>
                      <a:prstDash val="solid"/>
                      <a:round/>
                      <a:headEnd type="none" w="med" len="med"/>
                      <a:tailEnd type="none" w="med" len="med"/>
                    </a:lnT>
                    <a:lnB w="12700" cap="flat" cmpd="sng" algn="ctr">
                      <a:solidFill>
                        <a:srgbClr val="BFC2B8"/>
                      </a:solidFill>
                      <a:prstDash val="solid"/>
                      <a:round/>
                      <a:headEnd type="none" w="med" len="med"/>
                      <a:tailEnd type="none" w="med" len="med"/>
                    </a:lnB>
                    <a:solidFill>
                      <a:srgbClr val="EFF3E6"/>
                    </a:solidFill>
                  </a:tcPr>
                </a:tc>
                <a:tc>
                  <a:txBody>
                    <a:bodyPr/>
                    <a:lstStyle/>
                    <a:p>
                      <a:pPr indent="0" marL="0">
                        <a:lnSpc>
                          <a:spcPts val="1680"/>
                        </a:lnSpc>
                        <a:buNone/>
                      </a:pPr>
                      <a:r>
                        <a:rPr lang="en-US" sz="1200" dirty="0">
                          <a:solidFill>
                            <a:srgbClr val="1E3F33"/>
                          </a:solidFill>
                          <a:latin typeface="DM Sans" pitchFamily="34" charset="0"/>
                          <a:ea typeface="DM Sans" pitchFamily="34" charset="-122"/>
                          <a:cs typeface="DM Sans" pitchFamily="34" charset="-120"/>
                        </a:rPr>
                        <a:t>Every action: verdict, 95% range, p-value, energy and ₹ counted</a:t>
                      </a:r>
                      <a:endParaRPr lang="en-US" sz="1200" dirty="0">
                        <a:latin typeface="DM Sans" charset="0"/>
                        <a:ea typeface="DM Sans" charset="0"/>
                        <a:cs typeface="DM Sans" charset="0"/>
                      </a:endParaRPr>
                    </a:p>
                  </a:txBody>
                  <a:tcPr marL="53340" marR="53340" marT="53340" marB="53340" anchor="t">
                    <a:lnL w="12700" cap="flat" cmpd="sng" algn="ctr">
                      <a:solidFill>
                        <a:srgbClr val="BFC2B8"/>
                      </a:solidFill>
                      <a:prstDash val="solid"/>
                      <a:round/>
                      <a:headEnd type="none" w="med" len="med"/>
                      <a:tailEnd type="none" w="med" len="med"/>
                    </a:lnL>
                    <a:lnR w="12700" cap="flat" cmpd="sng" algn="ctr">
                      <a:solidFill>
                        <a:srgbClr val="BFC2B8"/>
                      </a:solidFill>
                      <a:prstDash val="solid"/>
                      <a:round/>
                      <a:headEnd type="none" w="med" len="med"/>
                      <a:tailEnd type="none" w="med" len="med"/>
                    </a:lnR>
                    <a:lnT w="12700" cap="flat" cmpd="sng" algn="ctr">
                      <a:solidFill>
                        <a:srgbClr val="C5C4BE"/>
                      </a:solidFill>
                      <a:prstDash val="solid"/>
                      <a:round/>
                      <a:headEnd type="none" w="med" len="med"/>
                      <a:tailEnd type="none" w="med" len="med"/>
                    </a:lnT>
                    <a:lnB w="12700" cap="flat" cmpd="sng" algn="ctr">
                      <a:solidFill>
                        <a:srgbClr val="BFC2B8"/>
                      </a:solidFill>
                      <a:prstDash val="solid"/>
                      <a:round/>
                      <a:headEnd type="none" w="med" len="med"/>
                      <a:tailEnd type="none" w="med" len="med"/>
                    </a:lnB>
                    <a:solidFill>
                      <a:srgbClr val="EFF3E6"/>
                    </a:solidFill>
                  </a:tcPr>
                </a:tc>
              </a:tr>
              <a:tr h="331561">
                <a:tc>
                  <a:txBody>
                    <a:bodyPr/>
                    <a:lstStyle/>
                    <a:p>
                      <a:pPr indent="0" marL="0">
                        <a:lnSpc>
                          <a:spcPts val="1680"/>
                        </a:lnSpc>
                        <a:buNone/>
                      </a:pPr>
                      <a:r>
                        <a:rPr lang="en-US" sz="1200" dirty="0">
                          <a:solidFill>
                            <a:srgbClr val="1E3F33"/>
                          </a:solidFill>
                          <a:latin typeface="DM Sans" pitchFamily="34" charset="0"/>
                          <a:ea typeface="DM Sans" pitchFamily="34" charset="-122"/>
                          <a:cs typeface="DM Sans" pitchFamily="34" charset="-120"/>
                        </a:rPr>
                        <a:t>Without overstating benefits</a:t>
                      </a:r>
                      <a:endParaRPr lang="en-US" sz="1200" dirty="0">
                        <a:latin typeface="DM Sans" charset="0"/>
                        <a:ea typeface="DM Sans" charset="0"/>
                        <a:cs typeface="DM Sans" charset="0"/>
                      </a:endParaRPr>
                    </a:p>
                  </a:txBody>
                  <a:tcPr marL="53340" marR="53340" marT="53340" marB="53340" anchor="t">
                    <a:lnL w="12700" cap="flat" cmpd="sng" algn="ctr">
                      <a:solidFill>
                        <a:srgbClr val="C5C4BE"/>
                      </a:solidFill>
                      <a:prstDash val="solid"/>
                      <a:round/>
                      <a:headEnd type="none" w="med" len="med"/>
                      <a:tailEnd type="none" w="med" len="med"/>
                    </a:lnL>
                    <a:lnR w="12700" cap="flat" cmpd="sng" algn="ctr">
                      <a:solidFill>
                        <a:srgbClr val="C5C4BE"/>
                      </a:solidFill>
                      <a:prstDash val="solid"/>
                      <a:round/>
                      <a:headEnd type="none" w="med" len="med"/>
                      <a:tailEnd type="none" w="med" len="med"/>
                    </a:lnR>
                    <a:lnT w="12700" cap="flat" cmpd="sng" algn="ctr">
                      <a:solidFill>
                        <a:srgbClr val="BFC2B8"/>
                      </a:solidFill>
                      <a:prstDash val="solid"/>
                      <a:round/>
                      <a:headEnd type="none" w="med" len="med"/>
                      <a:tailEnd type="none" w="med" len="med"/>
                    </a:lnT>
                    <a:lnB w="12700" cap="flat" cmpd="sng" algn="ctr">
                      <a:solidFill>
                        <a:srgbClr val="C5C4BE"/>
                      </a:solidFill>
                      <a:prstDash val="solid"/>
                      <a:round/>
                      <a:headEnd type="none" w="med" len="med"/>
                      <a:tailEnd type="none" w="med" len="med"/>
                    </a:lnB>
                  </a:tcPr>
                </a:tc>
                <a:tc>
                  <a:txBody>
                    <a:bodyPr/>
                    <a:lstStyle/>
                    <a:p>
                      <a:pPr indent="0" marL="0">
                        <a:lnSpc>
                          <a:spcPts val="1680"/>
                        </a:lnSpc>
                        <a:buNone/>
                      </a:pPr>
                      <a:r>
                        <a:rPr lang="en-US" sz="1200" dirty="0">
                          <a:solidFill>
                            <a:srgbClr val="1E3F33"/>
                          </a:solidFill>
                          <a:latin typeface="DM Sans" pitchFamily="34" charset="0"/>
                          <a:ea typeface="DM Sans" pitchFamily="34" charset="-122"/>
                          <a:cs typeface="DM Sans" pitchFamily="34" charset="-120"/>
                        </a:rPr>
                        <a:t>Placebo test + low-end counting · 1/55 false savings vs 25/55</a:t>
                      </a:r>
                      <a:endParaRPr lang="en-US" sz="1200" dirty="0">
                        <a:latin typeface="DM Sans" charset="0"/>
                        <a:ea typeface="DM Sans" charset="0"/>
                        <a:cs typeface="DM Sans" charset="0"/>
                      </a:endParaRPr>
                    </a:p>
                  </a:txBody>
                  <a:tcPr marL="53340" marR="53340" marT="53340" marB="53340" anchor="t">
                    <a:lnL w="12700" cap="flat" cmpd="sng" algn="ctr">
                      <a:solidFill>
                        <a:srgbClr val="C5C4BE"/>
                      </a:solidFill>
                      <a:prstDash val="solid"/>
                      <a:round/>
                      <a:headEnd type="none" w="med" len="med"/>
                      <a:tailEnd type="none" w="med" len="med"/>
                    </a:lnL>
                    <a:lnR w="12700" cap="flat" cmpd="sng" algn="ctr">
                      <a:solidFill>
                        <a:srgbClr val="C5C4BE"/>
                      </a:solidFill>
                      <a:prstDash val="solid"/>
                      <a:round/>
                      <a:headEnd type="none" w="med" len="med"/>
                      <a:tailEnd type="none" w="med" len="med"/>
                    </a:lnR>
                    <a:lnT w="12700" cap="flat" cmpd="sng" algn="ctr">
                      <a:solidFill>
                        <a:srgbClr val="BFC2B8"/>
                      </a:solidFill>
                      <a:prstDash val="solid"/>
                      <a:round/>
                      <a:headEnd type="none" w="med" len="med"/>
                      <a:tailEnd type="none" w="med" len="med"/>
                    </a:lnT>
                    <a:lnB w="12700" cap="flat" cmpd="sng" algn="ctr">
                      <a:solidFill>
                        <a:srgbClr val="C5C4BE"/>
                      </a:solidFill>
                      <a:prstDash val="solid"/>
                      <a:round/>
                      <a:headEnd type="none" w="med" len="med"/>
                      <a:tailEnd type="none" w="med" len="med"/>
                    </a:lnB>
                  </a:tcPr>
                </a:tc>
              </a:tr>
              <a:tr h="331561">
                <a:tc>
                  <a:txBody>
                    <a:bodyPr/>
                    <a:lstStyle/>
                    <a:p>
                      <a:pPr indent="0" marL="0">
                        <a:lnSpc>
                          <a:spcPts val="1680"/>
                        </a:lnSpc>
                        <a:buNone/>
                      </a:pPr>
                      <a:r>
                        <a:rPr lang="en-US" sz="1200" dirty="0">
                          <a:solidFill>
                            <a:srgbClr val="1E3F33"/>
                          </a:solidFill>
                          <a:latin typeface="DM Sans" pitchFamily="34" charset="0"/>
                          <a:ea typeface="DM Sans" pitchFamily="34" charset="-122"/>
                          <a:cs typeface="DM Sans" pitchFamily="34" charset="-120"/>
                        </a:rPr>
                        <a:t>Exportable report</a:t>
                      </a:r>
                      <a:endParaRPr lang="en-US" sz="1200" dirty="0">
                        <a:latin typeface="DM Sans" charset="0"/>
                        <a:ea typeface="DM Sans" charset="0"/>
                        <a:cs typeface="DM Sans" charset="0"/>
                      </a:endParaRPr>
                    </a:p>
                  </a:txBody>
                  <a:tcPr marL="53340" marR="53340" marT="53340" marB="53340" anchor="t">
                    <a:lnL w="12700" cap="flat" cmpd="sng" algn="ctr">
                      <a:solidFill>
                        <a:srgbClr val="C5C4BE"/>
                      </a:solidFill>
                      <a:prstDash val="solid"/>
                      <a:round/>
                      <a:headEnd type="none" w="med" len="med"/>
                      <a:tailEnd type="none" w="med" len="med"/>
                    </a:lnL>
                    <a:lnR w="12700" cap="flat" cmpd="sng" algn="ctr">
                      <a:solidFill>
                        <a:srgbClr val="BFC2B8"/>
                      </a:solidFill>
                      <a:prstDash val="solid"/>
                      <a:round/>
                      <a:headEnd type="none" w="med" len="med"/>
                      <a:tailEnd type="none" w="med" len="med"/>
                    </a:lnR>
                    <a:lnT w="12700" cap="flat" cmpd="sng" algn="ctr">
                      <a:solidFill>
                        <a:srgbClr val="C5C4BE"/>
                      </a:solidFill>
                      <a:prstDash val="solid"/>
                      <a:round/>
                      <a:headEnd type="none" w="med" len="med"/>
                      <a:tailEnd type="none" w="med" len="med"/>
                    </a:lnT>
                    <a:lnB w="12700" cap="flat" cmpd="sng" algn="ctr">
                      <a:solidFill>
                        <a:srgbClr val="BFC2B8"/>
                      </a:solidFill>
                      <a:prstDash val="solid"/>
                      <a:round/>
                      <a:headEnd type="none" w="med" len="med"/>
                      <a:tailEnd type="none" w="med" len="med"/>
                    </a:lnB>
                    <a:solidFill>
                      <a:srgbClr val="EFF3E6"/>
                    </a:solidFill>
                  </a:tcPr>
                </a:tc>
                <a:tc>
                  <a:txBody>
                    <a:bodyPr/>
                    <a:lstStyle/>
                    <a:p>
                      <a:pPr indent="0" marL="0">
                        <a:lnSpc>
                          <a:spcPts val="1680"/>
                        </a:lnSpc>
                        <a:buNone/>
                      </a:pPr>
                      <a:r>
                        <a:rPr lang="en-US" sz="1200" dirty="0">
                          <a:solidFill>
                            <a:srgbClr val="1E3F33"/>
                          </a:solidFill>
                          <a:latin typeface="DM Sans" pitchFamily="34" charset="0"/>
                          <a:ea typeface="DM Sans" pitchFamily="34" charset="-122"/>
                          <a:cs typeface="DM Sans" pitchFamily="34" charset="-120"/>
                        </a:rPr>
                        <a:t>HTML report + CSV ledgers, one click</a:t>
                      </a:r>
                      <a:endParaRPr lang="en-US" sz="1200" dirty="0">
                        <a:latin typeface="DM Sans" charset="0"/>
                        <a:ea typeface="DM Sans" charset="0"/>
                        <a:cs typeface="DM Sans" charset="0"/>
                      </a:endParaRPr>
                    </a:p>
                  </a:txBody>
                  <a:tcPr marL="53340" marR="53340" marT="53340" marB="53340" anchor="t">
                    <a:lnL w="12700" cap="flat" cmpd="sng" algn="ctr">
                      <a:solidFill>
                        <a:srgbClr val="BFC2B8"/>
                      </a:solidFill>
                      <a:prstDash val="solid"/>
                      <a:round/>
                      <a:headEnd type="none" w="med" len="med"/>
                      <a:tailEnd type="none" w="med" len="med"/>
                    </a:lnL>
                    <a:lnR w="12700" cap="flat" cmpd="sng" algn="ctr">
                      <a:solidFill>
                        <a:srgbClr val="BFC2B8"/>
                      </a:solidFill>
                      <a:prstDash val="solid"/>
                      <a:round/>
                      <a:headEnd type="none" w="med" len="med"/>
                      <a:tailEnd type="none" w="med" len="med"/>
                    </a:lnR>
                    <a:lnT w="12700" cap="flat" cmpd="sng" algn="ctr">
                      <a:solidFill>
                        <a:srgbClr val="C5C4BE"/>
                      </a:solidFill>
                      <a:prstDash val="solid"/>
                      <a:round/>
                      <a:headEnd type="none" w="med" len="med"/>
                      <a:tailEnd type="none" w="med" len="med"/>
                    </a:lnT>
                    <a:lnB w="12700" cap="flat" cmpd="sng" algn="ctr">
                      <a:solidFill>
                        <a:srgbClr val="BFC2B8"/>
                      </a:solidFill>
                      <a:prstDash val="solid"/>
                      <a:round/>
                      <a:headEnd type="none" w="med" len="med"/>
                      <a:tailEnd type="none" w="med" len="med"/>
                    </a:lnB>
                    <a:solidFill>
                      <a:srgbClr val="EFF3E6"/>
                    </a:solidFill>
                  </a:tcPr>
                </a:tc>
              </a:tr>
              <a:tr h="331561">
                <a:tc>
                  <a:txBody>
                    <a:bodyPr/>
                    <a:lstStyle/>
                    <a:p>
                      <a:pPr indent="0" marL="0">
                        <a:lnSpc>
                          <a:spcPts val="1680"/>
                        </a:lnSpc>
                        <a:buNone/>
                      </a:pPr>
                      <a:r>
                        <a:rPr lang="en-US" sz="1200" dirty="0">
                          <a:solidFill>
                            <a:srgbClr val="1E3F33"/>
                          </a:solidFill>
                          <a:latin typeface="DM Sans" pitchFamily="34" charset="0"/>
                          <a:ea typeface="DM Sans" pitchFamily="34" charset="-122"/>
                          <a:cs typeface="DM Sans" pitchFamily="34" charset="-120"/>
                        </a:rPr>
                        <a:t>Labelled sample dataset</a:t>
                      </a:r>
                      <a:endParaRPr lang="en-US" sz="1200" dirty="0">
                        <a:latin typeface="DM Sans" charset="0"/>
                        <a:ea typeface="DM Sans" charset="0"/>
                        <a:cs typeface="DM Sans" charset="0"/>
                      </a:endParaRPr>
                    </a:p>
                  </a:txBody>
                  <a:tcPr marL="53340" marR="53340" marT="53340" marB="53340" anchor="t">
                    <a:lnL w="12700" cap="flat" cmpd="sng" algn="ctr">
                      <a:solidFill>
                        <a:srgbClr val="C5C4BE"/>
                      </a:solidFill>
                      <a:prstDash val="solid"/>
                      <a:round/>
                      <a:headEnd type="none" w="med" len="med"/>
                      <a:tailEnd type="none" w="med" len="med"/>
                    </a:lnL>
                    <a:lnR w="12700" cap="flat" cmpd="sng" algn="ctr">
                      <a:solidFill>
                        <a:srgbClr val="C5C4BE"/>
                      </a:solidFill>
                      <a:prstDash val="solid"/>
                      <a:round/>
                      <a:headEnd type="none" w="med" len="med"/>
                      <a:tailEnd type="none" w="med" len="med"/>
                    </a:lnR>
                    <a:lnT w="12700" cap="flat" cmpd="sng" algn="ctr">
                      <a:solidFill>
                        <a:srgbClr val="BFC2B8"/>
                      </a:solidFill>
                      <a:prstDash val="solid"/>
                      <a:round/>
                      <a:headEnd type="none" w="med" len="med"/>
                      <a:tailEnd type="none" w="med" len="med"/>
                    </a:lnT>
                    <a:lnB w="12700" cap="flat" cmpd="sng" algn="ctr">
                      <a:solidFill>
                        <a:srgbClr val="C5C4BE"/>
                      </a:solidFill>
                      <a:prstDash val="solid"/>
                      <a:round/>
                      <a:headEnd type="none" w="med" len="med"/>
                      <a:tailEnd type="none" w="med" len="med"/>
                    </a:lnB>
                  </a:tcPr>
                </a:tc>
                <a:tc>
                  <a:txBody>
                    <a:bodyPr/>
                    <a:lstStyle/>
                    <a:p>
                      <a:pPr indent="0" marL="0">
                        <a:lnSpc>
                          <a:spcPts val="1680"/>
                        </a:lnSpc>
                        <a:buNone/>
                      </a:pPr>
                      <a:r>
                        <a:rPr lang="en-US" sz="1200" dirty="0">
                          <a:solidFill>
                            <a:srgbClr val="1E3F33"/>
                          </a:solidFill>
                          <a:latin typeface="DM Sans" pitchFamily="34" charset="0"/>
                          <a:ea typeface="DM Sans" pitchFamily="34" charset="-122"/>
                          <a:cs typeface="DM Sans" pitchFamily="34" charset="-120"/>
                        </a:rPr>
                        <a:t>ZIP: real/ + simulated/ folders, a label on every row, data dictionary</a:t>
                      </a:r>
                      <a:endParaRPr lang="en-US" sz="1200" dirty="0">
                        <a:latin typeface="DM Sans" charset="0"/>
                        <a:ea typeface="DM Sans" charset="0"/>
                        <a:cs typeface="DM Sans" charset="0"/>
                      </a:endParaRPr>
                    </a:p>
                  </a:txBody>
                  <a:tcPr marL="53340" marR="53340" marT="53340" marB="53340" anchor="t">
                    <a:lnL w="12700" cap="flat" cmpd="sng" algn="ctr">
                      <a:solidFill>
                        <a:srgbClr val="C5C4BE"/>
                      </a:solidFill>
                      <a:prstDash val="solid"/>
                      <a:round/>
                      <a:headEnd type="none" w="med" len="med"/>
                      <a:tailEnd type="none" w="med" len="med"/>
                    </a:lnL>
                    <a:lnR w="12700" cap="flat" cmpd="sng" algn="ctr">
                      <a:solidFill>
                        <a:srgbClr val="C5C4BE"/>
                      </a:solidFill>
                      <a:prstDash val="solid"/>
                      <a:round/>
                      <a:headEnd type="none" w="med" len="med"/>
                      <a:tailEnd type="none" w="med" len="med"/>
                    </a:lnR>
                    <a:lnT w="12700" cap="flat" cmpd="sng" algn="ctr">
                      <a:solidFill>
                        <a:srgbClr val="BFC2B8"/>
                      </a:solidFill>
                      <a:prstDash val="solid"/>
                      <a:round/>
                      <a:headEnd type="none" w="med" len="med"/>
                      <a:tailEnd type="none" w="med" len="med"/>
                    </a:lnT>
                    <a:lnB w="12700" cap="flat" cmpd="sng" algn="ctr">
                      <a:solidFill>
                        <a:srgbClr val="C5C4BE"/>
                      </a:solidFill>
                      <a:prstDash val="solid"/>
                      <a:round/>
                      <a:headEnd type="none" w="med" len="med"/>
                      <a:tailEnd type="none" w="med" len="med"/>
                    </a:lnB>
                  </a:tcPr>
                </a:tc>
              </a:tr>
              <a:tr h="331561">
                <a:tc>
                  <a:txBody>
                    <a:bodyPr/>
                    <a:lstStyle/>
                    <a:p>
                      <a:pPr indent="0" marL="0">
                        <a:lnSpc>
                          <a:spcPts val="1680"/>
                        </a:lnSpc>
                        <a:buNone/>
                      </a:pPr>
                      <a:r>
                        <a:rPr lang="en-US" sz="1200" dirty="0">
                          <a:solidFill>
                            <a:srgbClr val="1E3F33"/>
                          </a:solidFill>
                          <a:latin typeface="DM Sans" pitchFamily="34" charset="0"/>
                          <a:ea typeface="DM Sans" pitchFamily="34" charset="-122"/>
                          <a:cs typeface="DM Sans" pitchFamily="34" charset="-120"/>
                        </a:rPr>
                        <a:t>Help and safety</a:t>
                      </a:r>
                      <a:endParaRPr lang="en-US" sz="1200" dirty="0">
                        <a:latin typeface="DM Sans" charset="0"/>
                        <a:ea typeface="DM Sans" charset="0"/>
                        <a:cs typeface="DM Sans" charset="0"/>
                      </a:endParaRPr>
                    </a:p>
                  </a:txBody>
                  <a:tcPr marL="53340" marR="53340" marT="53340" marB="53340" anchor="t">
                    <a:lnL w="12700" cap="flat" cmpd="sng" algn="ctr">
                      <a:solidFill>
                        <a:srgbClr val="C5C4BE"/>
                      </a:solidFill>
                      <a:prstDash val="solid"/>
                      <a:round/>
                      <a:headEnd type="none" w="med" len="med"/>
                      <a:tailEnd type="none" w="med" len="med"/>
                    </a:lnL>
                    <a:lnR w="12700" cap="flat" cmpd="sng" algn="ctr">
                      <a:solidFill>
                        <a:srgbClr val="BFC2B8"/>
                      </a:solidFill>
                      <a:prstDash val="solid"/>
                      <a:round/>
                      <a:headEnd type="none" w="med" len="med"/>
                      <a:tailEnd type="none" w="med" len="med"/>
                    </a:lnR>
                    <a:lnT w="12700" cap="flat" cmpd="sng" algn="ctr">
                      <a:solidFill>
                        <a:srgbClr val="C5C4BE"/>
                      </a:solidFill>
                      <a:prstDash val="solid"/>
                      <a:round/>
                      <a:headEnd type="none" w="med" len="med"/>
                      <a:tailEnd type="none" w="med" len="med"/>
                    </a:lnT>
                    <a:lnB w="12700" cap="flat" cmpd="sng" algn="ctr">
                      <a:solidFill>
                        <a:srgbClr val="BFC2B8"/>
                      </a:solidFill>
                      <a:prstDash val="solid"/>
                      <a:round/>
                      <a:headEnd type="none" w="med" len="med"/>
                      <a:tailEnd type="none" w="med" len="med"/>
                    </a:lnB>
                    <a:solidFill>
                      <a:srgbClr val="EFF3E6"/>
                    </a:solidFill>
                  </a:tcPr>
                </a:tc>
                <a:tc>
                  <a:txBody>
                    <a:bodyPr/>
                    <a:lstStyle/>
                    <a:p>
                      <a:pPr indent="0" marL="0">
                        <a:lnSpc>
                          <a:spcPts val="1680"/>
                        </a:lnSpc>
                        <a:buNone/>
                      </a:pPr>
                      <a:r>
                        <a:rPr lang="en-US" sz="1200" dirty="0">
                          <a:solidFill>
                            <a:srgbClr val="1E3F33"/>
                          </a:solidFill>
                          <a:latin typeface="DM Sans" pitchFamily="34" charset="0"/>
                          <a:ea typeface="DM Sans" pitchFamily="34" charset="-122"/>
                          <a:cs typeface="DM Sans" pitchFamily="34" charset="-120"/>
                        </a:rPr>
                        <a:t>Home page and Support &amp; Info tab — in plain words</a:t>
                      </a:r>
                      <a:endParaRPr lang="en-US" sz="1200" dirty="0">
                        <a:latin typeface="DM Sans" charset="0"/>
                        <a:ea typeface="DM Sans" charset="0"/>
                        <a:cs typeface="DM Sans" charset="0"/>
                      </a:endParaRPr>
                    </a:p>
                  </a:txBody>
                  <a:tcPr marL="53340" marR="53340" marT="53340" marB="53340" anchor="t">
                    <a:lnL w="12700" cap="flat" cmpd="sng" algn="ctr">
                      <a:solidFill>
                        <a:srgbClr val="BFC2B8"/>
                      </a:solidFill>
                      <a:prstDash val="solid"/>
                      <a:round/>
                      <a:headEnd type="none" w="med" len="med"/>
                      <a:tailEnd type="none" w="med" len="med"/>
                    </a:lnL>
                    <a:lnR w="12700" cap="flat" cmpd="sng" algn="ctr">
                      <a:solidFill>
                        <a:srgbClr val="BFC2B8"/>
                      </a:solidFill>
                      <a:prstDash val="solid"/>
                      <a:round/>
                      <a:headEnd type="none" w="med" len="med"/>
                      <a:tailEnd type="none" w="med" len="med"/>
                    </a:lnR>
                    <a:lnT w="12700" cap="flat" cmpd="sng" algn="ctr">
                      <a:solidFill>
                        <a:srgbClr val="C5C4BE"/>
                      </a:solidFill>
                      <a:prstDash val="solid"/>
                      <a:round/>
                      <a:headEnd type="none" w="med" len="med"/>
                      <a:tailEnd type="none" w="med" len="med"/>
                    </a:lnT>
                    <a:lnB w="12700" cap="flat" cmpd="sng" algn="ctr">
                      <a:solidFill>
                        <a:srgbClr val="BFC2B8"/>
                      </a:solidFill>
                      <a:prstDash val="solid"/>
                      <a:round/>
                      <a:headEnd type="none" w="med" len="med"/>
                      <a:tailEnd type="none" w="med" len="med"/>
                    </a:lnB>
                    <a:solidFill>
                      <a:srgbClr val="EFF3E6"/>
                    </a:solidFill>
                  </a:tcPr>
                </a:tc>
              </a:tr>
            </a:tbl>
          </a:graphicData>
        </a:graphic>
      </p:graphicFrame>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1E3F33"/>
        </a:solidFill>
      </p:bgPr>
    </p:bg>
    <p:spTree>
      <p:nvGrpSpPr>
        <p:cNvPr id="1" name=""/>
        <p:cNvGrpSpPr/>
        <p:nvPr/>
      </p:nvGrpSpPr>
      <p:grpSpPr>
        <a:xfrm>
          <a:off x="0" y="0"/>
          <a:ext cx="0" cy="0"/>
          <a:chOff x="0" y="0"/>
          <a:chExt cx="0" cy="0"/>
        </a:xfrm>
      </p:grpSpPr>
      <p:sp>
        <p:nvSpPr>
          <p:cNvPr id="2" name="Text 0"/>
          <p:cNvSpPr/>
          <p:nvPr>
            <p:ph type="title"/>
          </p:nvPr>
        </p:nvSpPr>
        <p:spPr>
          <a:xfrm>
            <a:off x="812750" y="1875904"/>
            <a:ext cx="10883467" cy="1412147"/>
          </a:xfrm>
          <a:prstGeom prst="rect">
            <a:avLst/>
          </a:prstGeom>
          <a:noFill/>
          <a:ln/>
        </p:spPr>
        <p:txBody>
          <a:bodyPr wrap="square" lIns="0" tIns="0" rIns="0" bIns="0" rtlCol="0" anchor="t">
            <a:normAutofit/>
          </a:bodyPr>
          <a:lstStyle/>
          <a:p>
            <a:pPr algn="l" indent="0" marL="0">
              <a:lnSpc>
                <a:spcPts val="5460"/>
              </a:lnSpc>
              <a:buNone/>
            </a:pPr>
            <a:r>
              <a:rPr lang="en-US" sz="5200" b="1" i="0" spc="-100" kern="0" dirty="0">
                <a:solidFill>
                  <a:srgbClr val="F7F5EE"/>
                </a:solidFill>
                <a:latin typeface="Manrope" pitchFamily="34" charset="0"/>
                <a:ea typeface="Manrope" pitchFamily="34" charset="-122"/>
                <a:cs typeface="Manrope" pitchFamily="34" charset="-120"/>
              </a:rPr>
              <a:t>We count only</a:t>
            </a:r>
            <a:endParaRPr lang="en-US" sz="5200" dirty="0"/>
          </a:p>
          <a:p>
            <a:pPr algn="l" indent="0" marL="0">
              <a:lnSpc>
                <a:spcPts val="5460"/>
              </a:lnSpc>
              <a:buNone/>
            </a:pPr>
            <a:r>
              <a:rPr lang="en-US" sz="5200" b="1" i="0" spc="-100" kern="0" dirty="0">
                <a:solidFill>
                  <a:srgbClr val="F7F5EE"/>
                </a:solidFill>
                <a:latin typeface="Manrope" pitchFamily="34" charset="0"/>
                <a:ea typeface="Manrope" pitchFamily="34" charset="-122"/>
                <a:cs typeface="Manrope" pitchFamily="34" charset="-120"/>
              </a:rPr>
              <a:t>what we can </a:t>
            </a:r>
            <a:r>
              <a:rPr lang="en-US" sz="5200" b="1" i="0" spc="-100" kern="0" dirty="0">
                <a:solidFill>
                  <a:srgbClr val="CDE46A"/>
                </a:solidFill>
                <a:latin typeface="Manrope" pitchFamily="34" charset="0"/>
                <a:ea typeface="Manrope" pitchFamily="34" charset="-122"/>
                <a:cs typeface="Manrope" pitchFamily="34" charset="-120"/>
              </a:rPr>
              <a:t>prove</a:t>
            </a:r>
            <a:r>
              <a:rPr lang="en-US" sz="5200" b="1" i="0" spc="-100" kern="0" dirty="0">
                <a:solidFill>
                  <a:srgbClr val="F7F5EE"/>
                </a:solidFill>
                <a:latin typeface="Manrope" pitchFamily="34" charset="0"/>
                <a:ea typeface="Manrope" pitchFamily="34" charset="-122"/>
                <a:cs typeface="Manrope" pitchFamily="34" charset="-120"/>
              </a:rPr>
              <a:t>.</a:t>
            </a:r>
            <a:endParaRPr lang="en-US" sz="5200" dirty="0"/>
          </a:p>
        </p:txBody>
      </p:sp>
      <p:sp>
        <p:nvSpPr>
          <p:cNvPr id="3" name="Text 1"/>
          <p:cNvSpPr/>
          <p:nvPr/>
        </p:nvSpPr>
        <p:spPr>
          <a:xfrm>
            <a:off x="812750" y="3567410"/>
            <a:ext cx="2662269" cy="594325"/>
          </a:xfrm>
          <a:prstGeom prst="rect">
            <a:avLst/>
          </a:prstGeom>
          <a:noFill/>
          <a:ln/>
        </p:spPr>
        <p:txBody>
          <a:bodyPr wrap="square" lIns="0" tIns="0" rIns="0" bIns="0" rtlCol="0" anchor="t">
            <a:normAutofit/>
          </a:bodyPr>
          <a:lstStyle/>
          <a:p>
            <a:pPr algn="l" indent="0" marL="0">
              <a:lnSpc>
                <a:spcPts val="4480"/>
              </a:lnSpc>
              <a:buNone/>
            </a:pPr>
            <a:r>
              <a:rPr lang="en-US" sz="3200" b="1" dirty="0">
                <a:solidFill>
                  <a:srgbClr val="CDE46A"/>
                </a:solidFill>
                <a:latin typeface="Manrope" pitchFamily="34" charset="0"/>
                <a:ea typeface="Manrope" pitchFamily="34" charset="-122"/>
                <a:cs typeface="Manrope" pitchFamily="34" charset="-120"/>
              </a:rPr>
              <a:t>26,551 kWh</a:t>
            </a:r>
            <a:endParaRPr lang="en-US" sz="3200" dirty="0"/>
          </a:p>
        </p:txBody>
      </p:sp>
      <p:sp>
        <p:nvSpPr>
          <p:cNvPr id="4" name="Text 2"/>
          <p:cNvSpPr/>
          <p:nvPr/>
        </p:nvSpPr>
        <p:spPr>
          <a:xfrm>
            <a:off x="812750" y="4161693"/>
            <a:ext cx="2323571" cy="256484"/>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BFD3C6"/>
                </a:solidFill>
                <a:latin typeface="DM Sans" pitchFamily="34" charset="0"/>
                <a:ea typeface="DM Sans" pitchFamily="34" charset="-122"/>
                <a:cs typeface="DM Sans" pitchFamily="34" charset="-120"/>
              </a:rPr>
              <a:t>saved last month</a:t>
            </a:r>
            <a:endParaRPr lang="en-US" sz="1300" dirty="0"/>
          </a:p>
        </p:txBody>
      </p:sp>
      <p:sp>
        <p:nvSpPr>
          <p:cNvPr id="5" name="Text 3"/>
          <p:cNvSpPr/>
          <p:nvPr/>
        </p:nvSpPr>
        <p:spPr>
          <a:xfrm>
            <a:off x="3475019" y="3567410"/>
            <a:ext cx="1589168" cy="594325"/>
          </a:xfrm>
          <a:prstGeom prst="rect">
            <a:avLst/>
          </a:prstGeom>
          <a:noFill/>
          <a:ln/>
        </p:spPr>
        <p:txBody>
          <a:bodyPr wrap="square" lIns="0" tIns="0" rIns="0" bIns="0" rtlCol="0" anchor="t">
            <a:normAutofit/>
          </a:bodyPr>
          <a:lstStyle/>
          <a:p>
            <a:pPr algn="l" indent="0" marL="0">
              <a:lnSpc>
                <a:spcPts val="4480"/>
              </a:lnSpc>
              <a:buNone/>
            </a:pPr>
            <a:r>
              <a:rPr lang="en-US" sz="3200" b="1" dirty="0">
                <a:solidFill>
                  <a:srgbClr val="CDE46A"/>
                </a:solidFill>
                <a:latin typeface="Manrope" pitchFamily="34" charset="0"/>
                <a:ea typeface="Manrope" pitchFamily="34" charset="-122"/>
                <a:cs typeface="Manrope" pitchFamily="34" charset="-120"/>
              </a:rPr>
              <a:t>1 / 55</a:t>
            </a:r>
            <a:endParaRPr lang="en-US" sz="3200" dirty="0"/>
          </a:p>
        </p:txBody>
      </p:sp>
      <p:sp>
        <p:nvSpPr>
          <p:cNvPr id="6" name="Text 4"/>
          <p:cNvSpPr/>
          <p:nvPr/>
        </p:nvSpPr>
        <p:spPr>
          <a:xfrm>
            <a:off x="3475019" y="4161693"/>
            <a:ext cx="1846041" cy="256484"/>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BFD3C6"/>
                </a:solidFill>
                <a:latin typeface="DM Sans" pitchFamily="34" charset="0"/>
                <a:ea typeface="DM Sans" pitchFamily="34" charset="-122"/>
                <a:cs typeface="DM Sans" pitchFamily="34" charset="-120"/>
              </a:rPr>
              <a:t>false savings (vs 25)</a:t>
            </a:r>
            <a:endParaRPr lang="en-US" sz="1300" dirty="0"/>
          </a:p>
        </p:txBody>
      </p:sp>
      <p:sp>
        <p:nvSpPr>
          <p:cNvPr id="7" name="Text 5"/>
          <p:cNvSpPr/>
          <p:nvPr/>
        </p:nvSpPr>
        <p:spPr>
          <a:xfrm>
            <a:off x="5419761" y="3567410"/>
            <a:ext cx="1698581" cy="594325"/>
          </a:xfrm>
          <a:prstGeom prst="rect">
            <a:avLst/>
          </a:prstGeom>
          <a:noFill/>
          <a:ln/>
        </p:spPr>
        <p:txBody>
          <a:bodyPr wrap="square" lIns="0" tIns="0" rIns="0" bIns="0" rtlCol="0" anchor="t">
            <a:normAutofit/>
          </a:bodyPr>
          <a:lstStyle/>
          <a:p>
            <a:pPr algn="l" indent="0" marL="0">
              <a:lnSpc>
                <a:spcPts val="4480"/>
              </a:lnSpc>
              <a:buNone/>
            </a:pPr>
            <a:r>
              <a:rPr lang="en-US" sz="3200" b="1" dirty="0">
                <a:solidFill>
                  <a:srgbClr val="CDE46A"/>
                </a:solidFill>
                <a:latin typeface="Manrope" pitchFamily="34" charset="0"/>
                <a:ea typeface="Manrope" pitchFamily="34" charset="-122"/>
                <a:cs typeface="Manrope" pitchFamily="34" charset="-120"/>
              </a:rPr>
              <a:t>9 / 9</a:t>
            </a:r>
            <a:endParaRPr lang="en-US" sz="3200" dirty="0"/>
          </a:p>
        </p:txBody>
      </p:sp>
      <p:sp>
        <p:nvSpPr>
          <p:cNvPr id="8" name="Text 6"/>
          <p:cNvSpPr/>
          <p:nvPr/>
        </p:nvSpPr>
        <p:spPr>
          <a:xfrm>
            <a:off x="5419761" y="4161693"/>
            <a:ext cx="1977337" cy="256484"/>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BFD3C6"/>
                </a:solidFill>
                <a:latin typeface="DM Sans" pitchFamily="34" charset="0"/>
                <a:ea typeface="DM Sans" pitchFamily="34" charset="-122"/>
                <a:cs typeface="DM Sans" pitchFamily="34" charset="-120"/>
              </a:rPr>
              <a:t>truth inside our range</a:t>
            </a:r>
            <a:endParaRPr lang="en-US" sz="1300" dirty="0"/>
          </a:p>
        </p:txBody>
      </p:sp>
      <p:sp>
        <p:nvSpPr>
          <p:cNvPr id="9" name="Text 7"/>
          <p:cNvSpPr/>
          <p:nvPr/>
        </p:nvSpPr>
        <p:spPr>
          <a:xfrm>
            <a:off x="812750" y="4697524"/>
            <a:ext cx="10883467" cy="309862"/>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BFD3C6"/>
                </a:solidFill>
                <a:latin typeface="DM Sans" pitchFamily="34" charset="0"/>
                <a:ea typeface="DM Sans" pitchFamily="34" charset="-122"/>
                <a:cs typeface="DM Sans" pitchFamily="34" charset="-120"/>
              </a:rPr>
              <a:t>GreenLedger · Team Shinzen · Thank you</a:t>
            </a:r>
            <a:endParaRPr lang="en-US" sz="16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EDEFE6"/>
        </a:solidFill>
      </p:bgPr>
    </p:bg>
    <p:spTree>
      <p:nvGrpSpPr>
        <p:cNvPr id="1" name=""/>
        <p:cNvGrpSpPr/>
        <p:nvPr/>
      </p:nvGrpSpPr>
      <p:grpSpPr>
        <a:xfrm>
          <a:off x="0" y="0"/>
          <a:ext cx="0" cy="0"/>
          <a:chOff x="0" y="0"/>
          <a:chExt cx="0" cy="0"/>
        </a:xfrm>
      </p:grpSpPr>
      <p:sp>
        <p:nvSpPr>
          <p:cNvPr id="2" name="Text 0"/>
          <p:cNvSpPr/>
          <p:nvPr/>
        </p:nvSpPr>
        <p:spPr>
          <a:xfrm>
            <a:off x="812750" y="812750"/>
            <a:ext cx="10883467" cy="274357"/>
          </a:xfrm>
          <a:prstGeom prst="rect">
            <a:avLst/>
          </a:prstGeom>
          <a:noFill/>
          <a:ln/>
        </p:spPr>
        <p:txBody>
          <a:bodyPr wrap="square" lIns="0" tIns="0" rIns="0" bIns="0" rtlCol="0" anchor="t">
            <a:normAutofit/>
          </a:bodyPr>
          <a:lstStyle/>
          <a:p>
            <a:pPr algn="l" indent="0" marL="0">
              <a:lnSpc>
                <a:spcPts val="1960"/>
              </a:lnSpc>
              <a:buNone/>
            </a:pPr>
            <a:r>
              <a:rPr lang="en-US" sz="1400" b="1" spc="200" kern="0" dirty="0">
                <a:solidFill>
                  <a:srgbClr val="9A6B1F"/>
                </a:solidFill>
                <a:latin typeface="DM Sans" pitchFamily="34" charset="0"/>
                <a:ea typeface="DM Sans" pitchFamily="34" charset="-122"/>
                <a:cs typeface="DM Sans" pitchFamily="34" charset="-120"/>
              </a:rPr>
              <a:t>BACKUP · RUN OF SHOW</a:t>
            </a:r>
            <a:endParaRPr lang="en-US" sz="1400" dirty="0"/>
          </a:p>
        </p:txBody>
      </p:sp>
      <p:sp>
        <p:nvSpPr>
          <p:cNvPr id="3" name="Text 1"/>
          <p:cNvSpPr/>
          <p:nvPr>
            <p:ph type="title"/>
          </p:nvPr>
        </p:nvSpPr>
        <p:spPr>
          <a:xfrm>
            <a:off x="812750" y="1163278"/>
            <a:ext cx="10883467" cy="472412"/>
          </a:xfrm>
          <a:prstGeom prst="rect">
            <a:avLst/>
          </a:prstGeom>
          <a:noFill/>
          <a:ln/>
        </p:spPr>
        <p:txBody>
          <a:bodyPr wrap="square" lIns="0" tIns="0" rIns="0" bIns="0" rtlCol="0" anchor="t">
            <a:normAutofit/>
          </a:bodyPr>
          <a:lstStyle/>
          <a:p>
            <a:pPr algn="l" indent="0" marL="0">
              <a:lnSpc>
                <a:spcPts val="3520"/>
              </a:lnSpc>
              <a:buNone/>
            </a:pPr>
            <a:r>
              <a:rPr lang="en-US" sz="3200" b="1" i="0" spc="-50" kern="0" dirty="0">
                <a:solidFill>
                  <a:srgbClr val="1E3F33"/>
                </a:solidFill>
                <a:latin typeface="Manrope" pitchFamily="34" charset="0"/>
                <a:ea typeface="Manrope" pitchFamily="34" charset="-122"/>
                <a:cs typeface="Manrope" pitchFamily="34" charset="-120"/>
              </a:rPr>
              <a:t>The 5-minute pitch, step by step</a:t>
            </a:r>
            <a:endParaRPr lang="en-US" sz="3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4343" y="1875852"/>
          <a:ext cx="10554879" cy="2652487"/>
        </p:xfrm>
        <a:graphic>
          <a:graphicData uri="http://schemas.openxmlformats.org/drawingml/2006/table">
            <a:tbl>
              <a:tblPr/>
              <a:tblGrid>
                <a:gridCol w="1055488"/>
                <a:gridCol w="2322073"/>
                <a:gridCol w="7177318"/>
              </a:tblGrid>
              <a:tr h="331561">
                <a:tc>
                  <a:txBody>
                    <a:bodyPr/>
                    <a:lstStyle/>
                    <a:p>
                      <a:pPr indent="0" marL="0">
                        <a:lnSpc>
                          <a:spcPts val="1680"/>
                        </a:lnSpc>
                        <a:buNone/>
                      </a:pPr>
                      <a:r>
                        <a:rPr lang="en-US" sz="1200" b="1" dirty="0">
                          <a:solidFill>
                            <a:srgbClr val="1E3F33"/>
                          </a:solidFill>
                          <a:latin typeface="DM Sans" pitchFamily="34" charset="0"/>
                          <a:ea typeface="DM Sans" pitchFamily="34" charset="-122"/>
                          <a:cs typeface="DM Sans" pitchFamily="34" charset="-120"/>
                        </a:rPr>
                        <a:t>Time</a:t>
                      </a:r>
                      <a:endParaRPr lang="en-US" sz="1200" dirty="0">
                        <a:latin typeface="DM Sans" charset="0"/>
                        <a:ea typeface="DM Sans" charset="0"/>
                        <a:cs typeface="DM Sans" charset="0"/>
                      </a:endParaRPr>
                    </a:p>
                  </a:txBody>
                  <a:tcPr marL="53340" marR="53340" marT="53340" marB="53340" anchor="t">
                    <a:lnL w="12700" cap="flat" cmpd="sng" algn="ctr">
                      <a:solidFill>
                        <a:srgbClr val="BDBFB8"/>
                      </a:solidFill>
                      <a:prstDash val="solid"/>
                      <a:round/>
                      <a:headEnd type="none" w="med" len="med"/>
                      <a:tailEnd type="none" w="med" len="med"/>
                    </a:lnL>
                    <a:lnR w="12700" cap="flat" cmpd="sng" algn="ctr">
                      <a:solidFill>
                        <a:srgbClr val="B0B1AA"/>
                      </a:solidFill>
                      <a:prstDash val="solid"/>
                      <a:round/>
                      <a:headEnd type="none" w="med" len="med"/>
                      <a:tailEnd type="none" w="med" len="med"/>
                    </a:lnR>
                    <a:lnT w="12700" cap="flat" cmpd="sng" algn="ctr">
                      <a:solidFill>
                        <a:srgbClr val="BDBFB8"/>
                      </a:solidFill>
                      <a:prstDash val="solid"/>
                      <a:round/>
                      <a:headEnd type="none" w="med" len="med"/>
                      <a:tailEnd type="none" w="med" len="med"/>
                    </a:lnT>
                    <a:lnB w="12700" cap="flat" cmpd="sng" algn="ctr">
                      <a:solidFill>
                        <a:srgbClr val="B0B1AA"/>
                      </a:solidFill>
                      <a:prstDash val="solid"/>
                      <a:round/>
                      <a:headEnd type="none" w="med" len="med"/>
                      <a:tailEnd type="none" w="med" len="med"/>
                    </a:lnB>
                    <a:solidFill>
                      <a:srgbClr val="DCDDD5"/>
                    </a:solidFill>
                  </a:tcPr>
                </a:tc>
                <a:tc>
                  <a:txBody>
                    <a:bodyPr/>
                    <a:lstStyle/>
                    <a:p>
                      <a:pPr indent="0" marL="0">
                        <a:lnSpc>
                          <a:spcPts val="1680"/>
                        </a:lnSpc>
                        <a:buNone/>
                      </a:pPr>
                      <a:r>
                        <a:rPr lang="en-US" sz="1200" b="1" dirty="0">
                          <a:solidFill>
                            <a:srgbClr val="1E3F33"/>
                          </a:solidFill>
                          <a:latin typeface="DM Sans" pitchFamily="34" charset="0"/>
                          <a:ea typeface="DM Sans" pitchFamily="34" charset="-122"/>
                          <a:cs typeface="DM Sans" pitchFamily="34" charset="-120"/>
                        </a:rPr>
                        <a:t>Screen</a:t>
                      </a:r>
                      <a:endParaRPr lang="en-US" sz="1200" dirty="0">
                        <a:latin typeface="DM Sans" charset="0"/>
                        <a:ea typeface="DM Sans" charset="0"/>
                        <a:cs typeface="DM Sans" charset="0"/>
                      </a:endParaRPr>
                    </a:p>
                  </a:txBody>
                  <a:tcPr marL="53340" marR="53340" marT="53340" marB="53340" anchor="t">
                    <a:lnL w="12700" cap="flat" cmpd="sng" algn="ctr">
                      <a:solidFill>
                        <a:srgbClr val="B0B1AA"/>
                      </a:solidFill>
                      <a:prstDash val="solid"/>
                      <a:round/>
                      <a:headEnd type="none" w="med" len="med"/>
                      <a:tailEnd type="none" w="med" len="med"/>
                    </a:lnL>
                    <a:lnR w="12700" cap="flat" cmpd="sng" algn="ctr">
                      <a:solidFill>
                        <a:srgbClr val="B0B1AA"/>
                      </a:solidFill>
                      <a:prstDash val="solid"/>
                      <a:round/>
                      <a:headEnd type="none" w="med" len="med"/>
                      <a:tailEnd type="none" w="med" len="med"/>
                    </a:lnR>
                    <a:lnT w="12700" cap="flat" cmpd="sng" algn="ctr">
                      <a:solidFill>
                        <a:srgbClr val="BDBFB8"/>
                      </a:solidFill>
                      <a:prstDash val="solid"/>
                      <a:round/>
                      <a:headEnd type="none" w="med" len="med"/>
                      <a:tailEnd type="none" w="med" len="med"/>
                    </a:lnT>
                    <a:lnB w="12700" cap="flat" cmpd="sng" algn="ctr">
                      <a:solidFill>
                        <a:srgbClr val="B0B1AA"/>
                      </a:solidFill>
                      <a:prstDash val="solid"/>
                      <a:round/>
                      <a:headEnd type="none" w="med" len="med"/>
                      <a:tailEnd type="none" w="med" len="med"/>
                    </a:lnB>
                    <a:solidFill>
                      <a:srgbClr val="DCDDD5"/>
                    </a:solidFill>
                  </a:tcPr>
                </a:tc>
                <a:tc>
                  <a:txBody>
                    <a:bodyPr/>
                    <a:lstStyle/>
                    <a:p>
                      <a:pPr indent="0" marL="0">
                        <a:lnSpc>
                          <a:spcPts val="1680"/>
                        </a:lnSpc>
                        <a:buNone/>
                      </a:pPr>
                      <a:r>
                        <a:rPr lang="en-US" sz="1200" b="1" dirty="0">
                          <a:solidFill>
                            <a:srgbClr val="1E3F33"/>
                          </a:solidFill>
                          <a:latin typeface="DM Sans" pitchFamily="34" charset="0"/>
                          <a:ea typeface="DM Sans" pitchFamily="34" charset="-122"/>
                          <a:cs typeface="DM Sans" pitchFamily="34" charset="-120"/>
                        </a:rPr>
                        <a:t>Do and say</a:t>
                      </a:r>
                      <a:endParaRPr lang="en-US" sz="1200" dirty="0">
                        <a:latin typeface="DM Sans" charset="0"/>
                        <a:ea typeface="DM Sans" charset="0"/>
                        <a:cs typeface="DM Sans" charset="0"/>
                      </a:endParaRPr>
                    </a:p>
                  </a:txBody>
                  <a:tcPr marL="53340" marR="53340" marT="53340" marB="53340" anchor="t">
                    <a:lnL w="12700" cap="flat" cmpd="sng" algn="ctr">
                      <a:solidFill>
                        <a:srgbClr val="B0B1AA"/>
                      </a:solidFill>
                      <a:prstDash val="solid"/>
                      <a:round/>
                      <a:headEnd type="none" w="med" len="med"/>
                      <a:tailEnd type="none" w="med" len="med"/>
                    </a:lnL>
                    <a:lnR w="12700" cap="flat" cmpd="sng" algn="ctr">
                      <a:solidFill>
                        <a:srgbClr val="B0B1AA"/>
                      </a:solidFill>
                      <a:prstDash val="solid"/>
                      <a:round/>
                      <a:headEnd type="none" w="med" len="med"/>
                      <a:tailEnd type="none" w="med" len="med"/>
                    </a:lnR>
                    <a:lnT w="12700" cap="flat" cmpd="sng" algn="ctr">
                      <a:solidFill>
                        <a:srgbClr val="BDBFB8"/>
                      </a:solidFill>
                      <a:prstDash val="solid"/>
                      <a:round/>
                      <a:headEnd type="none" w="med" len="med"/>
                      <a:tailEnd type="none" w="med" len="med"/>
                    </a:lnT>
                    <a:lnB w="12700" cap="flat" cmpd="sng" algn="ctr">
                      <a:solidFill>
                        <a:srgbClr val="B0B1AA"/>
                      </a:solidFill>
                      <a:prstDash val="solid"/>
                      <a:round/>
                      <a:headEnd type="none" w="med" len="med"/>
                      <a:tailEnd type="none" w="med" len="med"/>
                    </a:lnB>
                    <a:solidFill>
                      <a:srgbClr val="DCDDD5"/>
                    </a:solidFill>
                  </a:tcPr>
                </a:tc>
              </a:tr>
              <a:tr h="331561">
                <a:tc>
                  <a:txBody>
                    <a:bodyPr/>
                    <a:lstStyle/>
                    <a:p>
                      <a:pPr indent="0" marL="0">
                        <a:lnSpc>
                          <a:spcPts val="1680"/>
                        </a:lnSpc>
                        <a:buNone/>
                      </a:pPr>
                      <a:r>
                        <a:rPr lang="en-US" sz="1200" dirty="0">
                          <a:solidFill>
                            <a:srgbClr val="1E3F33"/>
                          </a:solidFill>
                          <a:latin typeface="DM Sans" pitchFamily="34" charset="0"/>
                          <a:ea typeface="DM Sans" pitchFamily="34" charset="-122"/>
                          <a:cs typeface="DM Sans" pitchFamily="34" charset="-120"/>
                        </a:rPr>
                        <a:t>0:00</a:t>
                      </a:r>
                      <a:endParaRPr lang="en-US" sz="1200" dirty="0">
                        <a:latin typeface="DM Sans" charset="0"/>
                        <a:ea typeface="DM Sans" charset="0"/>
                        <a:cs typeface="DM Sans" charset="0"/>
                      </a:endParaRPr>
                    </a:p>
                  </a:txBody>
                  <a:tcPr marL="53340" marR="53340" marT="53340" marB="53340" anchor="t">
                    <a:lnL w="12700" cap="flat" cmpd="sng" algn="ctr">
                      <a:solidFill>
                        <a:srgbClr val="BDBFB8"/>
                      </a:solidFill>
                      <a:prstDash val="solid"/>
                      <a:round/>
                      <a:headEnd type="none" w="med" len="med"/>
                      <a:tailEnd type="none" w="med" len="med"/>
                    </a:lnL>
                    <a:lnR w="12700" cap="flat" cmpd="sng" algn="ctr">
                      <a:solidFill>
                        <a:srgbClr val="BDBFB8"/>
                      </a:solidFill>
                      <a:prstDash val="solid"/>
                      <a:round/>
                      <a:headEnd type="none" w="med" len="med"/>
                      <a:tailEnd type="none" w="med" len="med"/>
                    </a:lnR>
                    <a:lnT w="12700" cap="flat" cmpd="sng" algn="ctr">
                      <a:solidFill>
                        <a:srgbClr val="B0B1AA"/>
                      </a:solidFill>
                      <a:prstDash val="solid"/>
                      <a:round/>
                      <a:headEnd type="none" w="med" len="med"/>
                      <a:tailEnd type="none" w="med" len="med"/>
                    </a:lnT>
                    <a:lnB w="12700" cap="flat" cmpd="sng" algn="ctr">
                      <a:solidFill>
                        <a:srgbClr val="BDBFB8"/>
                      </a:solidFill>
                      <a:prstDash val="solid"/>
                      <a:round/>
                      <a:headEnd type="none" w="med" len="med"/>
                      <a:tailEnd type="none" w="med" len="med"/>
                    </a:lnB>
                  </a:tcPr>
                </a:tc>
                <a:tc>
                  <a:txBody>
                    <a:bodyPr/>
                    <a:lstStyle/>
                    <a:p>
                      <a:pPr indent="0" marL="0">
                        <a:lnSpc>
                          <a:spcPts val="1680"/>
                        </a:lnSpc>
                        <a:buNone/>
                      </a:pPr>
                      <a:r>
                        <a:rPr lang="en-US" sz="1200" dirty="0">
                          <a:solidFill>
                            <a:srgbClr val="1E3F33"/>
                          </a:solidFill>
                          <a:latin typeface="DM Sans" pitchFamily="34" charset="0"/>
                          <a:ea typeface="DM Sans" pitchFamily="34" charset="-122"/>
                          <a:cs typeface="DM Sans" pitchFamily="34" charset="-120"/>
                        </a:rPr>
                        <a:t>Cover · Problem statement</a:t>
                      </a:r>
                      <a:endParaRPr lang="en-US" sz="1200" dirty="0">
                        <a:latin typeface="DM Sans" charset="0"/>
                        <a:ea typeface="DM Sans" charset="0"/>
                        <a:cs typeface="DM Sans" charset="0"/>
                      </a:endParaRPr>
                    </a:p>
                  </a:txBody>
                  <a:tcPr marL="53340" marR="53340" marT="53340" marB="53340" anchor="t">
                    <a:lnL w="12700" cap="flat" cmpd="sng" algn="ctr">
                      <a:solidFill>
                        <a:srgbClr val="BDBFB8"/>
                      </a:solidFill>
                      <a:prstDash val="solid"/>
                      <a:round/>
                      <a:headEnd type="none" w="med" len="med"/>
                      <a:tailEnd type="none" w="med" len="med"/>
                    </a:lnL>
                    <a:lnR w="12700" cap="flat" cmpd="sng" algn="ctr">
                      <a:solidFill>
                        <a:srgbClr val="BDBFB8"/>
                      </a:solidFill>
                      <a:prstDash val="solid"/>
                      <a:round/>
                      <a:headEnd type="none" w="med" len="med"/>
                      <a:tailEnd type="none" w="med" len="med"/>
                    </a:lnR>
                    <a:lnT w="12700" cap="flat" cmpd="sng" algn="ctr">
                      <a:solidFill>
                        <a:srgbClr val="B0B1AA"/>
                      </a:solidFill>
                      <a:prstDash val="solid"/>
                      <a:round/>
                      <a:headEnd type="none" w="med" len="med"/>
                      <a:tailEnd type="none" w="med" len="med"/>
                    </a:lnT>
                    <a:lnB w="12700" cap="flat" cmpd="sng" algn="ctr">
                      <a:solidFill>
                        <a:srgbClr val="BDBFB8"/>
                      </a:solidFill>
                      <a:prstDash val="solid"/>
                      <a:round/>
                      <a:headEnd type="none" w="med" len="med"/>
                      <a:tailEnd type="none" w="med" len="med"/>
                    </a:lnB>
                  </a:tcPr>
                </a:tc>
                <a:tc>
                  <a:txBody>
                    <a:bodyPr/>
                    <a:lstStyle/>
                    <a:p>
                      <a:pPr indent="0" marL="0">
                        <a:lnSpc>
                          <a:spcPts val="1680"/>
                        </a:lnSpc>
                        <a:buNone/>
                      </a:pPr>
                      <a:r>
                        <a:rPr lang="en-US" sz="1200" dirty="0">
                          <a:solidFill>
                            <a:srgbClr val="1E3F33"/>
                          </a:solidFill>
                          <a:latin typeface="DM Sans" pitchFamily="34" charset="0"/>
                          <a:ea typeface="DM Sans" pitchFamily="34" charset="-122"/>
                          <a:cs typeface="DM Sans" pitchFamily="34" charset="-120"/>
                        </a:rPr>
                        <a:t>Read the highlighted words: “without overstating benefits”.</a:t>
                      </a:r>
                      <a:endParaRPr lang="en-US" sz="1200" dirty="0">
                        <a:latin typeface="DM Sans" charset="0"/>
                        <a:ea typeface="DM Sans" charset="0"/>
                        <a:cs typeface="DM Sans" charset="0"/>
                      </a:endParaRPr>
                    </a:p>
                  </a:txBody>
                  <a:tcPr marL="53340" marR="53340" marT="53340" marB="53340" anchor="t">
                    <a:lnL w="12700" cap="flat" cmpd="sng" algn="ctr">
                      <a:solidFill>
                        <a:srgbClr val="BDBFB8"/>
                      </a:solidFill>
                      <a:prstDash val="solid"/>
                      <a:round/>
                      <a:headEnd type="none" w="med" len="med"/>
                      <a:tailEnd type="none" w="med" len="med"/>
                    </a:lnL>
                    <a:lnR w="12700" cap="flat" cmpd="sng" algn="ctr">
                      <a:solidFill>
                        <a:srgbClr val="BDBFB8"/>
                      </a:solidFill>
                      <a:prstDash val="solid"/>
                      <a:round/>
                      <a:headEnd type="none" w="med" len="med"/>
                      <a:tailEnd type="none" w="med" len="med"/>
                    </a:lnR>
                    <a:lnT w="12700" cap="flat" cmpd="sng" algn="ctr">
                      <a:solidFill>
                        <a:srgbClr val="B0B1AA"/>
                      </a:solidFill>
                      <a:prstDash val="solid"/>
                      <a:round/>
                      <a:headEnd type="none" w="med" len="med"/>
                      <a:tailEnd type="none" w="med" len="med"/>
                    </a:lnT>
                    <a:lnB w="12700" cap="flat" cmpd="sng" algn="ctr">
                      <a:solidFill>
                        <a:srgbClr val="BDBFB8"/>
                      </a:solidFill>
                      <a:prstDash val="solid"/>
                      <a:round/>
                      <a:headEnd type="none" w="med" len="med"/>
                      <a:tailEnd type="none" w="med" len="med"/>
                    </a:lnB>
                  </a:tcPr>
                </a:tc>
              </a:tr>
              <a:tr h="331561">
                <a:tc>
                  <a:txBody>
                    <a:bodyPr/>
                    <a:lstStyle/>
                    <a:p>
                      <a:pPr indent="0" marL="0">
                        <a:lnSpc>
                          <a:spcPts val="1680"/>
                        </a:lnSpc>
                        <a:buNone/>
                      </a:pPr>
                      <a:r>
                        <a:rPr lang="en-US" sz="1200" dirty="0">
                          <a:solidFill>
                            <a:srgbClr val="1E3F33"/>
                          </a:solidFill>
                          <a:latin typeface="DM Sans" pitchFamily="34" charset="0"/>
                          <a:ea typeface="DM Sans" pitchFamily="34" charset="-122"/>
                          <a:cs typeface="DM Sans" pitchFamily="34" charset="-120"/>
                        </a:rPr>
                        <a:t>0:30</a:t>
                      </a:r>
                      <a:endParaRPr lang="en-US" sz="1200" dirty="0">
                        <a:latin typeface="DM Sans" charset="0"/>
                        <a:ea typeface="DM Sans" charset="0"/>
                        <a:cs typeface="DM Sans" charset="0"/>
                      </a:endParaRPr>
                    </a:p>
                  </a:txBody>
                  <a:tcPr marL="53340" marR="53340" marT="53340" marB="53340" anchor="t">
                    <a:lnL w="12700" cap="flat" cmpd="sng" algn="ctr">
                      <a:solidFill>
                        <a:srgbClr val="BDBFB8"/>
                      </a:solidFill>
                      <a:prstDash val="solid"/>
                      <a:round/>
                      <a:headEnd type="none" w="med" len="med"/>
                      <a:tailEnd type="none" w="med" len="med"/>
                    </a:lnL>
                    <a:lnR w="12700" cap="flat" cmpd="sng" algn="ctr">
                      <a:solidFill>
                        <a:srgbClr val="B5B9AD"/>
                      </a:solidFill>
                      <a:prstDash val="solid"/>
                      <a:round/>
                      <a:headEnd type="none" w="med" len="med"/>
                      <a:tailEnd type="none" w="med" len="med"/>
                    </a:lnR>
                    <a:lnT w="12700" cap="flat" cmpd="sng" algn="ctr">
                      <a:solidFill>
                        <a:srgbClr val="BDBFB8"/>
                      </a:solidFill>
                      <a:prstDash val="solid"/>
                      <a:round/>
                      <a:headEnd type="none" w="med" len="med"/>
                      <a:tailEnd type="none" w="med" len="med"/>
                    </a:lnT>
                    <a:lnB w="12700" cap="flat" cmpd="sng" algn="ctr">
                      <a:solidFill>
                        <a:srgbClr val="B5B9AD"/>
                      </a:solidFill>
                      <a:prstDash val="solid"/>
                      <a:round/>
                      <a:headEnd type="none" w="med" len="med"/>
                      <a:tailEnd type="none" w="med" len="med"/>
                    </a:lnB>
                    <a:solidFill>
                      <a:srgbClr val="E2E8D8"/>
                    </a:solidFill>
                  </a:tcPr>
                </a:tc>
                <a:tc>
                  <a:txBody>
                    <a:bodyPr/>
                    <a:lstStyle/>
                    <a:p>
                      <a:pPr indent="0" marL="0">
                        <a:lnSpc>
                          <a:spcPts val="1680"/>
                        </a:lnSpc>
                        <a:buNone/>
                      </a:pPr>
                      <a:r>
                        <a:rPr lang="en-US" sz="1200" dirty="0">
                          <a:solidFill>
                            <a:srgbClr val="1E3F33"/>
                          </a:solidFill>
                          <a:latin typeface="DM Sans" pitchFamily="34" charset="0"/>
                          <a:ea typeface="DM Sans" pitchFamily="34" charset="-122"/>
                          <a:cs typeface="DM Sans" pitchFamily="34" charset="-120"/>
                        </a:rPr>
                        <a:t>Why it matters</a:t>
                      </a:r>
                      <a:endParaRPr lang="en-US" sz="1200" dirty="0">
                        <a:latin typeface="DM Sans" charset="0"/>
                        <a:ea typeface="DM Sans" charset="0"/>
                        <a:cs typeface="DM Sans" charset="0"/>
                      </a:endParaRPr>
                    </a:p>
                  </a:txBody>
                  <a:tcPr marL="53340" marR="53340" marT="53340" marB="53340" anchor="t">
                    <a:lnL w="12700" cap="flat" cmpd="sng" algn="ctr">
                      <a:solidFill>
                        <a:srgbClr val="B5B9AD"/>
                      </a:solidFill>
                      <a:prstDash val="solid"/>
                      <a:round/>
                      <a:headEnd type="none" w="med" len="med"/>
                      <a:tailEnd type="none" w="med" len="med"/>
                    </a:lnL>
                    <a:lnR w="12700" cap="flat" cmpd="sng" algn="ctr">
                      <a:solidFill>
                        <a:srgbClr val="B5B9AD"/>
                      </a:solidFill>
                      <a:prstDash val="solid"/>
                      <a:round/>
                      <a:headEnd type="none" w="med" len="med"/>
                      <a:tailEnd type="none" w="med" len="med"/>
                    </a:lnR>
                    <a:lnT w="12700" cap="flat" cmpd="sng" algn="ctr">
                      <a:solidFill>
                        <a:srgbClr val="BDBFB8"/>
                      </a:solidFill>
                      <a:prstDash val="solid"/>
                      <a:round/>
                      <a:headEnd type="none" w="med" len="med"/>
                      <a:tailEnd type="none" w="med" len="med"/>
                    </a:lnT>
                    <a:lnB w="12700" cap="flat" cmpd="sng" algn="ctr">
                      <a:solidFill>
                        <a:srgbClr val="B5B9AD"/>
                      </a:solidFill>
                      <a:prstDash val="solid"/>
                      <a:round/>
                      <a:headEnd type="none" w="med" len="med"/>
                      <a:tailEnd type="none" w="med" len="med"/>
                    </a:lnB>
                    <a:solidFill>
                      <a:srgbClr val="E2E8D8"/>
                    </a:solidFill>
                  </a:tcPr>
                </a:tc>
                <a:tc>
                  <a:txBody>
                    <a:bodyPr/>
                    <a:lstStyle/>
                    <a:p>
                      <a:pPr indent="0" marL="0">
                        <a:lnSpc>
                          <a:spcPts val="1680"/>
                        </a:lnSpc>
                        <a:buNone/>
                      </a:pPr>
                      <a:r>
                        <a:rPr lang="en-US" sz="1200" dirty="0">
                          <a:solidFill>
                            <a:srgbClr val="1E3F33"/>
                          </a:solidFill>
                          <a:latin typeface="DM Sans" pitchFamily="34" charset="0"/>
                          <a:ea typeface="DM Sans" pitchFamily="34" charset="-122"/>
                          <a:cs typeface="DM Sans" pitchFamily="34" charset="-120"/>
                        </a:rPr>
                        <a:t>25 of 55 normal months, a normal dashboard claimed a saving.</a:t>
                      </a:r>
                      <a:endParaRPr lang="en-US" sz="1200" dirty="0">
                        <a:latin typeface="DM Sans" charset="0"/>
                        <a:ea typeface="DM Sans" charset="0"/>
                        <a:cs typeface="DM Sans" charset="0"/>
                      </a:endParaRPr>
                    </a:p>
                  </a:txBody>
                  <a:tcPr marL="53340" marR="53340" marT="53340" marB="53340" anchor="t">
                    <a:lnL w="12700" cap="flat" cmpd="sng" algn="ctr">
                      <a:solidFill>
                        <a:srgbClr val="B5B9AD"/>
                      </a:solidFill>
                      <a:prstDash val="solid"/>
                      <a:round/>
                      <a:headEnd type="none" w="med" len="med"/>
                      <a:tailEnd type="none" w="med" len="med"/>
                    </a:lnL>
                    <a:lnR w="12700" cap="flat" cmpd="sng" algn="ctr">
                      <a:solidFill>
                        <a:srgbClr val="B5B9AD"/>
                      </a:solidFill>
                      <a:prstDash val="solid"/>
                      <a:round/>
                      <a:headEnd type="none" w="med" len="med"/>
                      <a:tailEnd type="none" w="med" len="med"/>
                    </a:lnR>
                    <a:lnT w="12700" cap="flat" cmpd="sng" algn="ctr">
                      <a:solidFill>
                        <a:srgbClr val="BDBFB8"/>
                      </a:solidFill>
                      <a:prstDash val="solid"/>
                      <a:round/>
                      <a:headEnd type="none" w="med" len="med"/>
                      <a:tailEnd type="none" w="med" len="med"/>
                    </a:lnT>
                    <a:lnB w="12700" cap="flat" cmpd="sng" algn="ctr">
                      <a:solidFill>
                        <a:srgbClr val="B5B9AD"/>
                      </a:solidFill>
                      <a:prstDash val="solid"/>
                      <a:round/>
                      <a:headEnd type="none" w="med" len="med"/>
                      <a:tailEnd type="none" w="med" len="med"/>
                    </a:lnB>
                    <a:solidFill>
                      <a:srgbClr val="E2E8D8"/>
                    </a:solidFill>
                  </a:tcPr>
                </a:tc>
              </a:tr>
              <a:tr h="331561">
                <a:tc>
                  <a:txBody>
                    <a:bodyPr/>
                    <a:lstStyle/>
                    <a:p>
                      <a:pPr indent="0" marL="0">
                        <a:lnSpc>
                          <a:spcPts val="1680"/>
                        </a:lnSpc>
                        <a:buNone/>
                      </a:pPr>
                      <a:r>
                        <a:rPr lang="en-US" sz="1200" dirty="0">
                          <a:solidFill>
                            <a:srgbClr val="1E3F33"/>
                          </a:solidFill>
                          <a:latin typeface="DM Sans" pitchFamily="34" charset="0"/>
                          <a:ea typeface="DM Sans" pitchFamily="34" charset="-122"/>
                          <a:cs typeface="DM Sans" pitchFamily="34" charset="-120"/>
                        </a:rPr>
                        <a:t>1:00</a:t>
                      </a:r>
                      <a:endParaRPr lang="en-US" sz="1200" dirty="0">
                        <a:latin typeface="DM Sans" charset="0"/>
                        <a:ea typeface="DM Sans" charset="0"/>
                        <a:cs typeface="DM Sans" charset="0"/>
                      </a:endParaRPr>
                    </a:p>
                  </a:txBody>
                  <a:tcPr marL="53340" marR="53340" marT="53340" marB="53340" anchor="t">
                    <a:lnL w="12700" cap="flat" cmpd="sng" algn="ctr">
                      <a:solidFill>
                        <a:srgbClr val="BDBFB8"/>
                      </a:solidFill>
                      <a:prstDash val="solid"/>
                      <a:round/>
                      <a:headEnd type="none" w="med" len="med"/>
                      <a:tailEnd type="none" w="med" len="med"/>
                    </a:lnL>
                    <a:lnR w="12700" cap="flat" cmpd="sng" algn="ctr">
                      <a:solidFill>
                        <a:srgbClr val="BDBFB8"/>
                      </a:solidFill>
                      <a:prstDash val="solid"/>
                      <a:round/>
                      <a:headEnd type="none" w="med" len="med"/>
                      <a:tailEnd type="none" w="med" len="med"/>
                    </a:lnR>
                    <a:lnT w="12700" cap="flat" cmpd="sng" algn="ctr">
                      <a:solidFill>
                        <a:srgbClr val="B5B9AD"/>
                      </a:solidFill>
                      <a:prstDash val="solid"/>
                      <a:round/>
                      <a:headEnd type="none" w="med" len="med"/>
                      <a:tailEnd type="none" w="med" len="med"/>
                    </a:lnT>
                    <a:lnB w="12700" cap="flat" cmpd="sng" algn="ctr">
                      <a:solidFill>
                        <a:srgbClr val="BDBFB8"/>
                      </a:solidFill>
                      <a:prstDash val="solid"/>
                      <a:round/>
                      <a:headEnd type="none" w="med" len="med"/>
                      <a:tailEnd type="none" w="med" len="med"/>
                    </a:lnB>
                  </a:tcPr>
                </a:tc>
                <a:tc>
                  <a:txBody>
                    <a:bodyPr/>
                    <a:lstStyle/>
                    <a:p>
                      <a:pPr indent="0" marL="0">
                        <a:lnSpc>
                          <a:spcPts val="1680"/>
                        </a:lnSpc>
                        <a:buNone/>
                      </a:pPr>
                      <a:r>
                        <a:rPr lang="en-US" sz="1200" dirty="0">
                          <a:solidFill>
                            <a:srgbClr val="1E3F33"/>
                          </a:solidFill>
                          <a:latin typeface="DM Sans" pitchFamily="34" charset="0"/>
                          <a:ea typeface="DM Sans" pitchFamily="34" charset="-122"/>
                          <a:cs typeface="DM Sans" pitchFamily="34" charset="-120"/>
                        </a:rPr>
                        <a:t>Proposed system</a:t>
                      </a:r>
                      <a:endParaRPr lang="en-US" sz="1200" dirty="0">
                        <a:latin typeface="DM Sans" charset="0"/>
                        <a:ea typeface="DM Sans" charset="0"/>
                        <a:cs typeface="DM Sans" charset="0"/>
                      </a:endParaRPr>
                    </a:p>
                  </a:txBody>
                  <a:tcPr marL="53340" marR="53340" marT="53340" marB="53340" anchor="t">
                    <a:lnL w="12700" cap="flat" cmpd="sng" algn="ctr">
                      <a:solidFill>
                        <a:srgbClr val="BDBFB8"/>
                      </a:solidFill>
                      <a:prstDash val="solid"/>
                      <a:round/>
                      <a:headEnd type="none" w="med" len="med"/>
                      <a:tailEnd type="none" w="med" len="med"/>
                    </a:lnL>
                    <a:lnR w="12700" cap="flat" cmpd="sng" algn="ctr">
                      <a:solidFill>
                        <a:srgbClr val="BDBFB8"/>
                      </a:solidFill>
                      <a:prstDash val="solid"/>
                      <a:round/>
                      <a:headEnd type="none" w="med" len="med"/>
                      <a:tailEnd type="none" w="med" len="med"/>
                    </a:lnR>
                    <a:lnT w="12700" cap="flat" cmpd="sng" algn="ctr">
                      <a:solidFill>
                        <a:srgbClr val="B5B9AD"/>
                      </a:solidFill>
                      <a:prstDash val="solid"/>
                      <a:round/>
                      <a:headEnd type="none" w="med" len="med"/>
                      <a:tailEnd type="none" w="med" len="med"/>
                    </a:lnT>
                    <a:lnB w="12700" cap="flat" cmpd="sng" algn="ctr">
                      <a:solidFill>
                        <a:srgbClr val="BDBFB8"/>
                      </a:solidFill>
                      <a:prstDash val="solid"/>
                      <a:round/>
                      <a:headEnd type="none" w="med" len="med"/>
                      <a:tailEnd type="none" w="med" len="med"/>
                    </a:lnB>
                  </a:tcPr>
                </a:tc>
                <a:tc>
                  <a:txBody>
                    <a:bodyPr/>
                    <a:lstStyle/>
                    <a:p>
                      <a:pPr indent="0" marL="0">
                        <a:lnSpc>
                          <a:spcPts val="1680"/>
                        </a:lnSpc>
                        <a:buNone/>
                      </a:pPr>
                      <a:r>
                        <a:rPr lang="en-US" sz="1200" dirty="0">
                          <a:solidFill>
                            <a:srgbClr val="1E3F33"/>
                          </a:solidFill>
                          <a:latin typeface="DM Sans" pitchFamily="34" charset="0"/>
                          <a:ea typeface="DM Sans" pitchFamily="34" charset="-122"/>
                          <a:cs typeface="DM Sans" pitchFamily="34" charset="-120"/>
                        </a:rPr>
                        <a:t>See · act · prove, then the five steps, then ghost vs live.</a:t>
                      </a:r>
                      <a:endParaRPr lang="en-US" sz="1200" dirty="0">
                        <a:latin typeface="DM Sans" charset="0"/>
                        <a:ea typeface="DM Sans" charset="0"/>
                        <a:cs typeface="DM Sans" charset="0"/>
                      </a:endParaRPr>
                    </a:p>
                  </a:txBody>
                  <a:tcPr marL="53340" marR="53340" marT="53340" marB="53340" anchor="t">
                    <a:lnL w="12700" cap="flat" cmpd="sng" algn="ctr">
                      <a:solidFill>
                        <a:srgbClr val="BDBFB8"/>
                      </a:solidFill>
                      <a:prstDash val="solid"/>
                      <a:round/>
                      <a:headEnd type="none" w="med" len="med"/>
                      <a:tailEnd type="none" w="med" len="med"/>
                    </a:lnL>
                    <a:lnR w="12700" cap="flat" cmpd="sng" algn="ctr">
                      <a:solidFill>
                        <a:srgbClr val="BDBFB8"/>
                      </a:solidFill>
                      <a:prstDash val="solid"/>
                      <a:round/>
                      <a:headEnd type="none" w="med" len="med"/>
                      <a:tailEnd type="none" w="med" len="med"/>
                    </a:lnR>
                    <a:lnT w="12700" cap="flat" cmpd="sng" algn="ctr">
                      <a:solidFill>
                        <a:srgbClr val="B5B9AD"/>
                      </a:solidFill>
                      <a:prstDash val="solid"/>
                      <a:round/>
                      <a:headEnd type="none" w="med" len="med"/>
                      <a:tailEnd type="none" w="med" len="med"/>
                    </a:lnT>
                    <a:lnB w="12700" cap="flat" cmpd="sng" algn="ctr">
                      <a:solidFill>
                        <a:srgbClr val="BDBFB8"/>
                      </a:solidFill>
                      <a:prstDash val="solid"/>
                      <a:round/>
                      <a:headEnd type="none" w="med" len="med"/>
                      <a:tailEnd type="none" w="med" len="med"/>
                    </a:lnB>
                  </a:tcPr>
                </a:tc>
              </a:tr>
              <a:tr h="331561">
                <a:tc>
                  <a:txBody>
                    <a:bodyPr/>
                    <a:lstStyle/>
                    <a:p>
                      <a:pPr indent="0" marL="0">
                        <a:lnSpc>
                          <a:spcPts val="1680"/>
                        </a:lnSpc>
                        <a:buNone/>
                      </a:pPr>
                      <a:r>
                        <a:rPr lang="en-US" sz="1200" dirty="0">
                          <a:solidFill>
                            <a:srgbClr val="1E3F33"/>
                          </a:solidFill>
                          <a:latin typeface="DM Sans" pitchFamily="34" charset="0"/>
                          <a:ea typeface="DM Sans" pitchFamily="34" charset="-122"/>
                          <a:cs typeface="DM Sans" pitchFamily="34" charset="-120"/>
                        </a:rPr>
                        <a:t>2:00</a:t>
                      </a:r>
                      <a:endParaRPr lang="en-US" sz="1200" dirty="0">
                        <a:latin typeface="DM Sans" charset="0"/>
                        <a:ea typeface="DM Sans" charset="0"/>
                        <a:cs typeface="DM Sans" charset="0"/>
                      </a:endParaRPr>
                    </a:p>
                  </a:txBody>
                  <a:tcPr marL="53340" marR="53340" marT="53340" marB="53340" anchor="t">
                    <a:lnL w="12700" cap="flat" cmpd="sng" algn="ctr">
                      <a:solidFill>
                        <a:srgbClr val="BDBFB8"/>
                      </a:solidFill>
                      <a:prstDash val="solid"/>
                      <a:round/>
                      <a:headEnd type="none" w="med" len="med"/>
                      <a:tailEnd type="none" w="med" len="med"/>
                    </a:lnL>
                    <a:lnR w="12700" cap="flat" cmpd="sng" algn="ctr">
                      <a:solidFill>
                        <a:srgbClr val="B5B9AD"/>
                      </a:solidFill>
                      <a:prstDash val="solid"/>
                      <a:round/>
                      <a:headEnd type="none" w="med" len="med"/>
                      <a:tailEnd type="none" w="med" len="med"/>
                    </a:lnR>
                    <a:lnT w="12700" cap="flat" cmpd="sng" algn="ctr">
                      <a:solidFill>
                        <a:srgbClr val="BDBFB8"/>
                      </a:solidFill>
                      <a:prstDash val="solid"/>
                      <a:round/>
                      <a:headEnd type="none" w="med" len="med"/>
                      <a:tailEnd type="none" w="med" len="med"/>
                    </a:lnT>
                    <a:lnB w="12700" cap="flat" cmpd="sng" algn="ctr">
                      <a:solidFill>
                        <a:srgbClr val="B5B9AD"/>
                      </a:solidFill>
                      <a:prstDash val="solid"/>
                      <a:round/>
                      <a:headEnd type="none" w="med" len="med"/>
                      <a:tailEnd type="none" w="med" len="med"/>
                    </a:lnB>
                    <a:solidFill>
                      <a:srgbClr val="E2E8D8"/>
                    </a:solidFill>
                  </a:tcPr>
                </a:tc>
                <a:tc>
                  <a:txBody>
                    <a:bodyPr/>
                    <a:lstStyle/>
                    <a:p>
                      <a:pPr indent="0" marL="0">
                        <a:lnSpc>
                          <a:spcPts val="1680"/>
                        </a:lnSpc>
                        <a:buNone/>
                      </a:pPr>
                      <a:r>
                        <a:rPr lang="en-US" sz="1200" dirty="0">
                          <a:solidFill>
                            <a:srgbClr val="1E3F33"/>
                          </a:solidFill>
                          <a:latin typeface="DM Sans" pitchFamily="34" charset="0"/>
                          <a:ea typeface="DM Sans" pitchFamily="34" charset="-122"/>
                          <a:cs typeface="DM Sans" pitchFamily="34" charset="-120"/>
                        </a:rPr>
                        <a:t>Live app</a:t>
                      </a:r>
                      <a:endParaRPr lang="en-US" sz="1200" dirty="0">
                        <a:latin typeface="DM Sans" charset="0"/>
                        <a:ea typeface="DM Sans" charset="0"/>
                        <a:cs typeface="DM Sans" charset="0"/>
                      </a:endParaRPr>
                    </a:p>
                  </a:txBody>
                  <a:tcPr marL="53340" marR="53340" marT="53340" marB="53340" anchor="t">
                    <a:lnL w="12700" cap="flat" cmpd="sng" algn="ctr">
                      <a:solidFill>
                        <a:srgbClr val="B5B9AD"/>
                      </a:solidFill>
                      <a:prstDash val="solid"/>
                      <a:round/>
                      <a:headEnd type="none" w="med" len="med"/>
                      <a:tailEnd type="none" w="med" len="med"/>
                    </a:lnL>
                    <a:lnR w="12700" cap="flat" cmpd="sng" algn="ctr">
                      <a:solidFill>
                        <a:srgbClr val="B5B9AD"/>
                      </a:solidFill>
                      <a:prstDash val="solid"/>
                      <a:round/>
                      <a:headEnd type="none" w="med" len="med"/>
                      <a:tailEnd type="none" w="med" len="med"/>
                    </a:lnR>
                    <a:lnT w="12700" cap="flat" cmpd="sng" algn="ctr">
                      <a:solidFill>
                        <a:srgbClr val="BDBFB8"/>
                      </a:solidFill>
                      <a:prstDash val="solid"/>
                      <a:round/>
                      <a:headEnd type="none" w="med" len="med"/>
                      <a:tailEnd type="none" w="med" len="med"/>
                    </a:lnT>
                    <a:lnB w="12700" cap="flat" cmpd="sng" algn="ctr">
                      <a:solidFill>
                        <a:srgbClr val="B5B9AD"/>
                      </a:solidFill>
                      <a:prstDash val="solid"/>
                      <a:round/>
                      <a:headEnd type="none" w="med" len="med"/>
                      <a:tailEnd type="none" w="med" len="med"/>
                    </a:lnB>
                    <a:solidFill>
                      <a:srgbClr val="E2E8D8"/>
                    </a:solidFill>
                  </a:tcPr>
                </a:tc>
                <a:tc>
                  <a:txBody>
                    <a:bodyPr/>
                    <a:lstStyle/>
                    <a:p>
                      <a:pPr indent="0" marL="0">
                        <a:lnSpc>
                          <a:spcPts val="1680"/>
                        </a:lnSpc>
                        <a:buNone/>
                      </a:pPr>
                      <a:r>
                        <a:rPr lang="en-US" sz="1200" dirty="0">
                          <a:solidFill>
                            <a:srgbClr val="1E3F33"/>
                          </a:solidFill>
                          <a:latin typeface="DM Sans" pitchFamily="34" charset="0"/>
                          <a:ea typeface="DM Sans" pitchFamily="34" charset="-122"/>
                          <a:cs typeface="DM Sans" pitchFamily="34" charset="-120"/>
                        </a:rPr>
                        <a:t>Dashboard → campus twin → live room (test photo, then empty room).</a:t>
                      </a:r>
                      <a:endParaRPr lang="en-US" sz="1200" dirty="0">
                        <a:latin typeface="DM Sans" charset="0"/>
                        <a:ea typeface="DM Sans" charset="0"/>
                        <a:cs typeface="DM Sans" charset="0"/>
                      </a:endParaRPr>
                    </a:p>
                  </a:txBody>
                  <a:tcPr marL="53340" marR="53340" marT="53340" marB="53340" anchor="t">
                    <a:lnL w="12700" cap="flat" cmpd="sng" algn="ctr">
                      <a:solidFill>
                        <a:srgbClr val="B5B9AD"/>
                      </a:solidFill>
                      <a:prstDash val="solid"/>
                      <a:round/>
                      <a:headEnd type="none" w="med" len="med"/>
                      <a:tailEnd type="none" w="med" len="med"/>
                    </a:lnL>
                    <a:lnR w="12700" cap="flat" cmpd="sng" algn="ctr">
                      <a:solidFill>
                        <a:srgbClr val="B5B9AD"/>
                      </a:solidFill>
                      <a:prstDash val="solid"/>
                      <a:round/>
                      <a:headEnd type="none" w="med" len="med"/>
                      <a:tailEnd type="none" w="med" len="med"/>
                    </a:lnR>
                    <a:lnT w="12700" cap="flat" cmpd="sng" algn="ctr">
                      <a:solidFill>
                        <a:srgbClr val="BDBFB8"/>
                      </a:solidFill>
                      <a:prstDash val="solid"/>
                      <a:round/>
                      <a:headEnd type="none" w="med" len="med"/>
                      <a:tailEnd type="none" w="med" len="med"/>
                    </a:lnT>
                    <a:lnB w="12700" cap="flat" cmpd="sng" algn="ctr">
                      <a:solidFill>
                        <a:srgbClr val="B5B9AD"/>
                      </a:solidFill>
                      <a:prstDash val="solid"/>
                      <a:round/>
                      <a:headEnd type="none" w="med" len="med"/>
                      <a:tailEnd type="none" w="med" len="med"/>
                    </a:lnB>
                    <a:solidFill>
                      <a:srgbClr val="E2E8D8"/>
                    </a:solidFill>
                  </a:tcPr>
                </a:tc>
              </a:tr>
              <a:tr h="331561">
                <a:tc>
                  <a:txBody>
                    <a:bodyPr/>
                    <a:lstStyle/>
                    <a:p>
                      <a:pPr indent="0" marL="0">
                        <a:lnSpc>
                          <a:spcPts val="1680"/>
                        </a:lnSpc>
                        <a:buNone/>
                      </a:pPr>
                      <a:r>
                        <a:rPr lang="en-US" sz="1200" dirty="0">
                          <a:solidFill>
                            <a:srgbClr val="1E3F33"/>
                          </a:solidFill>
                          <a:latin typeface="DM Sans" pitchFamily="34" charset="0"/>
                          <a:ea typeface="DM Sans" pitchFamily="34" charset="-122"/>
                          <a:cs typeface="DM Sans" pitchFamily="34" charset="-120"/>
                        </a:rPr>
                        <a:t>3:15</a:t>
                      </a:r>
                      <a:endParaRPr lang="en-US" sz="1200" dirty="0">
                        <a:latin typeface="DM Sans" charset="0"/>
                        <a:ea typeface="DM Sans" charset="0"/>
                        <a:cs typeface="DM Sans" charset="0"/>
                      </a:endParaRPr>
                    </a:p>
                  </a:txBody>
                  <a:tcPr marL="53340" marR="53340" marT="53340" marB="53340" anchor="t">
                    <a:lnL w="12700" cap="flat" cmpd="sng" algn="ctr">
                      <a:solidFill>
                        <a:srgbClr val="BDBFB8"/>
                      </a:solidFill>
                      <a:prstDash val="solid"/>
                      <a:round/>
                      <a:headEnd type="none" w="med" len="med"/>
                      <a:tailEnd type="none" w="med" len="med"/>
                    </a:lnL>
                    <a:lnR w="12700" cap="flat" cmpd="sng" algn="ctr">
                      <a:solidFill>
                        <a:srgbClr val="BDBFB8"/>
                      </a:solidFill>
                      <a:prstDash val="solid"/>
                      <a:round/>
                      <a:headEnd type="none" w="med" len="med"/>
                      <a:tailEnd type="none" w="med" len="med"/>
                    </a:lnR>
                    <a:lnT w="12700" cap="flat" cmpd="sng" algn="ctr">
                      <a:solidFill>
                        <a:srgbClr val="B5B9AD"/>
                      </a:solidFill>
                      <a:prstDash val="solid"/>
                      <a:round/>
                      <a:headEnd type="none" w="med" len="med"/>
                      <a:tailEnd type="none" w="med" len="med"/>
                    </a:lnT>
                    <a:lnB w="12700" cap="flat" cmpd="sng" algn="ctr">
                      <a:solidFill>
                        <a:srgbClr val="BDBFB8"/>
                      </a:solidFill>
                      <a:prstDash val="solid"/>
                      <a:round/>
                      <a:headEnd type="none" w="med" len="med"/>
                      <a:tailEnd type="none" w="med" len="med"/>
                    </a:lnB>
                  </a:tcPr>
                </a:tc>
                <a:tc>
                  <a:txBody>
                    <a:bodyPr/>
                    <a:lstStyle/>
                    <a:p>
                      <a:pPr indent="0" marL="0">
                        <a:lnSpc>
                          <a:spcPts val="1680"/>
                        </a:lnSpc>
                        <a:buNone/>
                      </a:pPr>
                      <a:r>
                        <a:rPr lang="en-US" sz="1200" dirty="0">
                          <a:solidFill>
                            <a:srgbClr val="1E3F33"/>
                          </a:solidFill>
                          <a:latin typeface="DM Sans" pitchFamily="34" charset="0"/>
                          <a:ea typeface="DM Sans" pitchFamily="34" charset="-122"/>
                          <a:cs typeface="DM Sans" pitchFamily="34" charset="-120"/>
                        </a:rPr>
                        <a:t>Results</a:t>
                      </a:r>
                      <a:endParaRPr lang="en-US" sz="1200" dirty="0">
                        <a:latin typeface="DM Sans" charset="0"/>
                        <a:ea typeface="DM Sans" charset="0"/>
                        <a:cs typeface="DM Sans" charset="0"/>
                      </a:endParaRPr>
                    </a:p>
                  </a:txBody>
                  <a:tcPr marL="53340" marR="53340" marT="53340" marB="53340" anchor="t">
                    <a:lnL w="12700" cap="flat" cmpd="sng" algn="ctr">
                      <a:solidFill>
                        <a:srgbClr val="BDBFB8"/>
                      </a:solidFill>
                      <a:prstDash val="solid"/>
                      <a:round/>
                      <a:headEnd type="none" w="med" len="med"/>
                      <a:tailEnd type="none" w="med" len="med"/>
                    </a:lnL>
                    <a:lnR w="12700" cap="flat" cmpd="sng" algn="ctr">
                      <a:solidFill>
                        <a:srgbClr val="BDBFB8"/>
                      </a:solidFill>
                      <a:prstDash val="solid"/>
                      <a:round/>
                      <a:headEnd type="none" w="med" len="med"/>
                      <a:tailEnd type="none" w="med" len="med"/>
                    </a:lnR>
                    <a:lnT w="12700" cap="flat" cmpd="sng" algn="ctr">
                      <a:solidFill>
                        <a:srgbClr val="B5B9AD"/>
                      </a:solidFill>
                      <a:prstDash val="solid"/>
                      <a:round/>
                      <a:headEnd type="none" w="med" len="med"/>
                      <a:tailEnd type="none" w="med" len="med"/>
                    </a:lnT>
                    <a:lnB w="12700" cap="flat" cmpd="sng" algn="ctr">
                      <a:solidFill>
                        <a:srgbClr val="BDBFB8"/>
                      </a:solidFill>
                      <a:prstDash val="solid"/>
                      <a:round/>
                      <a:headEnd type="none" w="med" len="med"/>
                      <a:tailEnd type="none" w="med" len="med"/>
                    </a:lnB>
                  </a:tcPr>
                </a:tc>
                <a:tc>
                  <a:txBody>
                    <a:bodyPr/>
                    <a:lstStyle/>
                    <a:p>
                      <a:pPr indent="0" marL="0">
                        <a:lnSpc>
                          <a:spcPts val="1680"/>
                        </a:lnSpc>
                        <a:buNone/>
                      </a:pPr>
                      <a:r>
                        <a:rPr lang="en-US" sz="1200" dirty="0">
                          <a:solidFill>
                            <a:srgbClr val="1E3F33"/>
                          </a:solidFill>
                          <a:latin typeface="DM Sans" pitchFamily="34" charset="0"/>
                          <a:ea typeface="DM Sans" pitchFamily="34" charset="-122"/>
                          <a:cs typeface="DM Sans" pitchFamily="34" charset="-120"/>
                        </a:rPr>
                        <a:t>26,551 kWh and ₹226K last month · 9 of 9 · 1 of 55 · 3 of 3.</a:t>
                      </a:r>
                      <a:endParaRPr lang="en-US" sz="1200" dirty="0">
                        <a:latin typeface="DM Sans" charset="0"/>
                        <a:ea typeface="DM Sans" charset="0"/>
                        <a:cs typeface="DM Sans" charset="0"/>
                      </a:endParaRPr>
                    </a:p>
                  </a:txBody>
                  <a:tcPr marL="53340" marR="53340" marT="53340" marB="53340" anchor="t">
                    <a:lnL w="12700" cap="flat" cmpd="sng" algn="ctr">
                      <a:solidFill>
                        <a:srgbClr val="BDBFB8"/>
                      </a:solidFill>
                      <a:prstDash val="solid"/>
                      <a:round/>
                      <a:headEnd type="none" w="med" len="med"/>
                      <a:tailEnd type="none" w="med" len="med"/>
                    </a:lnL>
                    <a:lnR w="12700" cap="flat" cmpd="sng" algn="ctr">
                      <a:solidFill>
                        <a:srgbClr val="BDBFB8"/>
                      </a:solidFill>
                      <a:prstDash val="solid"/>
                      <a:round/>
                      <a:headEnd type="none" w="med" len="med"/>
                      <a:tailEnd type="none" w="med" len="med"/>
                    </a:lnR>
                    <a:lnT w="12700" cap="flat" cmpd="sng" algn="ctr">
                      <a:solidFill>
                        <a:srgbClr val="B5B9AD"/>
                      </a:solidFill>
                      <a:prstDash val="solid"/>
                      <a:round/>
                      <a:headEnd type="none" w="med" len="med"/>
                      <a:tailEnd type="none" w="med" len="med"/>
                    </a:lnT>
                    <a:lnB w="12700" cap="flat" cmpd="sng" algn="ctr">
                      <a:solidFill>
                        <a:srgbClr val="BDBFB8"/>
                      </a:solidFill>
                      <a:prstDash val="solid"/>
                      <a:round/>
                      <a:headEnd type="none" w="med" len="med"/>
                      <a:tailEnd type="none" w="med" len="med"/>
                    </a:lnB>
                  </a:tcPr>
                </a:tc>
              </a:tr>
              <a:tr h="331561">
                <a:tc>
                  <a:txBody>
                    <a:bodyPr/>
                    <a:lstStyle/>
                    <a:p>
                      <a:pPr indent="0" marL="0">
                        <a:lnSpc>
                          <a:spcPts val="1680"/>
                        </a:lnSpc>
                        <a:buNone/>
                      </a:pPr>
                      <a:r>
                        <a:rPr lang="en-US" sz="1200" dirty="0">
                          <a:solidFill>
                            <a:srgbClr val="1E3F33"/>
                          </a:solidFill>
                          <a:latin typeface="DM Sans" pitchFamily="34" charset="0"/>
                          <a:ea typeface="DM Sans" pitchFamily="34" charset="-122"/>
                          <a:cs typeface="DM Sans" pitchFamily="34" charset="-120"/>
                        </a:rPr>
                        <a:t>4:00</a:t>
                      </a:r>
                      <a:endParaRPr lang="en-US" sz="1200" dirty="0">
                        <a:latin typeface="DM Sans" charset="0"/>
                        <a:ea typeface="DM Sans" charset="0"/>
                        <a:cs typeface="DM Sans" charset="0"/>
                      </a:endParaRPr>
                    </a:p>
                  </a:txBody>
                  <a:tcPr marL="53340" marR="53340" marT="53340" marB="53340" anchor="t">
                    <a:lnL w="12700" cap="flat" cmpd="sng" algn="ctr">
                      <a:solidFill>
                        <a:srgbClr val="BDBFB8"/>
                      </a:solidFill>
                      <a:prstDash val="solid"/>
                      <a:round/>
                      <a:headEnd type="none" w="med" len="med"/>
                      <a:tailEnd type="none" w="med" len="med"/>
                    </a:lnL>
                    <a:lnR w="12700" cap="flat" cmpd="sng" algn="ctr">
                      <a:solidFill>
                        <a:srgbClr val="B5B9AD"/>
                      </a:solidFill>
                      <a:prstDash val="solid"/>
                      <a:round/>
                      <a:headEnd type="none" w="med" len="med"/>
                      <a:tailEnd type="none" w="med" len="med"/>
                    </a:lnR>
                    <a:lnT w="12700" cap="flat" cmpd="sng" algn="ctr">
                      <a:solidFill>
                        <a:srgbClr val="BDBFB8"/>
                      </a:solidFill>
                      <a:prstDash val="solid"/>
                      <a:round/>
                      <a:headEnd type="none" w="med" len="med"/>
                      <a:tailEnd type="none" w="med" len="med"/>
                    </a:lnT>
                    <a:lnB w="12700" cap="flat" cmpd="sng" algn="ctr">
                      <a:solidFill>
                        <a:srgbClr val="B5B9AD"/>
                      </a:solidFill>
                      <a:prstDash val="solid"/>
                      <a:round/>
                      <a:headEnd type="none" w="med" len="med"/>
                      <a:tailEnd type="none" w="med" len="med"/>
                    </a:lnB>
                    <a:solidFill>
                      <a:srgbClr val="E2E8D8"/>
                    </a:solidFill>
                  </a:tcPr>
                </a:tc>
                <a:tc>
                  <a:txBody>
                    <a:bodyPr/>
                    <a:lstStyle/>
                    <a:p>
                      <a:pPr indent="0" marL="0">
                        <a:lnSpc>
                          <a:spcPts val="1680"/>
                        </a:lnSpc>
                        <a:buNone/>
                      </a:pPr>
                      <a:r>
                        <a:rPr lang="en-US" sz="1200" dirty="0">
                          <a:solidFill>
                            <a:srgbClr val="1E3F33"/>
                          </a:solidFill>
                          <a:latin typeface="DM Sans" pitchFamily="34" charset="0"/>
                          <a:ea typeface="DM Sans" pitchFamily="34" charset="-122"/>
                          <a:cs typeface="DM Sans" pitchFamily="34" charset="-120"/>
                        </a:rPr>
                        <a:t>Helps · Advantages · Benefits</a:t>
                      </a:r>
                      <a:endParaRPr lang="en-US" sz="1200" dirty="0">
                        <a:latin typeface="DM Sans" charset="0"/>
                        <a:ea typeface="DM Sans" charset="0"/>
                        <a:cs typeface="DM Sans" charset="0"/>
                      </a:endParaRPr>
                    </a:p>
                  </a:txBody>
                  <a:tcPr marL="53340" marR="53340" marT="53340" marB="53340" anchor="t">
                    <a:lnL w="12700" cap="flat" cmpd="sng" algn="ctr">
                      <a:solidFill>
                        <a:srgbClr val="B5B9AD"/>
                      </a:solidFill>
                      <a:prstDash val="solid"/>
                      <a:round/>
                      <a:headEnd type="none" w="med" len="med"/>
                      <a:tailEnd type="none" w="med" len="med"/>
                    </a:lnL>
                    <a:lnR w="12700" cap="flat" cmpd="sng" algn="ctr">
                      <a:solidFill>
                        <a:srgbClr val="B5B9AD"/>
                      </a:solidFill>
                      <a:prstDash val="solid"/>
                      <a:round/>
                      <a:headEnd type="none" w="med" len="med"/>
                      <a:tailEnd type="none" w="med" len="med"/>
                    </a:lnR>
                    <a:lnT w="12700" cap="flat" cmpd="sng" algn="ctr">
                      <a:solidFill>
                        <a:srgbClr val="BDBFB8"/>
                      </a:solidFill>
                      <a:prstDash val="solid"/>
                      <a:round/>
                      <a:headEnd type="none" w="med" len="med"/>
                      <a:tailEnd type="none" w="med" len="med"/>
                    </a:lnT>
                    <a:lnB w="12700" cap="flat" cmpd="sng" algn="ctr">
                      <a:solidFill>
                        <a:srgbClr val="B5B9AD"/>
                      </a:solidFill>
                      <a:prstDash val="solid"/>
                      <a:round/>
                      <a:headEnd type="none" w="med" len="med"/>
                      <a:tailEnd type="none" w="med" len="med"/>
                    </a:lnB>
                    <a:solidFill>
                      <a:srgbClr val="E2E8D8"/>
                    </a:solidFill>
                  </a:tcPr>
                </a:tc>
                <a:tc>
                  <a:txBody>
                    <a:bodyPr/>
                    <a:lstStyle/>
                    <a:p>
                      <a:pPr indent="0" marL="0">
                        <a:lnSpc>
                          <a:spcPts val="1680"/>
                        </a:lnSpc>
                        <a:buNone/>
                      </a:pPr>
                      <a:r>
                        <a:rPr lang="en-US" sz="1200" dirty="0">
                          <a:solidFill>
                            <a:srgbClr val="1E3F33"/>
                          </a:solidFill>
                          <a:latin typeface="DM Sans" pitchFamily="34" charset="0"/>
                          <a:ea typeface="DM Sans" pitchFamily="34" charset="-122"/>
                          <a:cs typeface="DM Sans" pitchFamily="34" charset="-120"/>
                        </a:rPr>
                        <a:t>One line per group; three table rows; count the four benefits.</a:t>
                      </a:r>
                      <a:endParaRPr lang="en-US" sz="1200" dirty="0">
                        <a:latin typeface="DM Sans" charset="0"/>
                        <a:ea typeface="DM Sans" charset="0"/>
                        <a:cs typeface="DM Sans" charset="0"/>
                      </a:endParaRPr>
                    </a:p>
                  </a:txBody>
                  <a:tcPr marL="53340" marR="53340" marT="53340" marB="53340" anchor="t">
                    <a:lnL w="12700" cap="flat" cmpd="sng" algn="ctr">
                      <a:solidFill>
                        <a:srgbClr val="B5B9AD"/>
                      </a:solidFill>
                      <a:prstDash val="solid"/>
                      <a:round/>
                      <a:headEnd type="none" w="med" len="med"/>
                      <a:tailEnd type="none" w="med" len="med"/>
                    </a:lnL>
                    <a:lnR w="12700" cap="flat" cmpd="sng" algn="ctr">
                      <a:solidFill>
                        <a:srgbClr val="B5B9AD"/>
                      </a:solidFill>
                      <a:prstDash val="solid"/>
                      <a:round/>
                      <a:headEnd type="none" w="med" len="med"/>
                      <a:tailEnd type="none" w="med" len="med"/>
                    </a:lnR>
                    <a:lnT w="12700" cap="flat" cmpd="sng" algn="ctr">
                      <a:solidFill>
                        <a:srgbClr val="BDBFB8"/>
                      </a:solidFill>
                      <a:prstDash val="solid"/>
                      <a:round/>
                      <a:headEnd type="none" w="med" len="med"/>
                      <a:tailEnd type="none" w="med" len="med"/>
                    </a:lnT>
                    <a:lnB w="12700" cap="flat" cmpd="sng" algn="ctr">
                      <a:solidFill>
                        <a:srgbClr val="B5B9AD"/>
                      </a:solidFill>
                      <a:prstDash val="solid"/>
                      <a:round/>
                      <a:headEnd type="none" w="med" len="med"/>
                      <a:tailEnd type="none" w="med" len="med"/>
                    </a:lnB>
                    <a:solidFill>
                      <a:srgbClr val="E2E8D8"/>
                    </a:solidFill>
                  </a:tcPr>
                </a:tc>
              </a:tr>
              <a:tr h="331561">
                <a:tc>
                  <a:txBody>
                    <a:bodyPr/>
                    <a:lstStyle/>
                    <a:p>
                      <a:pPr indent="0" marL="0">
                        <a:lnSpc>
                          <a:spcPts val="1680"/>
                        </a:lnSpc>
                        <a:buNone/>
                      </a:pPr>
                      <a:r>
                        <a:rPr lang="en-US" sz="1200" dirty="0">
                          <a:solidFill>
                            <a:srgbClr val="1E3F33"/>
                          </a:solidFill>
                          <a:latin typeface="DM Sans" pitchFamily="34" charset="0"/>
                          <a:ea typeface="DM Sans" pitchFamily="34" charset="-122"/>
                          <a:cs typeface="DM Sans" pitchFamily="34" charset="-120"/>
                        </a:rPr>
                        <a:t>4:40</a:t>
                      </a:r>
                      <a:endParaRPr lang="en-US" sz="1200" dirty="0">
                        <a:latin typeface="DM Sans" charset="0"/>
                        <a:ea typeface="DM Sans" charset="0"/>
                        <a:cs typeface="DM Sans" charset="0"/>
                      </a:endParaRPr>
                    </a:p>
                  </a:txBody>
                  <a:tcPr marL="53340" marR="53340" marT="53340" marB="53340" anchor="t">
                    <a:lnL w="12700" cap="flat" cmpd="sng" algn="ctr">
                      <a:solidFill>
                        <a:srgbClr val="BDBFB8"/>
                      </a:solidFill>
                      <a:prstDash val="solid"/>
                      <a:round/>
                      <a:headEnd type="none" w="med" len="med"/>
                      <a:tailEnd type="none" w="med" len="med"/>
                    </a:lnL>
                    <a:lnR w="12700" cap="flat" cmpd="sng" algn="ctr">
                      <a:solidFill>
                        <a:srgbClr val="BDBFB8"/>
                      </a:solidFill>
                      <a:prstDash val="solid"/>
                      <a:round/>
                      <a:headEnd type="none" w="med" len="med"/>
                      <a:tailEnd type="none" w="med" len="med"/>
                    </a:lnR>
                    <a:lnT w="12700" cap="flat" cmpd="sng" algn="ctr">
                      <a:solidFill>
                        <a:srgbClr val="B5B9AD"/>
                      </a:solidFill>
                      <a:prstDash val="solid"/>
                      <a:round/>
                      <a:headEnd type="none" w="med" len="med"/>
                      <a:tailEnd type="none" w="med" len="med"/>
                    </a:lnT>
                    <a:lnB w="12700" cap="flat" cmpd="sng" algn="ctr">
                      <a:solidFill>
                        <a:srgbClr val="BDBFB8"/>
                      </a:solidFill>
                      <a:prstDash val="solid"/>
                      <a:round/>
                      <a:headEnd type="none" w="med" len="med"/>
                      <a:tailEnd type="none" w="med" len="med"/>
                    </a:lnB>
                  </a:tcPr>
                </a:tc>
                <a:tc>
                  <a:txBody>
                    <a:bodyPr/>
                    <a:lstStyle/>
                    <a:p>
                      <a:pPr indent="0" marL="0">
                        <a:lnSpc>
                          <a:spcPts val="1680"/>
                        </a:lnSpc>
                        <a:buNone/>
                      </a:pPr>
                      <a:r>
                        <a:rPr lang="en-US" sz="1200" dirty="0">
                          <a:solidFill>
                            <a:srgbClr val="1E3F33"/>
                          </a:solidFill>
                          <a:latin typeface="DM Sans" pitchFamily="34" charset="0"/>
                          <a:ea typeface="DM Sans" pitchFamily="34" charset="-122"/>
                          <a:cs typeface="DM Sans" pitchFamily="34" charset="-120"/>
                        </a:rPr>
                        <a:t>Close</a:t>
                      </a:r>
                      <a:endParaRPr lang="en-US" sz="1200" dirty="0">
                        <a:latin typeface="DM Sans" charset="0"/>
                        <a:ea typeface="DM Sans" charset="0"/>
                        <a:cs typeface="DM Sans" charset="0"/>
                      </a:endParaRPr>
                    </a:p>
                  </a:txBody>
                  <a:tcPr marL="53340" marR="53340" marT="53340" marB="53340" anchor="t">
                    <a:lnL w="12700" cap="flat" cmpd="sng" algn="ctr">
                      <a:solidFill>
                        <a:srgbClr val="BDBFB8"/>
                      </a:solidFill>
                      <a:prstDash val="solid"/>
                      <a:round/>
                      <a:headEnd type="none" w="med" len="med"/>
                      <a:tailEnd type="none" w="med" len="med"/>
                    </a:lnL>
                    <a:lnR w="12700" cap="flat" cmpd="sng" algn="ctr">
                      <a:solidFill>
                        <a:srgbClr val="BDBFB8"/>
                      </a:solidFill>
                      <a:prstDash val="solid"/>
                      <a:round/>
                      <a:headEnd type="none" w="med" len="med"/>
                      <a:tailEnd type="none" w="med" len="med"/>
                    </a:lnR>
                    <a:lnT w="12700" cap="flat" cmpd="sng" algn="ctr">
                      <a:solidFill>
                        <a:srgbClr val="B5B9AD"/>
                      </a:solidFill>
                      <a:prstDash val="solid"/>
                      <a:round/>
                      <a:headEnd type="none" w="med" len="med"/>
                      <a:tailEnd type="none" w="med" len="med"/>
                    </a:lnT>
                    <a:lnB w="12700" cap="flat" cmpd="sng" algn="ctr">
                      <a:solidFill>
                        <a:srgbClr val="BDBFB8"/>
                      </a:solidFill>
                      <a:prstDash val="solid"/>
                      <a:round/>
                      <a:headEnd type="none" w="med" len="med"/>
                      <a:tailEnd type="none" w="med" len="med"/>
                    </a:lnB>
                  </a:tcPr>
                </a:tc>
                <a:tc>
                  <a:txBody>
                    <a:bodyPr/>
                    <a:lstStyle/>
                    <a:p>
                      <a:pPr indent="0" marL="0">
                        <a:lnSpc>
                          <a:spcPts val="1680"/>
                        </a:lnSpc>
                        <a:buNone/>
                      </a:pPr>
                      <a:r>
                        <a:rPr lang="en-US" sz="1200" dirty="0">
                          <a:solidFill>
                            <a:srgbClr val="1E3F33"/>
                          </a:solidFill>
                          <a:latin typeface="DM Sans" pitchFamily="34" charset="0"/>
                          <a:ea typeface="DM Sans" pitchFamily="34" charset="-122"/>
                          <a:cs typeface="DM Sans" pitchFamily="34" charset="-120"/>
                        </a:rPr>
                        <a:t>“We count only what we can prove. Thank you.” App on Home.</a:t>
                      </a:r>
                      <a:endParaRPr lang="en-US" sz="1200" dirty="0">
                        <a:latin typeface="DM Sans" charset="0"/>
                        <a:ea typeface="DM Sans" charset="0"/>
                        <a:cs typeface="DM Sans" charset="0"/>
                      </a:endParaRPr>
                    </a:p>
                  </a:txBody>
                  <a:tcPr marL="53340" marR="53340" marT="53340" marB="53340" anchor="t">
                    <a:lnL w="12700" cap="flat" cmpd="sng" algn="ctr">
                      <a:solidFill>
                        <a:srgbClr val="BDBFB8"/>
                      </a:solidFill>
                      <a:prstDash val="solid"/>
                      <a:round/>
                      <a:headEnd type="none" w="med" len="med"/>
                      <a:tailEnd type="none" w="med" len="med"/>
                    </a:lnL>
                    <a:lnR w="12700" cap="flat" cmpd="sng" algn="ctr">
                      <a:solidFill>
                        <a:srgbClr val="BDBFB8"/>
                      </a:solidFill>
                      <a:prstDash val="solid"/>
                      <a:round/>
                      <a:headEnd type="none" w="med" len="med"/>
                      <a:tailEnd type="none" w="med" len="med"/>
                    </a:lnR>
                    <a:lnT w="12700" cap="flat" cmpd="sng" algn="ctr">
                      <a:solidFill>
                        <a:srgbClr val="B5B9AD"/>
                      </a:solidFill>
                      <a:prstDash val="solid"/>
                      <a:round/>
                      <a:headEnd type="none" w="med" len="med"/>
                      <a:tailEnd type="none" w="med" len="med"/>
                    </a:lnT>
                    <a:lnB w="12700" cap="flat" cmpd="sng" algn="ctr">
                      <a:solidFill>
                        <a:srgbClr val="BDBFB8"/>
                      </a:solidFill>
                      <a:prstDash val="solid"/>
                      <a:round/>
                      <a:headEnd type="none" w="med" len="med"/>
                      <a:tailEnd type="none" w="med" len="med"/>
                    </a:lnB>
                  </a:tcPr>
                </a:tc>
              </a:tr>
            </a:tbl>
          </a:graphicData>
        </a:graphic>
      </p:graphicFrame>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EDEFE6"/>
        </a:solidFill>
      </p:bgPr>
    </p:bg>
    <p:spTree>
      <p:nvGrpSpPr>
        <p:cNvPr id="1" name=""/>
        <p:cNvGrpSpPr/>
        <p:nvPr/>
      </p:nvGrpSpPr>
      <p:grpSpPr>
        <a:xfrm>
          <a:off x="0" y="0"/>
          <a:ext cx="0" cy="0"/>
          <a:chOff x="0" y="0"/>
          <a:chExt cx="0" cy="0"/>
        </a:xfrm>
      </p:grpSpPr>
      <p:sp>
        <p:nvSpPr>
          <p:cNvPr id="2" name="Text 0"/>
          <p:cNvSpPr/>
          <p:nvPr>
            <p:ph type="title"/>
          </p:nvPr>
        </p:nvSpPr>
        <p:spPr>
          <a:xfrm>
            <a:off x="812750" y="812750"/>
            <a:ext cx="10883467" cy="472412"/>
          </a:xfrm>
          <a:prstGeom prst="rect">
            <a:avLst/>
          </a:prstGeom>
          <a:noFill/>
          <a:ln/>
        </p:spPr>
        <p:txBody>
          <a:bodyPr wrap="square" lIns="0" tIns="0" rIns="0" bIns="0" rtlCol="0" anchor="t">
            <a:normAutofit/>
          </a:bodyPr>
          <a:lstStyle/>
          <a:p>
            <a:pPr algn="l" indent="0" marL="0">
              <a:lnSpc>
                <a:spcPts val="3520"/>
              </a:lnSpc>
              <a:buNone/>
            </a:pPr>
            <a:r>
              <a:rPr lang="en-US" sz="3200" b="1" i="0" spc="-50" kern="0" dirty="0">
                <a:solidFill>
                  <a:srgbClr val="1E3F33"/>
                </a:solidFill>
                <a:latin typeface="Manrope" pitchFamily="34" charset="0"/>
                <a:ea typeface="Manrope" pitchFamily="34" charset="-122"/>
                <a:cs typeface="Manrope" pitchFamily="34" charset="-120"/>
              </a:rPr>
              <a:t>Judge questions — data and method</a:t>
            </a:r>
            <a:endParaRPr lang="en-US" sz="32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824343" y="1525324"/>
          <a:ext cx="10554879" cy="2842692"/>
        </p:xfrm>
        <a:graphic>
          <a:graphicData uri="http://schemas.openxmlformats.org/drawingml/2006/table">
            <a:tbl>
              <a:tblPr/>
              <a:tblGrid>
                <a:gridCol w="3377561"/>
                <a:gridCol w="7177318"/>
              </a:tblGrid>
              <a:tr h="331561">
                <a:tc>
                  <a:txBody>
                    <a:bodyPr/>
                    <a:lstStyle/>
                    <a:p>
                      <a:pPr indent="0" marL="0">
                        <a:lnSpc>
                          <a:spcPts val="1680"/>
                        </a:lnSpc>
                        <a:buNone/>
                      </a:pPr>
                      <a:r>
                        <a:rPr lang="en-US" sz="1200" b="1" dirty="0">
                          <a:solidFill>
                            <a:srgbClr val="1E3F33"/>
                          </a:solidFill>
                          <a:latin typeface="DM Sans" pitchFamily="34" charset="0"/>
                          <a:ea typeface="DM Sans" pitchFamily="34" charset="-122"/>
                          <a:cs typeface="DM Sans" pitchFamily="34" charset="-120"/>
                        </a:rPr>
                        <a:t>If they ask…</a:t>
                      </a:r>
                      <a:endParaRPr lang="en-US" sz="1200" dirty="0">
                        <a:latin typeface="DM Sans" charset="0"/>
                        <a:ea typeface="DM Sans" charset="0"/>
                        <a:cs typeface="DM Sans" charset="0"/>
                      </a:endParaRPr>
                    </a:p>
                  </a:txBody>
                  <a:tcPr marL="53340" marR="53340" marT="53340" marB="53340" anchor="t">
                    <a:lnL w="12700" cap="flat" cmpd="sng" algn="ctr">
                      <a:solidFill>
                        <a:srgbClr val="BDBFB8"/>
                      </a:solidFill>
                      <a:prstDash val="solid"/>
                      <a:round/>
                      <a:headEnd type="none" w="med" len="med"/>
                      <a:tailEnd type="none" w="med" len="med"/>
                    </a:lnL>
                    <a:lnR w="12700" cap="flat" cmpd="sng" algn="ctr">
                      <a:solidFill>
                        <a:srgbClr val="B0B1AA"/>
                      </a:solidFill>
                      <a:prstDash val="solid"/>
                      <a:round/>
                      <a:headEnd type="none" w="med" len="med"/>
                      <a:tailEnd type="none" w="med" len="med"/>
                    </a:lnR>
                    <a:lnT w="12700" cap="flat" cmpd="sng" algn="ctr">
                      <a:solidFill>
                        <a:srgbClr val="BDBFB8"/>
                      </a:solidFill>
                      <a:prstDash val="solid"/>
                      <a:round/>
                      <a:headEnd type="none" w="med" len="med"/>
                      <a:tailEnd type="none" w="med" len="med"/>
                    </a:lnT>
                    <a:lnB w="12700" cap="flat" cmpd="sng" algn="ctr">
                      <a:solidFill>
                        <a:srgbClr val="B0B1AA"/>
                      </a:solidFill>
                      <a:prstDash val="solid"/>
                      <a:round/>
                      <a:headEnd type="none" w="med" len="med"/>
                      <a:tailEnd type="none" w="med" len="med"/>
                    </a:lnB>
                    <a:solidFill>
                      <a:srgbClr val="DCDDD5"/>
                    </a:solidFill>
                  </a:tcPr>
                </a:tc>
                <a:tc>
                  <a:txBody>
                    <a:bodyPr/>
                    <a:lstStyle/>
                    <a:p>
                      <a:pPr indent="0" marL="0">
                        <a:lnSpc>
                          <a:spcPts val="1680"/>
                        </a:lnSpc>
                        <a:buNone/>
                      </a:pPr>
                      <a:r>
                        <a:rPr lang="en-US" sz="1200" b="1" dirty="0">
                          <a:solidFill>
                            <a:srgbClr val="1E3F33"/>
                          </a:solidFill>
                          <a:latin typeface="DM Sans" pitchFamily="34" charset="0"/>
                          <a:ea typeface="DM Sans" pitchFamily="34" charset="-122"/>
                          <a:cs typeface="DM Sans" pitchFamily="34" charset="-120"/>
                        </a:rPr>
                        <a:t>Answer</a:t>
                      </a:r>
                      <a:endParaRPr lang="en-US" sz="1200" dirty="0">
                        <a:latin typeface="DM Sans" charset="0"/>
                        <a:ea typeface="DM Sans" charset="0"/>
                        <a:cs typeface="DM Sans" charset="0"/>
                      </a:endParaRPr>
                    </a:p>
                  </a:txBody>
                  <a:tcPr marL="53340" marR="53340" marT="53340" marB="53340" anchor="t">
                    <a:lnL w="12700" cap="flat" cmpd="sng" algn="ctr">
                      <a:solidFill>
                        <a:srgbClr val="B0B1AA"/>
                      </a:solidFill>
                      <a:prstDash val="solid"/>
                      <a:round/>
                      <a:headEnd type="none" w="med" len="med"/>
                      <a:tailEnd type="none" w="med" len="med"/>
                    </a:lnL>
                    <a:lnR w="12700" cap="flat" cmpd="sng" algn="ctr">
                      <a:solidFill>
                        <a:srgbClr val="B0B1AA"/>
                      </a:solidFill>
                      <a:prstDash val="solid"/>
                      <a:round/>
                      <a:headEnd type="none" w="med" len="med"/>
                      <a:tailEnd type="none" w="med" len="med"/>
                    </a:lnR>
                    <a:lnT w="12700" cap="flat" cmpd="sng" algn="ctr">
                      <a:solidFill>
                        <a:srgbClr val="BDBFB8"/>
                      </a:solidFill>
                      <a:prstDash val="solid"/>
                      <a:round/>
                      <a:headEnd type="none" w="med" len="med"/>
                      <a:tailEnd type="none" w="med" len="med"/>
                    </a:lnT>
                    <a:lnB w="12700" cap="flat" cmpd="sng" algn="ctr">
                      <a:solidFill>
                        <a:srgbClr val="B0B1AA"/>
                      </a:solidFill>
                      <a:prstDash val="solid"/>
                      <a:round/>
                      <a:headEnd type="none" w="med" len="med"/>
                      <a:tailEnd type="none" w="med" len="med"/>
                    </a:lnB>
                    <a:solidFill>
                      <a:srgbClr val="DCDDD5"/>
                    </a:solidFill>
                  </a:tcPr>
                </a:tc>
              </a:tr>
              <a:tr h="544893">
                <a:tc>
                  <a:txBody>
                    <a:bodyPr/>
                    <a:lstStyle/>
                    <a:p>
                      <a:pPr indent="0" marL="0">
                        <a:lnSpc>
                          <a:spcPts val="1680"/>
                        </a:lnSpc>
                        <a:buNone/>
                      </a:pPr>
                      <a:r>
                        <a:rPr lang="en-US" sz="1200" dirty="0">
                          <a:solidFill>
                            <a:srgbClr val="1E3F33"/>
                          </a:solidFill>
                          <a:latin typeface="DM Sans" pitchFamily="34" charset="0"/>
                          <a:ea typeface="DM Sans" pitchFamily="34" charset="-122"/>
                          <a:cs typeface="DM Sans" pitchFamily="34" charset="-120"/>
                        </a:rPr>
                        <a:t>Is the department data real?</a:t>
                      </a:r>
                      <a:endParaRPr lang="en-US" sz="1200" dirty="0">
                        <a:latin typeface="DM Sans" charset="0"/>
                        <a:ea typeface="DM Sans" charset="0"/>
                        <a:cs typeface="DM Sans" charset="0"/>
                      </a:endParaRPr>
                    </a:p>
                  </a:txBody>
                  <a:tcPr marL="53340" marR="53340" marT="53340" marB="53340" anchor="t">
                    <a:lnL w="12700" cap="flat" cmpd="sng" algn="ctr">
                      <a:solidFill>
                        <a:srgbClr val="BDBFB8"/>
                      </a:solidFill>
                      <a:prstDash val="solid"/>
                      <a:round/>
                      <a:headEnd type="none" w="med" len="med"/>
                      <a:tailEnd type="none" w="med" len="med"/>
                    </a:lnL>
                    <a:lnR w="12700" cap="flat" cmpd="sng" algn="ctr">
                      <a:solidFill>
                        <a:srgbClr val="BDBFB8"/>
                      </a:solidFill>
                      <a:prstDash val="solid"/>
                      <a:round/>
                      <a:headEnd type="none" w="med" len="med"/>
                      <a:tailEnd type="none" w="med" len="med"/>
                    </a:lnR>
                    <a:lnT w="12700" cap="flat" cmpd="sng" algn="ctr">
                      <a:solidFill>
                        <a:srgbClr val="B0B1AA"/>
                      </a:solidFill>
                      <a:prstDash val="solid"/>
                      <a:round/>
                      <a:headEnd type="none" w="med" len="med"/>
                      <a:tailEnd type="none" w="med" len="med"/>
                    </a:lnT>
                    <a:lnB w="12700" cap="flat" cmpd="sng" algn="ctr">
                      <a:solidFill>
                        <a:srgbClr val="BDBFB8"/>
                      </a:solidFill>
                      <a:prstDash val="solid"/>
                      <a:round/>
                      <a:headEnd type="none" w="med" len="med"/>
                      <a:tailEnd type="none" w="med" len="med"/>
                    </a:lnB>
                  </a:tcPr>
                </a:tc>
                <a:tc>
                  <a:txBody>
                    <a:bodyPr/>
                    <a:lstStyle/>
                    <a:p>
                      <a:pPr indent="0" marL="0">
                        <a:lnSpc>
                          <a:spcPts val="1680"/>
                        </a:lnSpc>
                        <a:buNone/>
                      </a:pPr>
                      <a:r>
                        <a:rPr lang="en-US" sz="1200" dirty="0">
                          <a:solidFill>
                            <a:srgbClr val="1E3F33"/>
                          </a:solidFill>
                          <a:latin typeface="DM Sans" pitchFamily="34" charset="0"/>
                          <a:ea typeface="DM Sans" pitchFamily="34" charset="-122"/>
                          <a:cs typeface="DM Sans" pitchFamily="34" charset="-120"/>
                        </a:rPr>
                        <a:t>It is our campus model: no Indian campus publishes department meters, so we built one where the true effect is known — that is how accuracy is measured.</a:t>
                      </a:r>
                      <a:endParaRPr lang="en-US" sz="1200" dirty="0">
                        <a:latin typeface="DM Sans" charset="0"/>
                        <a:ea typeface="DM Sans" charset="0"/>
                        <a:cs typeface="DM Sans" charset="0"/>
                      </a:endParaRPr>
                    </a:p>
                  </a:txBody>
                  <a:tcPr marL="53340" marR="53340" marT="53340" marB="53340" anchor="t">
                    <a:lnL w="12700" cap="flat" cmpd="sng" algn="ctr">
                      <a:solidFill>
                        <a:srgbClr val="BDBFB8"/>
                      </a:solidFill>
                      <a:prstDash val="solid"/>
                      <a:round/>
                      <a:headEnd type="none" w="med" len="med"/>
                      <a:tailEnd type="none" w="med" len="med"/>
                    </a:lnL>
                    <a:lnR w="12700" cap="flat" cmpd="sng" algn="ctr">
                      <a:solidFill>
                        <a:srgbClr val="BDBFB8"/>
                      </a:solidFill>
                      <a:prstDash val="solid"/>
                      <a:round/>
                      <a:headEnd type="none" w="med" len="med"/>
                      <a:tailEnd type="none" w="med" len="med"/>
                    </a:lnR>
                    <a:lnT w="12700" cap="flat" cmpd="sng" algn="ctr">
                      <a:solidFill>
                        <a:srgbClr val="B0B1AA"/>
                      </a:solidFill>
                      <a:prstDash val="solid"/>
                      <a:round/>
                      <a:headEnd type="none" w="med" len="med"/>
                      <a:tailEnd type="none" w="med" len="med"/>
                    </a:lnT>
                    <a:lnB w="12700" cap="flat" cmpd="sng" algn="ctr">
                      <a:solidFill>
                        <a:srgbClr val="BDBFB8"/>
                      </a:solidFill>
                      <a:prstDash val="solid"/>
                      <a:round/>
                      <a:headEnd type="none" w="med" len="med"/>
                      <a:tailEnd type="none" w="med" len="med"/>
                    </a:lnB>
                  </a:tcPr>
                </a:tc>
              </a:tr>
              <a:tr h="331561">
                <a:tc>
                  <a:txBody>
                    <a:bodyPr/>
                    <a:lstStyle/>
                    <a:p>
                      <a:pPr indent="0" marL="0">
                        <a:lnSpc>
                          <a:spcPts val="1680"/>
                        </a:lnSpc>
                        <a:buNone/>
                      </a:pPr>
                      <a:r>
                        <a:rPr lang="en-US" sz="1200" dirty="0">
                          <a:solidFill>
                            <a:srgbClr val="1E3F33"/>
                          </a:solidFill>
                          <a:latin typeface="DM Sans" pitchFamily="34" charset="0"/>
                          <a:ea typeface="DM Sans" pitchFamily="34" charset="-122"/>
                          <a:cs typeface="DM Sans" pitchFamily="34" charset="-120"/>
                        </a:rPr>
                        <a:t>Why Concordia, not DSU?</a:t>
                      </a:r>
                      <a:endParaRPr lang="en-US" sz="1200" dirty="0">
                        <a:latin typeface="DM Sans" charset="0"/>
                        <a:ea typeface="DM Sans" charset="0"/>
                        <a:cs typeface="DM Sans" charset="0"/>
                      </a:endParaRPr>
                    </a:p>
                  </a:txBody>
                  <a:tcPr marL="53340" marR="53340" marT="53340" marB="53340" anchor="t">
                    <a:lnL w="12700" cap="flat" cmpd="sng" algn="ctr">
                      <a:solidFill>
                        <a:srgbClr val="BDBFB8"/>
                      </a:solidFill>
                      <a:prstDash val="solid"/>
                      <a:round/>
                      <a:headEnd type="none" w="med" len="med"/>
                      <a:tailEnd type="none" w="med" len="med"/>
                    </a:lnL>
                    <a:lnR w="12700" cap="flat" cmpd="sng" algn="ctr">
                      <a:solidFill>
                        <a:srgbClr val="B5B9AD"/>
                      </a:solidFill>
                      <a:prstDash val="solid"/>
                      <a:round/>
                      <a:headEnd type="none" w="med" len="med"/>
                      <a:tailEnd type="none" w="med" len="med"/>
                    </a:lnR>
                    <a:lnT w="12700" cap="flat" cmpd="sng" algn="ctr">
                      <a:solidFill>
                        <a:srgbClr val="BDBFB8"/>
                      </a:solidFill>
                      <a:prstDash val="solid"/>
                      <a:round/>
                      <a:headEnd type="none" w="med" len="med"/>
                      <a:tailEnd type="none" w="med" len="med"/>
                    </a:lnT>
                    <a:lnB w="12700" cap="flat" cmpd="sng" algn="ctr">
                      <a:solidFill>
                        <a:srgbClr val="B5B9AD"/>
                      </a:solidFill>
                      <a:prstDash val="solid"/>
                      <a:round/>
                      <a:headEnd type="none" w="med" len="med"/>
                      <a:tailEnd type="none" w="med" len="med"/>
                    </a:lnB>
                    <a:solidFill>
                      <a:srgbClr val="E2E8D8"/>
                    </a:solidFill>
                  </a:tcPr>
                </a:tc>
                <a:tc>
                  <a:txBody>
                    <a:bodyPr/>
                    <a:lstStyle/>
                    <a:p>
                      <a:pPr indent="0" marL="0">
                        <a:lnSpc>
                          <a:spcPts val="1680"/>
                        </a:lnSpc>
                        <a:buNone/>
                      </a:pPr>
                      <a:r>
                        <a:rPr lang="en-US" sz="1200" dirty="0">
                          <a:solidFill>
                            <a:srgbClr val="1E3F33"/>
                          </a:solidFill>
                          <a:latin typeface="DM Sans" pitchFamily="34" charset="0"/>
                          <a:ea typeface="DM Sans" pitchFamily="34" charset="-122"/>
                          <a:cs typeface="DM Sans" pitchFamily="34" charset="-120"/>
                        </a:rPr>
                        <a:t>Open hourly meters plus waste invoices (CC BY 4.0). Our pilot swaps in DSU’s bills within 4 months.</a:t>
                      </a:r>
                      <a:endParaRPr lang="en-US" sz="1200" dirty="0">
                        <a:latin typeface="DM Sans" charset="0"/>
                        <a:ea typeface="DM Sans" charset="0"/>
                        <a:cs typeface="DM Sans" charset="0"/>
                      </a:endParaRPr>
                    </a:p>
                  </a:txBody>
                  <a:tcPr marL="53340" marR="53340" marT="53340" marB="53340" anchor="t">
                    <a:lnL w="12700" cap="flat" cmpd="sng" algn="ctr">
                      <a:solidFill>
                        <a:srgbClr val="B5B9AD"/>
                      </a:solidFill>
                      <a:prstDash val="solid"/>
                      <a:round/>
                      <a:headEnd type="none" w="med" len="med"/>
                      <a:tailEnd type="none" w="med" len="med"/>
                    </a:lnL>
                    <a:lnR w="12700" cap="flat" cmpd="sng" algn="ctr">
                      <a:solidFill>
                        <a:srgbClr val="B5B9AD"/>
                      </a:solidFill>
                      <a:prstDash val="solid"/>
                      <a:round/>
                      <a:headEnd type="none" w="med" len="med"/>
                      <a:tailEnd type="none" w="med" len="med"/>
                    </a:lnR>
                    <a:lnT w="12700" cap="flat" cmpd="sng" algn="ctr">
                      <a:solidFill>
                        <a:srgbClr val="BDBFB8"/>
                      </a:solidFill>
                      <a:prstDash val="solid"/>
                      <a:round/>
                      <a:headEnd type="none" w="med" len="med"/>
                      <a:tailEnd type="none" w="med" len="med"/>
                    </a:lnT>
                    <a:lnB w="12700" cap="flat" cmpd="sng" algn="ctr">
                      <a:solidFill>
                        <a:srgbClr val="B5B9AD"/>
                      </a:solidFill>
                      <a:prstDash val="solid"/>
                      <a:round/>
                      <a:headEnd type="none" w="med" len="med"/>
                      <a:tailEnd type="none" w="med" len="med"/>
                    </a:lnB>
                    <a:solidFill>
                      <a:srgbClr val="E2E8D8"/>
                    </a:solidFill>
                  </a:tcPr>
                </a:tc>
              </a:tr>
              <a:tr h="544893">
                <a:tc>
                  <a:txBody>
                    <a:bodyPr/>
                    <a:lstStyle/>
                    <a:p>
                      <a:pPr indent="0" marL="0">
                        <a:lnSpc>
                          <a:spcPts val="1680"/>
                        </a:lnSpc>
                        <a:buNone/>
                      </a:pPr>
                      <a:r>
                        <a:rPr lang="en-US" sz="1200" dirty="0">
                          <a:solidFill>
                            <a:srgbClr val="1E3F33"/>
                          </a:solidFill>
                          <a:latin typeface="DM Sans" pitchFamily="34" charset="0"/>
                          <a:ea typeface="DM Sans" pitchFamily="34" charset="-122"/>
                          <a:cs typeface="DM Sans" pitchFamily="34" charset="-120"/>
                        </a:rPr>
                        <a:t>Isn’t the ghost twin just a baseline?</a:t>
                      </a:r>
                      <a:endParaRPr lang="en-US" sz="1200" dirty="0">
                        <a:latin typeface="DM Sans" charset="0"/>
                        <a:ea typeface="DM Sans" charset="0"/>
                        <a:cs typeface="DM Sans" charset="0"/>
                      </a:endParaRPr>
                    </a:p>
                  </a:txBody>
                  <a:tcPr marL="53340" marR="53340" marT="53340" marB="53340" anchor="t">
                    <a:lnL w="12700" cap="flat" cmpd="sng" algn="ctr">
                      <a:solidFill>
                        <a:srgbClr val="BDBFB8"/>
                      </a:solidFill>
                      <a:prstDash val="solid"/>
                      <a:round/>
                      <a:headEnd type="none" w="med" len="med"/>
                      <a:tailEnd type="none" w="med" len="med"/>
                    </a:lnL>
                    <a:lnR w="12700" cap="flat" cmpd="sng" algn="ctr">
                      <a:solidFill>
                        <a:srgbClr val="BDBFB8"/>
                      </a:solidFill>
                      <a:prstDash val="solid"/>
                      <a:round/>
                      <a:headEnd type="none" w="med" len="med"/>
                      <a:tailEnd type="none" w="med" len="med"/>
                    </a:lnR>
                    <a:lnT w="12700" cap="flat" cmpd="sng" algn="ctr">
                      <a:solidFill>
                        <a:srgbClr val="B5B9AD"/>
                      </a:solidFill>
                      <a:prstDash val="solid"/>
                      <a:round/>
                      <a:headEnd type="none" w="med" len="med"/>
                      <a:tailEnd type="none" w="med" len="med"/>
                    </a:lnT>
                    <a:lnB w="12700" cap="flat" cmpd="sng" algn="ctr">
                      <a:solidFill>
                        <a:srgbClr val="BDBFB8"/>
                      </a:solidFill>
                      <a:prstDash val="solid"/>
                      <a:round/>
                      <a:headEnd type="none" w="med" len="med"/>
                      <a:tailEnd type="none" w="med" len="med"/>
                    </a:lnB>
                  </a:tcPr>
                </a:tc>
                <a:tc>
                  <a:txBody>
                    <a:bodyPr/>
                    <a:lstStyle/>
                    <a:p>
                      <a:pPr indent="0" marL="0">
                        <a:lnSpc>
                          <a:spcPts val="1680"/>
                        </a:lnSpc>
                        <a:buNone/>
                      </a:pPr>
                      <a:r>
                        <a:rPr lang="en-US" sz="1200" dirty="0">
                          <a:solidFill>
                            <a:srgbClr val="1E3F33"/>
                          </a:solidFill>
                          <a:latin typeface="DM Sans" pitchFamily="34" charset="0"/>
                          <a:ea typeface="DM Sans" pitchFamily="34" charset="-122"/>
                          <a:cs typeface="DM Sans" pitchFamily="34" charset="-120"/>
                        </a:rPr>
                        <a:t>A baseline adjusted for real weather, weekdays, holidays and season; the model is chosen per meter and gated by ASHRAE Guideline 14.</a:t>
                      </a:r>
                      <a:endParaRPr lang="en-US" sz="1200" dirty="0">
                        <a:latin typeface="DM Sans" charset="0"/>
                        <a:ea typeface="DM Sans" charset="0"/>
                        <a:cs typeface="DM Sans" charset="0"/>
                      </a:endParaRPr>
                    </a:p>
                  </a:txBody>
                  <a:tcPr marL="53340" marR="53340" marT="53340" marB="53340" anchor="t">
                    <a:lnL w="12700" cap="flat" cmpd="sng" algn="ctr">
                      <a:solidFill>
                        <a:srgbClr val="BDBFB8"/>
                      </a:solidFill>
                      <a:prstDash val="solid"/>
                      <a:round/>
                      <a:headEnd type="none" w="med" len="med"/>
                      <a:tailEnd type="none" w="med" len="med"/>
                    </a:lnL>
                    <a:lnR w="12700" cap="flat" cmpd="sng" algn="ctr">
                      <a:solidFill>
                        <a:srgbClr val="BDBFB8"/>
                      </a:solidFill>
                      <a:prstDash val="solid"/>
                      <a:round/>
                      <a:headEnd type="none" w="med" len="med"/>
                      <a:tailEnd type="none" w="med" len="med"/>
                    </a:lnR>
                    <a:lnT w="12700" cap="flat" cmpd="sng" algn="ctr">
                      <a:solidFill>
                        <a:srgbClr val="B5B9AD"/>
                      </a:solidFill>
                      <a:prstDash val="solid"/>
                      <a:round/>
                      <a:headEnd type="none" w="med" len="med"/>
                      <a:tailEnd type="none" w="med" len="med"/>
                    </a:lnT>
                    <a:lnB w="12700" cap="flat" cmpd="sng" algn="ctr">
                      <a:solidFill>
                        <a:srgbClr val="BDBFB8"/>
                      </a:solidFill>
                      <a:prstDash val="solid"/>
                      <a:round/>
                      <a:headEnd type="none" w="med" len="med"/>
                      <a:tailEnd type="none" w="med" len="med"/>
                    </a:lnB>
                  </a:tcPr>
                </a:tc>
              </a:tr>
              <a:tr h="544893">
                <a:tc>
                  <a:txBody>
                    <a:bodyPr/>
                    <a:lstStyle/>
                    <a:p>
                      <a:pPr indent="0" marL="0">
                        <a:lnSpc>
                          <a:spcPts val="1680"/>
                        </a:lnSpc>
                        <a:buNone/>
                      </a:pPr>
                      <a:r>
                        <a:rPr lang="en-US" sz="1200" dirty="0">
                          <a:solidFill>
                            <a:srgbClr val="1E3F33"/>
                          </a:solidFill>
                          <a:latin typeface="DM Sans" pitchFamily="34" charset="0"/>
                          <a:ea typeface="DM Sans" pitchFamily="34" charset="-122"/>
                          <a:cs typeface="DM Sans" pitchFamily="34" charset="-120"/>
                        </a:rPr>
                        <a:t>What stops fake savings?</a:t>
                      </a:r>
                      <a:endParaRPr lang="en-US" sz="1200" dirty="0">
                        <a:latin typeface="DM Sans" charset="0"/>
                        <a:ea typeface="DM Sans" charset="0"/>
                        <a:cs typeface="DM Sans" charset="0"/>
                      </a:endParaRPr>
                    </a:p>
                  </a:txBody>
                  <a:tcPr marL="53340" marR="53340" marT="53340" marB="53340" anchor="t">
                    <a:lnL w="12700" cap="flat" cmpd="sng" algn="ctr">
                      <a:solidFill>
                        <a:srgbClr val="BDBFB8"/>
                      </a:solidFill>
                      <a:prstDash val="solid"/>
                      <a:round/>
                      <a:headEnd type="none" w="med" len="med"/>
                      <a:tailEnd type="none" w="med" len="med"/>
                    </a:lnL>
                    <a:lnR w="12700" cap="flat" cmpd="sng" algn="ctr">
                      <a:solidFill>
                        <a:srgbClr val="B5B9AD"/>
                      </a:solidFill>
                      <a:prstDash val="solid"/>
                      <a:round/>
                      <a:headEnd type="none" w="med" len="med"/>
                      <a:tailEnd type="none" w="med" len="med"/>
                    </a:lnR>
                    <a:lnT w="12700" cap="flat" cmpd="sng" algn="ctr">
                      <a:solidFill>
                        <a:srgbClr val="BDBFB8"/>
                      </a:solidFill>
                      <a:prstDash val="solid"/>
                      <a:round/>
                      <a:headEnd type="none" w="med" len="med"/>
                      <a:tailEnd type="none" w="med" len="med"/>
                    </a:lnT>
                    <a:lnB w="12700" cap="flat" cmpd="sng" algn="ctr">
                      <a:solidFill>
                        <a:srgbClr val="B5B9AD"/>
                      </a:solidFill>
                      <a:prstDash val="solid"/>
                      <a:round/>
                      <a:headEnd type="none" w="med" len="med"/>
                      <a:tailEnd type="none" w="med" len="med"/>
                    </a:lnB>
                    <a:solidFill>
                      <a:srgbClr val="E2E8D8"/>
                    </a:solidFill>
                  </a:tcPr>
                </a:tc>
                <a:tc>
                  <a:txBody>
                    <a:bodyPr/>
                    <a:lstStyle/>
                    <a:p>
                      <a:pPr indent="0" marL="0">
                        <a:lnSpc>
                          <a:spcPts val="1680"/>
                        </a:lnSpc>
                        <a:buNone/>
                      </a:pPr>
                      <a:r>
                        <a:rPr lang="en-US" sz="1200" dirty="0">
                          <a:solidFill>
                            <a:srgbClr val="1E3F33"/>
                          </a:solidFill>
                          <a:latin typeface="DM Sans" pitchFamily="34" charset="0"/>
                          <a:ea typeface="DM Sans" pitchFamily="34" charset="-122"/>
                          <a:cs typeface="DM Sans" pitchFamily="34" charset="-120"/>
                        </a:rPr>
                        <a:t>The placebo test (p ≤ 0.05) and counting only the low end. Result: 1 false saving in 55 real months vs 25.</a:t>
                      </a:r>
                      <a:endParaRPr lang="en-US" sz="1200" dirty="0">
                        <a:latin typeface="DM Sans" charset="0"/>
                        <a:ea typeface="DM Sans" charset="0"/>
                        <a:cs typeface="DM Sans" charset="0"/>
                      </a:endParaRPr>
                    </a:p>
                  </a:txBody>
                  <a:tcPr marL="53340" marR="53340" marT="53340" marB="53340" anchor="t">
                    <a:lnL w="12700" cap="flat" cmpd="sng" algn="ctr">
                      <a:solidFill>
                        <a:srgbClr val="B5B9AD"/>
                      </a:solidFill>
                      <a:prstDash val="solid"/>
                      <a:round/>
                      <a:headEnd type="none" w="med" len="med"/>
                      <a:tailEnd type="none" w="med" len="med"/>
                    </a:lnL>
                    <a:lnR w="12700" cap="flat" cmpd="sng" algn="ctr">
                      <a:solidFill>
                        <a:srgbClr val="B5B9AD"/>
                      </a:solidFill>
                      <a:prstDash val="solid"/>
                      <a:round/>
                      <a:headEnd type="none" w="med" len="med"/>
                      <a:tailEnd type="none" w="med" len="med"/>
                    </a:lnR>
                    <a:lnT w="12700" cap="flat" cmpd="sng" algn="ctr">
                      <a:solidFill>
                        <a:srgbClr val="BDBFB8"/>
                      </a:solidFill>
                      <a:prstDash val="solid"/>
                      <a:round/>
                      <a:headEnd type="none" w="med" len="med"/>
                      <a:tailEnd type="none" w="med" len="med"/>
                    </a:lnT>
                    <a:lnB w="12700" cap="flat" cmpd="sng" algn="ctr">
                      <a:solidFill>
                        <a:srgbClr val="B5B9AD"/>
                      </a:solidFill>
                      <a:prstDash val="solid"/>
                      <a:round/>
                      <a:headEnd type="none" w="med" len="med"/>
                      <a:tailEnd type="none" w="med" len="med"/>
                    </a:lnB>
                    <a:solidFill>
                      <a:srgbClr val="E2E8D8"/>
                    </a:solidFill>
                  </a:tcPr>
                </a:tc>
              </a:tr>
              <a:tr h="544893">
                <a:tc>
                  <a:txBody>
                    <a:bodyPr/>
                    <a:lstStyle/>
                    <a:p>
                      <a:pPr indent="0" marL="0">
                        <a:lnSpc>
                          <a:spcPts val="1680"/>
                        </a:lnSpc>
                        <a:buNone/>
                      </a:pPr>
                      <a:r>
                        <a:rPr lang="en-US" sz="1200" dirty="0">
                          <a:solidFill>
                            <a:srgbClr val="1E3F33"/>
                          </a:solidFill>
                          <a:latin typeface="DM Sans" pitchFamily="34" charset="0"/>
                          <a:ea typeface="DM Sans" pitchFamily="34" charset="-122"/>
                          <a:cs typeface="DM Sans" pitchFamily="34" charset="-120"/>
                        </a:rPr>
                        <a:t>Did any real action get verified?</a:t>
                      </a:r>
                      <a:endParaRPr lang="en-US" sz="1200" dirty="0">
                        <a:latin typeface="DM Sans" charset="0"/>
                        <a:ea typeface="DM Sans" charset="0"/>
                        <a:cs typeface="DM Sans" charset="0"/>
                      </a:endParaRPr>
                    </a:p>
                  </a:txBody>
                  <a:tcPr marL="53340" marR="53340" marT="53340" marB="53340" anchor="t">
                    <a:lnL w="12700" cap="flat" cmpd="sng" algn="ctr">
                      <a:solidFill>
                        <a:srgbClr val="BDBFB8"/>
                      </a:solidFill>
                      <a:prstDash val="solid"/>
                      <a:round/>
                      <a:headEnd type="none" w="med" len="med"/>
                      <a:tailEnd type="none" w="med" len="med"/>
                    </a:lnL>
                    <a:lnR w="12700" cap="flat" cmpd="sng" algn="ctr">
                      <a:solidFill>
                        <a:srgbClr val="BDBFB8"/>
                      </a:solidFill>
                      <a:prstDash val="solid"/>
                      <a:round/>
                      <a:headEnd type="none" w="med" len="med"/>
                      <a:tailEnd type="none" w="med" len="med"/>
                    </a:lnR>
                    <a:lnT w="12700" cap="flat" cmpd="sng" algn="ctr">
                      <a:solidFill>
                        <a:srgbClr val="B5B9AD"/>
                      </a:solidFill>
                      <a:prstDash val="solid"/>
                      <a:round/>
                      <a:headEnd type="none" w="med" len="med"/>
                      <a:tailEnd type="none" w="med" len="med"/>
                    </a:lnT>
                    <a:lnB w="12700" cap="flat" cmpd="sng" algn="ctr">
                      <a:solidFill>
                        <a:srgbClr val="BDBFB8"/>
                      </a:solidFill>
                      <a:prstDash val="solid"/>
                      <a:round/>
                      <a:headEnd type="none" w="med" len="med"/>
                      <a:tailEnd type="none" w="med" len="med"/>
                    </a:lnB>
                  </a:tcPr>
                </a:tc>
                <a:tc>
                  <a:txBody>
                    <a:bodyPr/>
                    <a:lstStyle/>
                    <a:p>
                      <a:pPr indent="0" marL="0">
                        <a:lnSpc>
                          <a:spcPts val="1680"/>
                        </a:lnSpc>
                        <a:buNone/>
                      </a:pPr>
                      <a:r>
                        <a:rPr lang="en-US" sz="1200" dirty="0">
                          <a:solidFill>
                            <a:srgbClr val="1E3F33"/>
                          </a:solidFill>
                          <a:latin typeface="DM Sans" pitchFamily="34" charset="0"/>
                          <a:ea typeface="DM Sans" pitchFamily="34" charset="-122"/>
                          <a:cs typeface="DM Sans" pitchFamily="34" charset="-120"/>
                        </a:rPr>
                        <a:t>We refused to invent one — that is greenwashing. COVID proves detection on real meters; the register is ready for the first real action.</a:t>
                      </a:r>
                      <a:endParaRPr lang="en-US" sz="1200" dirty="0">
                        <a:latin typeface="DM Sans" charset="0"/>
                        <a:ea typeface="DM Sans" charset="0"/>
                        <a:cs typeface="DM Sans" charset="0"/>
                      </a:endParaRPr>
                    </a:p>
                  </a:txBody>
                  <a:tcPr marL="53340" marR="53340" marT="53340" marB="53340" anchor="t">
                    <a:lnL w="12700" cap="flat" cmpd="sng" algn="ctr">
                      <a:solidFill>
                        <a:srgbClr val="BDBFB8"/>
                      </a:solidFill>
                      <a:prstDash val="solid"/>
                      <a:round/>
                      <a:headEnd type="none" w="med" len="med"/>
                      <a:tailEnd type="none" w="med" len="med"/>
                    </a:lnL>
                    <a:lnR w="12700" cap="flat" cmpd="sng" algn="ctr">
                      <a:solidFill>
                        <a:srgbClr val="BDBFB8"/>
                      </a:solidFill>
                      <a:prstDash val="solid"/>
                      <a:round/>
                      <a:headEnd type="none" w="med" len="med"/>
                      <a:tailEnd type="none" w="med" len="med"/>
                    </a:lnR>
                    <a:lnT w="12700" cap="flat" cmpd="sng" algn="ctr">
                      <a:solidFill>
                        <a:srgbClr val="B5B9AD"/>
                      </a:solidFill>
                      <a:prstDash val="solid"/>
                      <a:round/>
                      <a:headEnd type="none" w="med" len="med"/>
                      <a:tailEnd type="none" w="med" len="med"/>
                    </a:lnT>
                    <a:lnB w="12700" cap="flat" cmpd="sng" algn="ctr">
                      <a:solidFill>
                        <a:srgbClr val="BDBFB8"/>
                      </a:solidFill>
                      <a:prstDash val="solid"/>
                      <a:round/>
                      <a:headEnd type="none" w="med" len="med"/>
                      <a:tailEnd type="none" w="med" len="med"/>
                    </a:lnB>
                  </a:tcPr>
                </a:tc>
              </a:tr>
            </a:tbl>
          </a:graphicData>
        </a:graphic>
      </p:graphicFrame>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EDEFE6"/>
        </a:solidFill>
      </p:bgPr>
    </p:bg>
    <p:spTree>
      <p:nvGrpSpPr>
        <p:cNvPr id="1" name=""/>
        <p:cNvGrpSpPr/>
        <p:nvPr/>
      </p:nvGrpSpPr>
      <p:grpSpPr>
        <a:xfrm>
          <a:off x="0" y="0"/>
          <a:ext cx="0" cy="0"/>
          <a:chOff x="0" y="0"/>
          <a:chExt cx="0" cy="0"/>
        </a:xfrm>
      </p:grpSpPr>
      <p:sp>
        <p:nvSpPr>
          <p:cNvPr id="2" name="Text 0"/>
          <p:cNvSpPr/>
          <p:nvPr>
            <p:ph type="title"/>
          </p:nvPr>
        </p:nvSpPr>
        <p:spPr>
          <a:xfrm>
            <a:off x="812750" y="812750"/>
            <a:ext cx="10883467" cy="472412"/>
          </a:xfrm>
          <a:prstGeom prst="rect">
            <a:avLst/>
          </a:prstGeom>
          <a:noFill/>
          <a:ln/>
        </p:spPr>
        <p:txBody>
          <a:bodyPr wrap="square" lIns="0" tIns="0" rIns="0" bIns="0" rtlCol="0" anchor="t">
            <a:normAutofit/>
          </a:bodyPr>
          <a:lstStyle/>
          <a:p>
            <a:pPr algn="l" indent="0" marL="0">
              <a:lnSpc>
                <a:spcPts val="3520"/>
              </a:lnSpc>
              <a:buNone/>
            </a:pPr>
            <a:r>
              <a:rPr lang="en-US" sz="3200" b="1" i="0" spc="-50" kern="0" dirty="0">
                <a:solidFill>
                  <a:srgbClr val="1E3F33"/>
                </a:solidFill>
                <a:latin typeface="Manrope" pitchFamily="34" charset="0"/>
                <a:ea typeface="Manrope" pitchFamily="34" charset="-122"/>
                <a:cs typeface="Manrope" pitchFamily="34" charset="-120"/>
              </a:rPr>
              <a:t>Judge questions — safety, cost, scale</a:t>
            </a:r>
            <a:endParaRPr lang="en-US" sz="32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824343" y="1525324"/>
          <a:ext cx="10554879" cy="2960921"/>
        </p:xfrm>
        <a:graphic>
          <a:graphicData uri="http://schemas.openxmlformats.org/drawingml/2006/table">
            <a:tbl>
              <a:tblPr/>
              <a:tblGrid>
                <a:gridCol w="3377561"/>
                <a:gridCol w="7177318"/>
              </a:tblGrid>
              <a:tr h="331561">
                <a:tc>
                  <a:txBody>
                    <a:bodyPr/>
                    <a:lstStyle/>
                    <a:p>
                      <a:pPr indent="0" marL="0">
                        <a:lnSpc>
                          <a:spcPts val="1680"/>
                        </a:lnSpc>
                        <a:buNone/>
                      </a:pPr>
                      <a:r>
                        <a:rPr lang="en-US" sz="1200" b="1" dirty="0">
                          <a:solidFill>
                            <a:srgbClr val="1E3F33"/>
                          </a:solidFill>
                          <a:latin typeface="DM Sans" pitchFamily="34" charset="0"/>
                          <a:ea typeface="DM Sans" pitchFamily="34" charset="-122"/>
                          <a:cs typeface="DM Sans" pitchFamily="34" charset="-120"/>
                        </a:rPr>
                        <a:t>If they ask…</a:t>
                      </a:r>
                      <a:endParaRPr lang="en-US" sz="1200" dirty="0">
                        <a:latin typeface="DM Sans" charset="0"/>
                        <a:ea typeface="DM Sans" charset="0"/>
                        <a:cs typeface="DM Sans" charset="0"/>
                      </a:endParaRPr>
                    </a:p>
                  </a:txBody>
                  <a:tcPr marL="53340" marR="53340" marT="53340" marB="53340" anchor="t">
                    <a:lnL w="12700" cap="flat" cmpd="sng" algn="ctr">
                      <a:solidFill>
                        <a:srgbClr val="BDBFB8"/>
                      </a:solidFill>
                      <a:prstDash val="solid"/>
                      <a:round/>
                      <a:headEnd type="none" w="med" len="med"/>
                      <a:tailEnd type="none" w="med" len="med"/>
                    </a:lnL>
                    <a:lnR w="12700" cap="flat" cmpd="sng" algn="ctr">
                      <a:solidFill>
                        <a:srgbClr val="B0B1AA"/>
                      </a:solidFill>
                      <a:prstDash val="solid"/>
                      <a:round/>
                      <a:headEnd type="none" w="med" len="med"/>
                      <a:tailEnd type="none" w="med" len="med"/>
                    </a:lnR>
                    <a:lnT w="12700" cap="flat" cmpd="sng" algn="ctr">
                      <a:solidFill>
                        <a:srgbClr val="BDBFB8"/>
                      </a:solidFill>
                      <a:prstDash val="solid"/>
                      <a:round/>
                      <a:headEnd type="none" w="med" len="med"/>
                      <a:tailEnd type="none" w="med" len="med"/>
                    </a:lnT>
                    <a:lnB w="12700" cap="flat" cmpd="sng" algn="ctr">
                      <a:solidFill>
                        <a:srgbClr val="B0B1AA"/>
                      </a:solidFill>
                      <a:prstDash val="solid"/>
                      <a:round/>
                      <a:headEnd type="none" w="med" len="med"/>
                      <a:tailEnd type="none" w="med" len="med"/>
                    </a:lnB>
                    <a:solidFill>
                      <a:srgbClr val="DCDDD5"/>
                    </a:solidFill>
                  </a:tcPr>
                </a:tc>
                <a:tc>
                  <a:txBody>
                    <a:bodyPr/>
                    <a:lstStyle/>
                    <a:p>
                      <a:pPr indent="0" marL="0">
                        <a:lnSpc>
                          <a:spcPts val="1680"/>
                        </a:lnSpc>
                        <a:buNone/>
                      </a:pPr>
                      <a:r>
                        <a:rPr lang="en-US" sz="1200" b="1" dirty="0">
                          <a:solidFill>
                            <a:srgbClr val="1E3F33"/>
                          </a:solidFill>
                          <a:latin typeface="DM Sans" pitchFamily="34" charset="0"/>
                          <a:ea typeface="DM Sans" pitchFamily="34" charset="-122"/>
                          <a:cs typeface="DM Sans" pitchFamily="34" charset="-120"/>
                        </a:rPr>
                        <a:t>Answer</a:t>
                      </a:r>
                      <a:endParaRPr lang="en-US" sz="1200" dirty="0">
                        <a:latin typeface="DM Sans" charset="0"/>
                        <a:ea typeface="DM Sans" charset="0"/>
                        <a:cs typeface="DM Sans" charset="0"/>
                      </a:endParaRPr>
                    </a:p>
                  </a:txBody>
                  <a:tcPr marL="53340" marR="53340" marT="53340" marB="53340" anchor="t">
                    <a:lnL w="12700" cap="flat" cmpd="sng" algn="ctr">
                      <a:solidFill>
                        <a:srgbClr val="B0B1AA"/>
                      </a:solidFill>
                      <a:prstDash val="solid"/>
                      <a:round/>
                      <a:headEnd type="none" w="med" len="med"/>
                      <a:tailEnd type="none" w="med" len="med"/>
                    </a:lnL>
                    <a:lnR w="12700" cap="flat" cmpd="sng" algn="ctr">
                      <a:solidFill>
                        <a:srgbClr val="B0B1AA"/>
                      </a:solidFill>
                      <a:prstDash val="solid"/>
                      <a:round/>
                      <a:headEnd type="none" w="med" len="med"/>
                      <a:tailEnd type="none" w="med" len="med"/>
                    </a:lnR>
                    <a:lnT w="12700" cap="flat" cmpd="sng" algn="ctr">
                      <a:solidFill>
                        <a:srgbClr val="BDBFB8"/>
                      </a:solidFill>
                      <a:prstDash val="solid"/>
                      <a:round/>
                      <a:headEnd type="none" w="med" len="med"/>
                      <a:tailEnd type="none" w="med" len="med"/>
                    </a:lnT>
                    <a:lnB w="12700" cap="flat" cmpd="sng" algn="ctr">
                      <a:solidFill>
                        <a:srgbClr val="B0B1AA"/>
                      </a:solidFill>
                      <a:prstDash val="solid"/>
                      <a:round/>
                      <a:headEnd type="none" w="med" len="med"/>
                      <a:tailEnd type="none" w="med" len="med"/>
                    </a:lnB>
                    <a:solidFill>
                      <a:srgbClr val="DCDDD5"/>
                    </a:solidFill>
                  </a:tcPr>
                </a:tc>
              </a:tr>
              <a:tr h="544893">
                <a:tc>
                  <a:txBody>
                    <a:bodyPr/>
                    <a:lstStyle/>
                    <a:p>
                      <a:pPr indent="0" marL="0">
                        <a:lnSpc>
                          <a:spcPts val="1680"/>
                        </a:lnSpc>
                        <a:buNone/>
                      </a:pPr>
                      <a:r>
                        <a:rPr lang="en-US" sz="1200" dirty="0">
                          <a:solidFill>
                            <a:srgbClr val="1E3F33"/>
                          </a:solidFill>
                          <a:latin typeface="DM Sans" pitchFamily="34" charset="0"/>
                          <a:ea typeface="DM Sans" pitchFamily="34" charset="-122"/>
                          <a:cs typeface="DM Sans" pitchFamily="34" charset="-120"/>
                        </a:rPr>
                        <a:t>Is the camera a privacy risk?</a:t>
                      </a:r>
                      <a:endParaRPr lang="en-US" sz="1200" dirty="0">
                        <a:latin typeface="DM Sans" charset="0"/>
                        <a:ea typeface="DM Sans" charset="0"/>
                        <a:cs typeface="DM Sans" charset="0"/>
                      </a:endParaRPr>
                    </a:p>
                  </a:txBody>
                  <a:tcPr marL="53340" marR="53340" marT="53340" marB="53340" anchor="t">
                    <a:lnL w="12700" cap="flat" cmpd="sng" algn="ctr">
                      <a:solidFill>
                        <a:srgbClr val="BDBFB8"/>
                      </a:solidFill>
                      <a:prstDash val="solid"/>
                      <a:round/>
                      <a:headEnd type="none" w="med" len="med"/>
                      <a:tailEnd type="none" w="med" len="med"/>
                    </a:lnL>
                    <a:lnR w="12700" cap="flat" cmpd="sng" algn="ctr">
                      <a:solidFill>
                        <a:srgbClr val="BDBFB8"/>
                      </a:solidFill>
                      <a:prstDash val="solid"/>
                      <a:round/>
                      <a:headEnd type="none" w="med" len="med"/>
                      <a:tailEnd type="none" w="med" len="med"/>
                    </a:lnR>
                    <a:lnT w="12700" cap="flat" cmpd="sng" algn="ctr">
                      <a:solidFill>
                        <a:srgbClr val="B0B1AA"/>
                      </a:solidFill>
                      <a:prstDash val="solid"/>
                      <a:round/>
                      <a:headEnd type="none" w="med" len="med"/>
                      <a:tailEnd type="none" w="med" len="med"/>
                    </a:lnT>
                    <a:lnB w="12700" cap="flat" cmpd="sng" algn="ctr">
                      <a:solidFill>
                        <a:srgbClr val="BDBFB8"/>
                      </a:solidFill>
                      <a:prstDash val="solid"/>
                      <a:round/>
                      <a:headEnd type="none" w="med" len="med"/>
                      <a:tailEnd type="none" w="med" len="med"/>
                    </a:lnB>
                  </a:tcPr>
                </a:tc>
                <a:tc>
                  <a:txBody>
                    <a:bodyPr/>
                    <a:lstStyle/>
                    <a:p>
                      <a:pPr indent="0" marL="0">
                        <a:lnSpc>
                          <a:spcPts val="1680"/>
                        </a:lnSpc>
                        <a:buNone/>
                      </a:pPr>
                      <a:r>
                        <a:rPr lang="en-US" sz="1200" dirty="0">
                          <a:solidFill>
                            <a:srgbClr val="1E3F33"/>
                          </a:solidFill>
                          <a:latin typeface="DM Sans" pitchFamily="34" charset="0"/>
                          <a:ea typeface="DM Sans" pitchFamily="34" charset="-122"/>
                          <a:cs typeface="DM Sans" pitchFamily="34" charset="-120"/>
                        </a:rPr>
                        <a:t>Frames are analysed in memory, never saved; only the count is kept. People are pixelated; no face recognition.</a:t>
                      </a:r>
                      <a:endParaRPr lang="en-US" sz="1200" dirty="0">
                        <a:latin typeface="DM Sans" charset="0"/>
                        <a:ea typeface="DM Sans" charset="0"/>
                        <a:cs typeface="DM Sans" charset="0"/>
                      </a:endParaRPr>
                    </a:p>
                  </a:txBody>
                  <a:tcPr marL="53340" marR="53340" marT="53340" marB="53340" anchor="t">
                    <a:lnL w="12700" cap="flat" cmpd="sng" algn="ctr">
                      <a:solidFill>
                        <a:srgbClr val="BDBFB8"/>
                      </a:solidFill>
                      <a:prstDash val="solid"/>
                      <a:round/>
                      <a:headEnd type="none" w="med" len="med"/>
                      <a:tailEnd type="none" w="med" len="med"/>
                    </a:lnL>
                    <a:lnR w="12700" cap="flat" cmpd="sng" algn="ctr">
                      <a:solidFill>
                        <a:srgbClr val="BDBFB8"/>
                      </a:solidFill>
                      <a:prstDash val="solid"/>
                      <a:round/>
                      <a:headEnd type="none" w="med" len="med"/>
                      <a:tailEnd type="none" w="med" len="med"/>
                    </a:lnR>
                    <a:lnT w="12700" cap="flat" cmpd="sng" algn="ctr">
                      <a:solidFill>
                        <a:srgbClr val="B0B1AA"/>
                      </a:solidFill>
                      <a:prstDash val="solid"/>
                      <a:round/>
                      <a:headEnd type="none" w="med" len="med"/>
                      <a:tailEnd type="none" w="med" len="med"/>
                    </a:lnT>
                    <a:lnB w="12700" cap="flat" cmpd="sng" algn="ctr">
                      <a:solidFill>
                        <a:srgbClr val="BDBFB8"/>
                      </a:solidFill>
                      <a:prstDash val="solid"/>
                      <a:round/>
                      <a:headEnd type="none" w="med" len="med"/>
                      <a:tailEnd type="none" w="med" len="med"/>
                    </a:lnB>
                  </a:tcPr>
                </a:tc>
              </a:tr>
              <a:tr h="331561">
                <a:tc>
                  <a:txBody>
                    <a:bodyPr/>
                    <a:lstStyle/>
                    <a:p>
                      <a:pPr indent="0" marL="0">
                        <a:lnSpc>
                          <a:spcPts val="1680"/>
                        </a:lnSpc>
                        <a:buNone/>
                      </a:pPr>
                      <a:r>
                        <a:rPr lang="en-US" sz="1200" dirty="0">
                          <a:solidFill>
                            <a:srgbClr val="1E3F33"/>
                          </a:solidFill>
                          <a:latin typeface="DM Sans" pitchFamily="34" charset="0"/>
                          <a:ea typeface="DM Sans" pitchFamily="34" charset="-122"/>
                          <a:cs typeface="DM Sans" pitchFamily="34" charset="-120"/>
                        </a:rPr>
                        <a:t>Does it switch real devices?</a:t>
                      </a:r>
                      <a:endParaRPr lang="en-US" sz="1200" dirty="0">
                        <a:latin typeface="DM Sans" charset="0"/>
                        <a:ea typeface="DM Sans" charset="0"/>
                        <a:cs typeface="DM Sans" charset="0"/>
                      </a:endParaRPr>
                    </a:p>
                  </a:txBody>
                  <a:tcPr marL="53340" marR="53340" marT="53340" marB="53340" anchor="t">
                    <a:lnL w="12700" cap="flat" cmpd="sng" algn="ctr">
                      <a:solidFill>
                        <a:srgbClr val="BDBFB8"/>
                      </a:solidFill>
                      <a:prstDash val="solid"/>
                      <a:round/>
                      <a:headEnd type="none" w="med" len="med"/>
                      <a:tailEnd type="none" w="med" len="med"/>
                    </a:lnL>
                    <a:lnR w="12700" cap="flat" cmpd="sng" algn="ctr">
                      <a:solidFill>
                        <a:srgbClr val="B5B9AD"/>
                      </a:solidFill>
                      <a:prstDash val="solid"/>
                      <a:round/>
                      <a:headEnd type="none" w="med" len="med"/>
                      <a:tailEnd type="none" w="med" len="med"/>
                    </a:lnR>
                    <a:lnT w="12700" cap="flat" cmpd="sng" algn="ctr">
                      <a:solidFill>
                        <a:srgbClr val="BDBFB8"/>
                      </a:solidFill>
                      <a:prstDash val="solid"/>
                      <a:round/>
                      <a:headEnd type="none" w="med" len="med"/>
                      <a:tailEnd type="none" w="med" len="med"/>
                    </a:lnT>
                    <a:lnB w="12700" cap="flat" cmpd="sng" algn="ctr">
                      <a:solidFill>
                        <a:srgbClr val="B5B9AD"/>
                      </a:solidFill>
                      <a:prstDash val="solid"/>
                      <a:round/>
                      <a:headEnd type="none" w="med" len="med"/>
                      <a:tailEnd type="none" w="med" len="med"/>
                    </a:lnB>
                    <a:solidFill>
                      <a:srgbClr val="E2E8D8"/>
                    </a:solidFill>
                  </a:tcPr>
                </a:tc>
                <a:tc>
                  <a:txBody>
                    <a:bodyPr/>
                    <a:lstStyle/>
                    <a:p>
                      <a:pPr indent="0" marL="0">
                        <a:lnSpc>
                          <a:spcPts val="1680"/>
                        </a:lnSpc>
                        <a:buNone/>
                      </a:pPr>
                      <a:r>
                        <a:rPr lang="en-US" sz="1200" dirty="0">
                          <a:solidFill>
                            <a:srgbClr val="1E3F33"/>
                          </a:solidFill>
                          <a:latin typeface="DM Sans" pitchFamily="34" charset="0"/>
                          <a:ea typeface="DM Sans" pitchFamily="34" charset="-122"/>
                          <a:cs typeface="DM Sans" pitchFamily="34" charset="-120"/>
                        </a:rPr>
                        <a:t>Via a certified smart plug or Home Assistant. Virtual by default; every device has a manual override.</a:t>
                      </a:r>
                      <a:endParaRPr lang="en-US" sz="1200" dirty="0">
                        <a:latin typeface="DM Sans" charset="0"/>
                        <a:ea typeface="DM Sans" charset="0"/>
                        <a:cs typeface="DM Sans" charset="0"/>
                      </a:endParaRPr>
                    </a:p>
                  </a:txBody>
                  <a:tcPr marL="53340" marR="53340" marT="53340" marB="53340" anchor="t">
                    <a:lnL w="12700" cap="flat" cmpd="sng" algn="ctr">
                      <a:solidFill>
                        <a:srgbClr val="B5B9AD"/>
                      </a:solidFill>
                      <a:prstDash val="solid"/>
                      <a:round/>
                      <a:headEnd type="none" w="med" len="med"/>
                      <a:tailEnd type="none" w="med" len="med"/>
                    </a:lnL>
                    <a:lnR w="12700" cap="flat" cmpd="sng" algn="ctr">
                      <a:solidFill>
                        <a:srgbClr val="B5B9AD"/>
                      </a:solidFill>
                      <a:prstDash val="solid"/>
                      <a:round/>
                      <a:headEnd type="none" w="med" len="med"/>
                      <a:tailEnd type="none" w="med" len="med"/>
                    </a:lnR>
                    <a:lnT w="12700" cap="flat" cmpd="sng" algn="ctr">
                      <a:solidFill>
                        <a:srgbClr val="BDBFB8"/>
                      </a:solidFill>
                      <a:prstDash val="solid"/>
                      <a:round/>
                      <a:headEnd type="none" w="med" len="med"/>
                      <a:tailEnd type="none" w="med" len="med"/>
                    </a:lnT>
                    <a:lnB w="12700" cap="flat" cmpd="sng" algn="ctr">
                      <a:solidFill>
                        <a:srgbClr val="B5B9AD"/>
                      </a:solidFill>
                      <a:prstDash val="solid"/>
                      <a:round/>
                      <a:headEnd type="none" w="med" len="med"/>
                      <a:tailEnd type="none" w="med" len="med"/>
                    </a:lnB>
                    <a:solidFill>
                      <a:srgbClr val="E2E8D8"/>
                    </a:solidFill>
                  </a:tcPr>
                </a:tc>
              </a:tr>
              <a:tr h="544893">
                <a:tc>
                  <a:txBody>
                    <a:bodyPr/>
                    <a:lstStyle/>
                    <a:p>
                      <a:pPr indent="0" marL="0">
                        <a:lnSpc>
                          <a:spcPts val="1680"/>
                        </a:lnSpc>
                        <a:buNone/>
                      </a:pPr>
                      <a:r>
                        <a:rPr lang="en-US" sz="1200" dirty="0">
                          <a:solidFill>
                            <a:srgbClr val="1E3F33"/>
                          </a:solidFill>
                          <a:latin typeface="DM Sans" pitchFamily="34" charset="0"/>
                          <a:ea typeface="DM Sans" pitchFamily="34" charset="-122"/>
                          <a:cs typeface="DM Sans" pitchFamily="34" charset="-120"/>
                        </a:rPr>
                        <a:t>Why is the AC set so warm?</a:t>
                      </a:r>
                      <a:endParaRPr lang="en-US" sz="1200" dirty="0">
                        <a:latin typeface="DM Sans" charset="0"/>
                        <a:ea typeface="DM Sans" charset="0"/>
                        <a:cs typeface="DM Sans" charset="0"/>
                      </a:endParaRPr>
                    </a:p>
                  </a:txBody>
                  <a:tcPr marL="53340" marR="53340" marT="53340" marB="53340" anchor="t">
                    <a:lnL w="12700" cap="flat" cmpd="sng" algn="ctr">
                      <a:solidFill>
                        <a:srgbClr val="BDBFB8"/>
                      </a:solidFill>
                      <a:prstDash val="solid"/>
                      <a:round/>
                      <a:headEnd type="none" w="med" len="med"/>
                      <a:tailEnd type="none" w="med" len="med"/>
                    </a:lnL>
                    <a:lnR w="12700" cap="flat" cmpd="sng" algn="ctr">
                      <a:solidFill>
                        <a:srgbClr val="BDBFB8"/>
                      </a:solidFill>
                      <a:prstDash val="solid"/>
                      <a:round/>
                      <a:headEnd type="none" w="med" len="med"/>
                      <a:tailEnd type="none" w="med" len="med"/>
                    </a:lnR>
                    <a:lnT w="12700" cap="flat" cmpd="sng" algn="ctr">
                      <a:solidFill>
                        <a:srgbClr val="B5B9AD"/>
                      </a:solidFill>
                      <a:prstDash val="solid"/>
                      <a:round/>
                      <a:headEnd type="none" w="med" len="med"/>
                      <a:tailEnd type="none" w="med" len="med"/>
                    </a:lnT>
                    <a:lnB w="12700" cap="flat" cmpd="sng" algn="ctr">
                      <a:solidFill>
                        <a:srgbClr val="BDBFB8"/>
                      </a:solidFill>
                      <a:prstDash val="solid"/>
                      <a:round/>
                      <a:headEnd type="none" w="med" len="med"/>
                      <a:tailEnd type="none" w="med" len="med"/>
                    </a:lnB>
                  </a:tcPr>
                </a:tc>
                <a:tc>
                  <a:txBody>
                    <a:bodyPr/>
                    <a:lstStyle/>
                    <a:p>
                      <a:pPr indent="0" marL="0">
                        <a:lnSpc>
                          <a:spcPts val="1680"/>
                        </a:lnSpc>
                        <a:buNone/>
                      </a:pPr>
                      <a:r>
                        <a:rPr lang="en-US" sz="1200" dirty="0">
                          <a:solidFill>
                            <a:srgbClr val="1E3F33"/>
                          </a:solidFill>
                          <a:latin typeface="DM Sans" pitchFamily="34" charset="0"/>
                          <a:ea typeface="DM Sans" pitchFamily="34" charset="-122"/>
                          <a:cs typeface="DM Sans" pitchFamily="34" charset="-120"/>
                        </a:rPr>
                        <a:t>ASHRAE 55 comfort-neutral for this week’s weather, never below BEE’s 24 °C default, with the fan on.</a:t>
                      </a:r>
                      <a:endParaRPr lang="en-US" sz="1200" dirty="0">
                        <a:latin typeface="DM Sans" charset="0"/>
                        <a:ea typeface="DM Sans" charset="0"/>
                        <a:cs typeface="DM Sans" charset="0"/>
                      </a:endParaRPr>
                    </a:p>
                  </a:txBody>
                  <a:tcPr marL="53340" marR="53340" marT="53340" marB="53340" anchor="t">
                    <a:lnL w="12700" cap="flat" cmpd="sng" algn="ctr">
                      <a:solidFill>
                        <a:srgbClr val="BDBFB8"/>
                      </a:solidFill>
                      <a:prstDash val="solid"/>
                      <a:round/>
                      <a:headEnd type="none" w="med" len="med"/>
                      <a:tailEnd type="none" w="med" len="med"/>
                    </a:lnL>
                    <a:lnR w="12700" cap="flat" cmpd="sng" algn="ctr">
                      <a:solidFill>
                        <a:srgbClr val="BDBFB8"/>
                      </a:solidFill>
                      <a:prstDash val="solid"/>
                      <a:round/>
                      <a:headEnd type="none" w="med" len="med"/>
                      <a:tailEnd type="none" w="med" len="med"/>
                    </a:lnR>
                    <a:lnT w="12700" cap="flat" cmpd="sng" algn="ctr">
                      <a:solidFill>
                        <a:srgbClr val="B5B9AD"/>
                      </a:solidFill>
                      <a:prstDash val="solid"/>
                      <a:round/>
                      <a:headEnd type="none" w="med" len="med"/>
                      <a:tailEnd type="none" w="med" len="med"/>
                    </a:lnT>
                    <a:lnB w="12700" cap="flat" cmpd="sng" algn="ctr">
                      <a:solidFill>
                        <a:srgbClr val="BDBFB8"/>
                      </a:solidFill>
                      <a:prstDash val="solid"/>
                      <a:round/>
                      <a:headEnd type="none" w="med" len="med"/>
                      <a:tailEnd type="none" w="med" len="med"/>
                    </a:lnB>
                  </a:tcPr>
                </a:tc>
              </a:tr>
              <a:tr h="544893">
                <a:tc>
                  <a:txBody>
                    <a:bodyPr/>
                    <a:lstStyle/>
                    <a:p>
                      <a:pPr indent="0" marL="0">
                        <a:lnSpc>
                          <a:spcPts val="1680"/>
                        </a:lnSpc>
                        <a:buNone/>
                      </a:pPr>
                      <a:r>
                        <a:rPr lang="en-US" sz="1200" dirty="0">
                          <a:solidFill>
                            <a:srgbClr val="1E3F33"/>
                          </a:solidFill>
                          <a:latin typeface="DM Sans" pitchFamily="34" charset="0"/>
                          <a:ea typeface="DM Sans" pitchFamily="34" charset="-122"/>
                          <a:cs typeface="DM Sans" pitchFamily="34" charset="-120"/>
                        </a:rPr>
                        <a:t>What does it cost to start?</a:t>
                      </a:r>
                      <a:endParaRPr lang="en-US" sz="1200" dirty="0">
                        <a:latin typeface="DM Sans" charset="0"/>
                        <a:ea typeface="DM Sans" charset="0"/>
                        <a:cs typeface="DM Sans" charset="0"/>
                      </a:endParaRPr>
                    </a:p>
                  </a:txBody>
                  <a:tcPr marL="53340" marR="53340" marT="53340" marB="53340" anchor="t">
                    <a:lnL w="12700" cap="flat" cmpd="sng" algn="ctr">
                      <a:solidFill>
                        <a:srgbClr val="BDBFB8"/>
                      </a:solidFill>
                      <a:prstDash val="solid"/>
                      <a:round/>
                      <a:headEnd type="none" w="med" len="med"/>
                      <a:tailEnd type="none" w="med" len="med"/>
                    </a:lnL>
                    <a:lnR w="12700" cap="flat" cmpd="sng" algn="ctr">
                      <a:solidFill>
                        <a:srgbClr val="B5B9AD"/>
                      </a:solidFill>
                      <a:prstDash val="solid"/>
                      <a:round/>
                      <a:headEnd type="none" w="med" len="med"/>
                      <a:tailEnd type="none" w="med" len="med"/>
                    </a:lnR>
                    <a:lnT w="12700" cap="flat" cmpd="sng" algn="ctr">
                      <a:solidFill>
                        <a:srgbClr val="BDBFB8"/>
                      </a:solidFill>
                      <a:prstDash val="solid"/>
                      <a:round/>
                      <a:headEnd type="none" w="med" len="med"/>
                      <a:tailEnd type="none" w="med" len="med"/>
                    </a:lnT>
                    <a:lnB w="12700" cap="flat" cmpd="sng" algn="ctr">
                      <a:solidFill>
                        <a:srgbClr val="B5B9AD"/>
                      </a:solidFill>
                      <a:prstDash val="solid"/>
                      <a:round/>
                      <a:headEnd type="none" w="med" len="med"/>
                      <a:tailEnd type="none" w="med" len="med"/>
                    </a:lnB>
                    <a:solidFill>
                      <a:srgbClr val="E2E8D8"/>
                    </a:solidFill>
                  </a:tcPr>
                </a:tc>
                <a:tc>
                  <a:txBody>
                    <a:bodyPr/>
                    <a:lstStyle/>
                    <a:p>
                      <a:pPr indent="0" marL="0">
                        <a:lnSpc>
                          <a:spcPts val="1680"/>
                        </a:lnSpc>
                        <a:buNone/>
                      </a:pPr>
                      <a:r>
                        <a:rPr lang="en-US" sz="1200" dirty="0">
                          <a:solidFill>
                            <a:srgbClr val="1E3F33"/>
                          </a:solidFill>
                          <a:latin typeface="DM Sans" pitchFamily="34" charset="0"/>
                          <a:ea typeface="DM Sans" pitchFamily="34" charset="-122"/>
                          <a:cs typeface="DM Sans" pitchFamily="34" charset="-120"/>
                        </a:rPr>
                        <a:t>Software is open-source Python; it starts from the monthly bills a campus already has. Sub-meters are optional.</a:t>
                      </a:r>
                      <a:endParaRPr lang="en-US" sz="1200" dirty="0">
                        <a:latin typeface="DM Sans" charset="0"/>
                        <a:ea typeface="DM Sans" charset="0"/>
                        <a:cs typeface="DM Sans" charset="0"/>
                      </a:endParaRPr>
                    </a:p>
                  </a:txBody>
                  <a:tcPr marL="53340" marR="53340" marT="53340" marB="53340" anchor="t">
                    <a:lnL w="12700" cap="flat" cmpd="sng" algn="ctr">
                      <a:solidFill>
                        <a:srgbClr val="B5B9AD"/>
                      </a:solidFill>
                      <a:prstDash val="solid"/>
                      <a:round/>
                      <a:headEnd type="none" w="med" len="med"/>
                      <a:tailEnd type="none" w="med" len="med"/>
                    </a:lnL>
                    <a:lnR w="12700" cap="flat" cmpd="sng" algn="ctr">
                      <a:solidFill>
                        <a:srgbClr val="B5B9AD"/>
                      </a:solidFill>
                      <a:prstDash val="solid"/>
                      <a:round/>
                      <a:headEnd type="none" w="med" len="med"/>
                      <a:tailEnd type="none" w="med" len="med"/>
                    </a:lnR>
                    <a:lnT w="12700" cap="flat" cmpd="sng" algn="ctr">
                      <a:solidFill>
                        <a:srgbClr val="BDBFB8"/>
                      </a:solidFill>
                      <a:prstDash val="solid"/>
                      <a:round/>
                      <a:headEnd type="none" w="med" len="med"/>
                      <a:tailEnd type="none" w="med" len="med"/>
                    </a:lnT>
                    <a:lnB w="12700" cap="flat" cmpd="sng" algn="ctr">
                      <a:solidFill>
                        <a:srgbClr val="B5B9AD"/>
                      </a:solidFill>
                      <a:prstDash val="solid"/>
                      <a:round/>
                      <a:headEnd type="none" w="med" len="med"/>
                      <a:tailEnd type="none" w="med" len="med"/>
                    </a:lnB>
                    <a:solidFill>
                      <a:srgbClr val="E2E8D8"/>
                    </a:solidFill>
                  </a:tcPr>
                </a:tc>
              </a:tr>
              <a:tr h="331561">
                <a:tc>
                  <a:txBody>
                    <a:bodyPr/>
                    <a:lstStyle/>
                    <a:p>
                      <a:pPr indent="0" marL="0">
                        <a:lnSpc>
                          <a:spcPts val="1680"/>
                        </a:lnSpc>
                        <a:buNone/>
                      </a:pPr>
                      <a:r>
                        <a:rPr lang="en-US" sz="1200" dirty="0">
                          <a:solidFill>
                            <a:srgbClr val="1E3F33"/>
                          </a:solidFill>
                          <a:latin typeface="DM Sans" pitchFamily="34" charset="0"/>
                          <a:ea typeface="DM Sans" pitchFamily="34" charset="-122"/>
                          <a:cs typeface="DM Sans" pitchFamily="34" charset="-120"/>
                        </a:rPr>
                        <a:t>Two actions at once?</a:t>
                      </a:r>
                      <a:endParaRPr lang="en-US" sz="1200" dirty="0">
                        <a:latin typeface="DM Sans" charset="0"/>
                        <a:ea typeface="DM Sans" charset="0"/>
                        <a:cs typeface="DM Sans" charset="0"/>
                      </a:endParaRPr>
                    </a:p>
                  </a:txBody>
                  <a:tcPr marL="53340" marR="53340" marT="53340" marB="53340" anchor="t">
                    <a:lnL w="12700" cap="flat" cmpd="sng" algn="ctr">
                      <a:solidFill>
                        <a:srgbClr val="BDBFB8"/>
                      </a:solidFill>
                      <a:prstDash val="solid"/>
                      <a:round/>
                      <a:headEnd type="none" w="med" len="med"/>
                      <a:tailEnd type="none" w="med" len="med"/>
                    </a:lnL>
                    <a:lnR w="12700" cap="flat" cmpd="sng" algn="ctr">
                      <a:solidFill>
                        <a:srgbClr val="BDBFB8"/>
                      </a:solidFill>
                      <a:prstDash val="solid"/>
                      <a:round/>
                      <a:headEnd type="none" w="med" len="med"/>
                      <a:tailEnd type="none" w="med" len="med"/>
                    </a:lnR>
                    <a:lnT w="12700" cap="flat" cmpd="sng" algn="ctr">
                      <a:solidFill>
                        <a:srgbClr val="B5B9AD"/>
                      </a:solidFill>
                      <a:prstDash val="solid"/>
                      <a:round/>
                      <a:headEnd type="none" w="med" len="med"/>
                      <a:tailEnd type="none" w="med" len="med"/>
                    </a:lnT>
                    <a:lnB w="12700" cap="flat" cmpd="sng" algn="ctr">
                      <a:solidFill>
                        <a:srgbClr val="BDBFB8"/>
                      </a:solidFill>
                      <a:prstDash val="solid"/>
                      <a:round/>
                      <a:headEnd type="none" w="med" len="med"/>
                      <a:tailEnd type="none" w="med" len="med"/>
                    </a:lnB>
                  </a:tcPr>
                </a:tc>
                <a:tc>
                  <a:txBody>
                    <a:bodyPr/>
                    <a:lstStyle/>
                    <a:p>
                      <a:pPr indent="0" marL="0">
                        <a:lnSpc>
                          <a:spcPts val="1680"/>
                        </a:lnSpc>
                        <a:buNone/>
                      </a:pPr>
                      <a:r>
                        <a:rPr lang="en-US" sz="1200" dirty="0">
                          <a:solidFill>
                            <a:srgbClr val="1E3F33"/>
                          </a:solidFill>
                          <a:latin typeface="DM Sans" pitchFamily="34" charset="0"/>
                          <a:ea typeface="DM Sans" pitchFamily="34" charset="-122"/>
                          <a:cs typeface="DM Sans" pitchFamily="34" charset="-120"/>
                        </a:rPr>
                        <a:t>Marked “confounded” — nothing is counted for either until they can be separated.</a:t>
                      </a:r>
                      <a:endParaRPr lang="en-US" sz="1200" dirty="0">
                        <a:latin typeface="DM Sans" charset="0"/>
                        <a:ea typeface="DM Sans" charset="0"/>
                        <a:cs typeface="DM Sans" charset="0"/>
                      </a:endParaRPr>
                    </a:p>
                  </a:txBody>
                  <a:tcPr marL="53340" marR="53340" marT="53340" marB="53340" anchor="t">
                    <a:lnL w="12700" cap="flat" cmpd="sng" algn="ctr">
                      <a:solidFill>
                        <a:srgbClr val="BDBFB8"/>
                      </a:solidFill>
                      <a:prstDash val="solid"/>
                      <a:round/>
                      <a:headEnd type="none" w="med" len="med"/>
                      <a:tailEnd type="none" w="med" len="med"/>
                    </a:lnL>
                    <a:lnR w="12700" cap="flat" cmpd="sng" algn="ctr">
                      <a:solidFill>
                        <a:srgbClr val="BDBFB8"/>
                      </a:solidFill>
                      <a:prstDash val="solid"/>
                      <a:round/>
                      <a:headEnd type="none" w="med" len="med"/>
                      <a:tailEnd type="none" w="med" len="med"/>
                    </a:lnR>
                    <a:lnT w="12700" cap="flat" cmpd="sng" algn="ctr">
                      <a:solidFill>
                        <a:srgbClr val="B5B9AD"/>
                      </a:solidFill>
                      <a:prstDash val="solid"/>
                      <a:round/>
                      <a:headEnd type="none" w="med" len="med"/>
                      <a:tailEnd type="none" w="med" len="med"/>
                    </a:lnT>
                    <a:lnB w="12700" cap="flat" cmpd="sng" algn="ctr">
                      <a:solidFill>
                        <a:srgbClr val="BDBFB8"/>
                      </a:solidFill>
                      <a:prstDash val="solid"/>
                      <a:round/>
                      <a:headEnd type="none" w="med" len="med"/>
                      <a:tailEnd type="none" w="med" len="med"/>
                    </a:lnB>
                  </a:tcPr>
                </a:tc>
              </a:tr>
              <a:tr h="331561">
                <a:tc>
                  <a:txBody>
                    <a:bodyPr/>
                    <a:lstStyle/>
                    <a:p>
                      <a:pPr indent="0" marL="0">
                        <a:lnSpc>
                          <a:spcPts val="1680"/>
                        </a:lnSpc>
                        <a:buNone/>
                      </a:pPr>
                      <a:r>
                        <a:rPr lang="en-US" sz="1200" dirty="0">
                          <a:solidFill>
                            <a:srgbClr val="1E3F33"/>
                          </a:solidFill>
                          <a:latin typeface="DM Sans" pitchFamily="34" charset="0"/>
                          <a:ea typeface="DM Sans" pitchFamily="34" charset="-122"/>
                          <a:cs typeface="DM Sans" pitchFamily="34" charset="-120"/>
                        </a:rPr>
                        <a:t>Where does ₹8.5/kWh come from?</a:t>
                      </a:r>
                      <a:endParaRPr lang="en-US" sz="1200" dirty="0">
                        <a:latin typeface="DM Sans" charset="0"/>
                        <a:ea typeface="DM Sans" charset="0"/>
                        <a:cs typeface="DM Sans" charset="0"/>
                      </a:endParaRPr>
                    </a:p>
                  </a:txBody>
                  <a:tcPr marL="53340" marR="53340" marT="53340" marB="53340" anchor="t">
                    <a:lnL w="12700" cap="flat" cmpd="sng" algn="ctr">
                      <a:solidFill>
                        <a:srgbClr val="BDBFB8"/>
                      </a:solidFill>
                      <a:prstDash val="solid"/>
                      <a:round/>
                      <a:headEnd type="none" w="med" len="med"/>
                      <a:tailEnd type="none" w="med" len="med"/>
                    </a:lnL>
                    <a:lnR w="12700" cap="flat" cmpd="sng" algn="ctr">
                      <a:solidFill>
                        <a:srgbClr val="B5B9AD"/>
                      </a:solidFill>
                      <a:prstDash val="solid"/>
                      <a:round/>
                      <a:headEnd type="none" w="med" len="med"/>
                      <a:tailEnd type="none" w="med" len="med"/>
                    </a:lnR>
                    <a:lnT w="12700" cap="flat" cmpd="sng" algn="ctr">
                      <a:solidFill>
                        <a:srgbClr val="BDBFB8"/>
                      </a:solidFill>
                      <a:prstDash val="solid"/>
                      <a:round/>
                      <a:headEnd type="none" w="med" len="med"/>
                      <a:tailEnd type="none" w="med" len="med"/>
                    </a:lnT>
                    <a:lnB w="12700" cap="flat" cmpd="sng" algn="ctr">
                      <a:solidFill>
                        <a:srgbClr val="B5B9AD"/>
                      </a:solidFill>
                      <a:prstDash val="solid"/>
                      <a:round/>
                      <a:headEnd type="none" w="med" len="med"/>
                      <a:tailEnd type="none" w="med" len="med"/>
                    </a:lnB>
                    <a:solidFill>
                      <a:srgbClr val="E2E8D8"/>
                    </a:solidFill>
                  </a:tcPr>
                </a:tc>
                <a:tc>
                  <a:txBody>
                    <a:bodyPr/>
                    <a:lstStyle/>
                    <a:p>
                      <a:pPr indent="0" marL="0">
                        <a:lnSpc>
                          <a:spcPts val="1680"/>
                        </a:lnSpc>
                        <a:buNone/>
                      </a:pPr>
                      <a:r>
                        <a:rPr lang="en-US" sz="1200" dirty="0">
                          <a:solidFill>
                            <a:srgbClr val="1E3F33"/>
                          </a:solidFill>
                          <a:latin typeface="DM Sans" pitchFamily="34" charset="0"/>
                          <a:ea typeface="DM Sans" pitchFamily="34" charset="-122"/>
                          <a:cs typeface="DM Sans" pitchFamily="34" charset="-120"/>
                        </a:rPr>
                        <a:t>An assumption set in the notebook (cell 13b) — replace it with the tariff on the electricity bill.</a:t>
                      </a:r>
                      <a:endParaRPr lang="en-US" sz="1200" dirty="0">
                        <a:latin typeface="DM Sans" charset="0"/>
                        <a:ea typeface="DM Sans" charset="0"/>
                        <a:cs typeface="DM Sans" charset="0"/>
                      </a:endParaRPr>
                    </a:p>
                  </a:txBody>
                  <a:tcPr marL="53340" marR="53340" marT="53340" marB="53340" anchor="t">
                    <a:lnL w="12700" cap="flat" cmpd="sng" algn="ctr">
                      <a:solidFill>
                        <a:srgbClr val="B5B9AD"/>
                      </a:solidFill>
                      <a:prstDash val="solid"/>
                      <a:round/>
                      <a:headEnd type="none" w="med" len="med"/>
                      <a:tailEnd type="none" w="med" len="med"/>
                    </a:lnL>
                    <a:lnR w="12700" cap="flat" cmpd="sng" algn="ctr">
                      <a:solidFill>
                        <a:srgbClr val="B5B9AD"/>
                      </a:solidFill>
                      <a:prstDash val="solid"/>
                      <a:round/>
                      <a:headEnd type="none" w="med" len="med"/>
                      <a:tailEnd type="none" w="med" len="med"/>
                    </a:lnR>
                    <a:lnT w="12700" cap="flat" cmpd="sng" algn="ctr">
                      <a:solidFill>
                        <a:srgbClr val="BDBFB8"/>
                      </a:solidFill>
                      <a:prstDash val="solid"/>
                      <a:round/>
                      <a:headEnd type="none" w="med" len="med"/>
                      <a:tailEnd type="none" w="med" len="med"/>
                    </a:lnT>
                    <a:lnB w="12700" cap="flat" cmpd="sng" algn="ctr">
                      <a:solidFill>
                        <a:srgbClr val="B5B9AD"/>
                      </a:solidFill>
                      <a:prstDash val="solid"/>
                      <a:round/>
                      <a:headEnd type="none" w="med" len="med"/>
                      <a:tailEnd type="none" w="med" len="med"/>
                    </a:lnB>
                    <a:solidFill>
                      <a:srgbClr val="E2E8D8"/>
                    </a:solidFill>
                  </a:tcPr>
                </a:tc>
              </a:tr>
            </a:tbl>
          </a:graphicData>
        </a:graphic>
      </p:graphicFrame>
    </p:spTree>
  </p:cSld>
  <p:clrMapOvr>
    <a:masterClrMapping/>
  </p:clrMapOvr>
</p:sld>
</file>

<file path=ppt/theme/theme1.xml><?xml version="1.0" encoding="utf-8"?>
<a:theme xmlns:a="http://schemas.openxmlformats.org/drawingml/2006/main" name="GreenLedger — Team Shinzen pitch">
  <a:themeElements>
    <a:clrScheme name="GreenLedger — Team Shinzen pitch">
      <a:dk1>
        <a:srgbClr val="1E3F33"/>
      </a:dk1>
      <a:lt1>
        <a:srgbClr val="F7F5EE"/>
      </a:lt1>
      <a:dk2>
        <a:srgbClr val="546D62"/>
      </a:dk2>
      <a:lt2>
        <a:srgbClr val="E1E3DB"/>
      </a:lt2>
      <a:accent1>
        <a:srgbClr val="9A6B1F"/>
      </a:accent1>
      <a:accent2>
        <a:srgbClr val="CDE46A"/>
      </a:accent2>
      <a:accent3>
        <a:srgbClr val="4A5A52"/>
      </a:accent3>
      <a:accent4>
        <a:srgbClr val="BFD3C6"/>
      </a:accent4>
      <a:accent5>
        <a:srgbClr val="E3EDD3"/>
      </a:accent5>
      <a:accent6>
        <a:srgbClr val="9AA0A6"/>
      </a:accent6>
      <a:hlink>
        <a:srgbClr val="0563C1"/>
      </a:hlink>
      <a:folHlink>
        <a:srgbClr val="954F72"/>
      </a:folHlink>
    </a:clrScheme>
    <a:fontScheme name="GreenLedger — Team Shinzen pitch">
      <a:majorFont>
        <a:latin typeface="Manrope"/>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DM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GreenLedger — Team Shinzen pitch</dc:title>
  <dc:subject/>
  <dc:description>The font files embedded in this presentation (stored inside it under ppt/fonts/) are files Google Fonts served when the presentation was exported, unpacked from WOFF2 to TrueType and wrapped as Embedded OpenType, the form PowerPoint reads. A file that named another cut of its family, unless it reserves that name, was also changed where it could be, so that PowerPoint matches it to this presentation’s text: its family and style names and the weight and style it declares were rewritten, and any digital signature, which no longer matched, was removed. Google Fonts serves each family in parts, one file per range of characters, so these may not be a family’s complete files. Each family’s copyright lines and license follow, and each family stays under its own license; if you pass this file on, keep these notices with it.
DM Sans
Copyright 2014 The DM Sans Project Authors (https://github.com/googlefonts/dm-fonts)
This Font Software is licensed under the SIL Open Font License, Version 1.1.
This license is copied below, and is also available with a FAQ at:
https://scripts.sil.org/OFL
-----------------------------------------------------------
SIL OPEN FONT LICENSE Version 1.1 - 26 February 2007
-----------------------------------------------------------
PREAMBLE
The goals of the Open Font License (OFL) are to stimulate worldwide
development of collaborative font projects, to support the font creation
efforts of academic and linguistic communities, and to provide a free and
open framework in which fonts may be shared and improved in partnership
with others.
The OFL allows the licensed fonts to be used, studied, modified and
redistributed freely as long as they are not sold by themselves. The
fonts, including any derivative works, can be bundled, embedded,
redistributed and/or sold with any software provided that any reserved
names are not used by derivative works. The fonts and derivatives,
however, cannot be released under any other type of license. The
requirement for fonts to remain under this license does not apply
to any document created using the fonts or their derivatives.
DEFINITIONS
"Font Software" refers to the set of files released by the Copyright
Holder(s) under this license and clearly marked as such. This may
include source files, build scripts and documentation.
"Reserved Font Name" refers to any names specified as such after the
copyright statement(s).
"Original Version" refers to the collection of Font Software components as
distributed by the Copyright Holder(s).
"Modified Version" refers to any derivative made by adding to, deleting,
or substituting -- in part or in whole -- any of the components of the
Original Version, by changing formats or by porting the Font Software to a
new environment.
"Author" refers to any designer, engineer, programmer, technical
writer or other person who contributed to the Font Software.
PERMISSION &amp; CONDITIONS
Permission is hereby granted, free of charge, to any person obtaining
a copy of the Font Software, to use, study, copy, merge, embed, modify,
redistribute, and sell modified and unmodified copies of the Font
Software, subject to the following conditions:
1) Neither the Font Software nor any of its individual components,
in Original or Modified Versions, may be sold by itself.
2) Original or Modified Versions of the Font Software may be bundled,
redistributed and/or sold with any software, provided that each copy
contains the above copyright notice and this license. These can be
included either as stand-alone text files, human-readable headers or
in the appropriate machine-readable metadata fields within text or
binary files as long as those fields can be easily viewed by the user.
3) No Modified Version of the Font Software may use the Reserved Font
Name(s) unless explicit written permission is granted by the corresponding
Copyright Holder. This restriction only applies to the primary font name as
presented to the users.
4) The name(s) of the Copyright Holder(s) or the Author(s) of the Font
Software shall not be used to promote, endorse or advertise any
Modified Version, except to acknowledge the contribution(s) of the
Copyright Holder(s) and the Author(s) or with their explicit written
permission.
5) The Font Software, modified or unmodified, in part or in whole,
must be distributed entirely under this license, and must not be
distributed under any other license. The requirement for fonts to
remain under this license does not apply to any document created
using the Font Software.
TERMINATION
This license becomes null and void if any of the above conditions are
not met.
DISCLAIMER
THE FONT SOFTWARE IS PROVIDED "AS IS", WITHOUT WARRANTY OF ANY KIND,
EXPRESS OR IMPLIED, INCLUDING BUT NOT LIMITED TO ANY WARRANTIES OF
MERCHANTABILITY, FITNESS FOR A PARTICULAR PURPOSE AND NONINFRINGEMENT
OF COPYRIGHT, PATENT, TRADEMARK, OR OTHER RIGHT. IN NO EVENT SHALL THE
COPYRIGHT HOLDER BE LIABLE FOR ANY CLAIM, DAMAGES OR OTHER LIABILITY,
INCLUDING ANY GENERAL, SPECIAL, INDIRECT, INCIDENTAL, OR CONSEQUENTIAL
DAMAGES, WHETHER IN AN ACTION OF CONTRACT, TORT OR OTHERWISE, ARISING
FROM, OUT OF THE USE OR INABILITY TO USE THE FONT SOFTWARE OR FROM
OTHER DEALINGS IN THE FONT SOFTWARE.
Manrope
Copyright 2018 The Manrope Project Authors (https://github.com/sharanda/manrope)
This Font Software is licensed under the SIL Open Font License, Version 1.1.
This license is copied below, and is also available with a FAQ at:
http://scripts.sil.org/OFL
-----------------------------------------------------------
SIL OPEN FONT LICENSE Version 1.1 - 26 February 2007
-----------------------------------------------------------
PREAMBLE
The goals of the Open Font License (OFL) are to stimulate worldwide
development of collaborative font projects, to support the font creation
efforts of academic and linguistic communities, and to provide a free and
open framework in which fonts may be shared and improved in partnership
with others.
The OFL allows the licensed fonts to be used, studied, modified and
redistributed freely as long as they are not sold by themselves. The
fonts, including any derivative works, can be bundled, embedded,
redistributed and/or sold with any software provided that any reserved
names are not used by derivative works. The fonts and derivatives,
however, cannot be released under any other type of license. The
requirement for fonts to remain under this license does not apply
to any document created using the fonts or their derivatives.
DEFINITIONS
"Font Software" refers to the set of files released by the Copyright
Holder(s) under this license and clearly marked as such. This may
include source files, build scripts and documentation.
"Reserved Font Name" refers to any names specified as such after the
copyright statement(s).
"Original Version" refers to the collection of Font Software components as
distributed by the Copyright Holder(s).
"Modified Version" refers to any derivative made by adding to, deleting,
or substituting -- in part or in whole -- any of the components of the
Original Version, by changing formats or by porting the Font Software to a
new environment.
"Author" refers to any designer, engineer, programmer, technical
writer or other person who contributed to the Font Software.
PERMISSION &amp; CONDITIONS
Permission is hereby granted, free of charge, to any person obtaining
a copy of the Font Software, to use, study, copy, merge, embed, modify,
redistribute, and sell modified and unmodified copies of the Font
Software, subject to the following conditions:
1) Neither the Font Software nor any of its individual components,
in Original or Modified Versions, may be sold by itself.
2) Original or Modified Versions of the Font Software may be bundled,
redistributed and/or sold with any software, provided that each copy
contains the above copyright notice and this license. These can be
included either as stand-alone text files, human-readable headers or
in the appropriate machine-readable metadata fields within text or
binary files as long as those fields can be easily viewed by the user.
3) No Modified Version of the Font Software may use the Reserved Font
Name(s) unless explicit written permission is granted by the corresponding
Copyright Holder. This restriction only applies to the primary font name as
presented to the users.
4) The name(s) of the Copyright Holder(s) or the Author(s) of the Font
Software shall not be used to promote, endorse or advertise any
Modified Version, except to acknowledge the contribution(s) of the
Copyright Holder(s) and the Author(s) or with their explicit written
permission.
5) The Font Software, modified or unmodified, in part or in whole,
must be distributed entirely under this license, and must not be
distributed under any other license. The requirement for fonts to
remain under this license does not apply to any document created
using the Font Software.
TERMINATION
This license becomes null and void if any of the above conditions are
not met.
DISCLAIMER
THE FONT SOFTWARE IS PROVIDED "AS IS", WITHOUT WARRANTY OF ANY KIND,
EXPRESS OR IMPLIED, INCLUDING BUT NOT LIMITED TO ANY WARRANTIES OF
MERCHANTABILITY, FITNESS FOR A PARTICULAR PURPOSE AND NONINFRINGEMENT
OF COPYRIGHT, PATENT, TRADEMARK, OR OTHER RIGHT. IN NO EVENT SHALL THE
COPYRIGHT HOLDER BE LIABLE FOR ANY CLAIM, DAMAGES OR OTHER LIABILITY,
INCLUDING ANY GENERAL, SPECIAL, INDIRECT, INCIDENTAL, OR CONSEQUENTIAL
DAMAGES, WHETHER IN AN ACTION OF CONTRACT, TORT OR OTHERWISE, ARISING
FROM, OUT OF THE USE OR INABILITY TO USE THE FONT SOFTWARE OR FROM
OTHER DEALINGS IN THE FONT SOFTWARE.
</dc:description>
  <dc:creator/>
  <cp:lastModifiedBy/>
  <cp:revision>1</cp:revision>
  <dcterms:created xsi:type="dcterms:W3CDTF">2026-10-25T03:01:16Z</dcterms:created>
  <dcterms:modified xsi:type="dcterms:W3CDTF">2026-10-25T03:01:16Z</dcterms:modified>
</cp:coreProperties>
</file>